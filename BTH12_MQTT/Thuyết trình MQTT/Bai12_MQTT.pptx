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61" r:id="rId7"/>
    <p:sldId id="259"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9144000"/>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p:txBody>
      </p:sp>
      <p:sp>
        <p:nvSpPr>
          <p:cNvPr id="3" name="Date Placeholder"/>
          <p:cNvSpPr>
            <a:spLocks noGrp="1"/>
          </p:cNvSpPr>
          <p:nvPr>
            <p:ph type="dt" sz="quarter" idx="1"/>
          </p:nvPr>
        </p:nvSpPr>
        <p:spPr>
          <a:prstGeom prst="rect">
            <a:avLst/>
          </a:prstGeom>
        </p:spPr>
        <p:txBody>
          <a:bodyPr/>
          <a:lstStyle/>
          <a:p/>
        </p:txBody>
      </p:sp>
      <p:sp>
        <p:nvSpPr>
          <p:cNvPr id="4" name="Slide Image Placeholder"/>
          <p:cNvSpPr>
            <a:spLocks noGrp="1" noRot="1" noChangeAspect="1"/>
          </p:cNvSpPr>
          <p:nvPr>
            <p:ph type="sldImg" idx="2"/>
          </p:nvPr>
        </p:nvSpPr>
        <p:spPr>
          <a:prstGeom prst="rect">
            <a:avLst/>
          </a:prstGeom>
        </p:spPr>
        <p:txBody>
          <a:bodyPr/>
          <a:lstStyle/>
          <a:p/>
        </p:txBody>
      </p:sp>
      <p:sp>
        <p:nvSpPr>
          <p:cNvPr id="5" name="Notes Placeholder"/>
          <p:cNvSpPr>
            <a:spLocks noGrp="1"/>
          </p:cNvSpPr>
          <p:nvPr>
            <p:ph type="body" sz="quarter" idx="3"/>
          </p:nvPr>
        </p:nvSpPr>
        <p:spPr>
          <a:prstGeom prst="rect">
            <a:avLst/>
          </a:prstGeom>
        </p:spPr>
        <p:txBody>
          <a:bodyPr/>
          <a:lstStyle/>
          <a:p/>
        </p:txBody>
      </p:sp>
      <p:sp>
        <p:nvSpPr>
          <p:cNvPr id="6" name="Footer Placeholder"/>
          <p:cNvSpPr>
            <a:spLocks noGrp="1"/>
          </p:cNvSpPr>
          <p:nvPr>
            <p:ph type="ftr" sz="quarter" idx="4"/>
          </p:nvPr>
        </p:nvSpPr>
        <p:spPr>
          <a:prstGeom prst="rect">
            <a:avLst/>
          </a:prstGeom>
        </p:spPr>
        <p:txBody>
          <a:bodyPr/>
          <a:lstStyle/>
          <a:p/>
        </p:txBody>
      </p:sp>
      <p:sp>
        <p:nvSpPr>
          <p:cNvPr id="7" name="Slide Number Placeholder"/>
          <p:cNvSpPr>
            <a:spLocks noGrp="1"/>
          </p:cNvSpPr>
          <p:nvPr>
            <p:ph type="sldNum" sz="quarter" idx="5"/>
          </p:nvPr>
        </p:nvSpPr>
        <p:spPr>
          <a:prstGeom prst="rect">
            <a:avLst/>
          </a:prstGeom>
        </p:spPr>
        <p:txBody>
          <a:bodyPr/>
          <a:lstStyle/>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KHOA CƠ KHÍ">
  <p:cSld name="TITLE">
    <p:spTree>
      <p:nvGrpSpPr>
        <p:cNvPr id="1" name=""/>
        <p:cNvGrpSpPr/>
        <p:nvPr/>
      </p:nvGrpSpPr>
      <p:grpSpPr>
        <a:xfrm>
          <a:off x="0" y="0"/>
          <a:ext cx="0" cy="0"/>
          <a:chOff x="0" y="0"/>
          <a:chExt cx="0" cy="0"/>
        </a:xfrm>
      </p:grpSpPr>
      <p:pic>
        <p:nvPicPr>
          <p:cNvPr id="25" name="Google Shape;16;p7"/>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17" name="Google Shape;17;p7"/>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800"/>
              <a:buFont typeface="Times New Roman" panose="02020603050405020304"/>
              <a:buNone/>
              <a:defRPr sz="48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18" name="Google Shape;18;p7"/>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19" name="Google Shape;19;p7"/>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20" name="Google Shape;20;p7"/>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21" name="Google Shape;21;p7"/>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31" name="Google Shape;22;p7"/>
          <p:cNvPicPr>
            <a:picLocks noChangeAspect="1"/>
          </p:cNvPicPr>
          <p:nvPr/>
        </p:nvPicPr>
        <p:blipFill rotWithShape="1">
          <a:blip r:embed="rId3"/>
          <a:srcRect/>
          <a:stretch>
            <a:fillRect/>
          </a:stretch>
        </p:blipFill>
        <p:spPr>
          <a:xfrm>
            <a:off x="6696445" y="426461"/>
            <a:ext cx="5495555" cy="6032004"/>
          </a:xfrm>
          <a:prstGeom prst="rect">
            <a:avLst/>
          </a:prstGeom>
          <a:ln>
            <a:noFill/>
          </a:ln>
        </p:spPr>
      </p:pic>
      <p:pic>
        <p:nvPicPr>
          <p:cNvPr id="32" name="Google Shape;23;p7"/>
          <p:cNvPicPr>
            <a:picLocks noChangeAspect="1"/>
          </p:cNvPicPr>
          <p:nvPr/>
        </p:nvPicPr>
        <p:blipFill rotWithShape="1">
          <a:blip r:embed="rId4"/>
          <a:srcRect/>
          <a:stretch>
            <a:fillRect/>
          </a:stretch>
        </p:blipFill>
        <p:spPr>
          <a:xfrm>
            <a:off x="433175" y="329805"/>
            <a:ext cx="6048819" cy="831025"/>
          </a:xfrm>
          <a:prstGeom prst="rect">
            <a:avLst/>
          </a:prstGeom>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
        <p:cNvGrpSpPr/>
        <p:nvPr/>
      </p:nvGrpSpPr>
      <p:grpSpPr>
        <a:xfrm>
          <a:off x="0" y="0"/>
          <a:ext cx="0" cy="0"/>
          <a:chOff x="0" y="0"/>
          <a:chExt cx="0" cy="0"/>
        </a:xfrm>
      </p:grpSpPr>
      <p:pic>
        <p:nvPicPr>
          <p:cNvPr id="32" name="Google Shape;25;p8"/>
          <p:cNvPicPr>
            <a:picLocks noChangeAspect="1"/>
          </p:cNvPicPr>
          <p:nvPr/>
        </p:nvPicPr>
        <p:blipFill rotWithShape="1">
          <a:blip r:embed="rId2"/>
          <a:srcRect/>
          <a:stretch>
            <a:fillRect/>
          </a:stretch>
        </p:blipFill>
        <p:spPr>
          <a:xfrm>
            <a:off x="1229" y="0"/>
            <a:ext cx="12189542" cy="6857999"/>
          </a:xfrm>
          <a:prstGeom prst="rect">
            <a:avLst/>
          </a:prstGeom>
          <a:ln>
            <a:noFill/>
          </a:ln>
        </p:spPr>
      </p:pic>
      <p:sp>
        <p:nvSpPr>
          <p:cNvPr id="26" name="Google Shape;26;p8"/>
          <p:cNvSpPr>
            <a:spLocks noGrp="1"/>
          </p:cNvSpPr>
          <p:nvPr>
            <p:ph type="title"/>
          </p:nvPr>
        </p:nvSpPr>
        <p:spPr>
          <a:xfrm>
            <a:off x="230819" y="1"/>
            <a:ext cx="9619238" cy="6810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lt1"/>
              </a:buClr>
              <a:buSzPts val="3200"/>
              <a:buFont typeface="Times New Roman" panose="02020603050405020304"/>
              <a:buNone/>
              <a:defRPr sz="32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27" name="Google Shape;27;p8"/>
          <p:cNvSpPr>
            <a:spLocks noGrp="1"/>
          </p:cNvSpPr>
          <p:nvPr>
            <p:ph type="body" idx="1"/>
          </p:nvPr>
        </p:nvSpPr>
        <p:spPr>
          <a:xfrm>
            <a:off x="230819" y="775504"/>
            <a:ext cx="11771791" cy="5401459"/>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p:txBody>
      </p:sp>
      <p:sp>
        <p:nvSpPr>
          <p:cNvPr id="28" name="Google Shape;28;p8"/>
          <p:cNvSpPr>
            <a:spLocks noGrp="1"/>
          </p:cNvSpPr>
          <p:nvPr>
            <p:ph type="dt" idx="10"/>
          </p:nvPr>
        </p:nvSpPr>
        <p:spPr>
          <a:xfrm>
            <a:off x="230819" y="6334918"/>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29" name="Google Shape;29;p8"/>
          <p:cNvSpPr>
            <a:spLocks noGrp="1"/>
          </p:cNvSpPr>
          <p:nvPr>
            <p:ph type="ftr" idx="11"/>
          </p:nvPr>
        </p:nvSpPr>
        <p:spPr>
          <a:xfrm>
            <a:off x="3734909"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30" name="Google Shape;30;p8"/>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1pPr>
            <a:lvl2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2pPr>
            <a:lvl3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3pPr>
            <a:lvl4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4pPr>
            <a:lvl5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5pPr>
            <a:lvl6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6pPr>
            <a:lvl7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7pPr>
            <a:lvl8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8pPr>
            <a:lvl9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
        <p:cNvGrpSpPr/>
        <p:nvPr/>
      </p:nvGrpSpPr>
      <p:grpSpPr>
        <a:xfrm>
          <a:off x="0" y="0"/>
          <a:ext cx="0" cy="0"/>
          <a:chOff x="0" y="0"/>
          <a:chExt cx="0" cy="0"/>
        </a:xfrm>
      </p:grpSpPr>
      <p:pic>
        <p:nvPicPr>
          <p:cNvPr id="40" name="Google Shape;32;p9"/>
          <p:cNvPicPr>
            <a:picLocks noChangeAspect="1"/>
          </p:cNvPicPr>
          <p:nvPr/>
        </p:nvPicPr>
        <p:blipFill rotWithShape="1">
          <a:blip r:embed="rId2"/>
          <a:srcRect/>
          <a:stretch>
            <a:fillRect/>
          </a:stretch>
        </p:blipFill>
        <p:spPr>
          <a:xfrm>
            <a:off x="1229" y="0"/>
            <a:ext cx="12189542" cy="6857999"/>
          </a:xfrm>
          <a:prstGeom prst="rect">
            <a:avLst/>
          </a:prstGeom>
          <a:ln>
            <a:noFill/>
          </a:ln>
        </p:spPr>
      </p:pic>
      <p:sp>
        <p:nvSpPr>
          <p:cNvPr id="33" name="Google Shape;33;p9"/>
          <p:cNvSpPr>
            <a:spLocks noGrp="1"/>
          </p:cNvSpPr>
          <p:nvPr>
            <p:ph type="title"/>
          </p:nvPr>
        </p:nvSpPr>
        <p:spPr>
          <a:xfrm>
            <a:off x="230819" y="1"/>
            <a:ext cx="9619238" cy="6810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lt1"/>
              </a:buClr>
              <a:buSzPts val="3200"/>
              <a:buFont typeface="Times New Roman" panose="02020603050405020304"/>
              <a:buNone/>
              <a:defRPr sz="32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34" name="Google Shape;34;p9"/>
          <p:cNvSpPr>
            <a:spLocks noGrp="1"/>
          </p:cNvSpPr>
          <p:nvPr>
            <p:ph type="body" idx="1"/>
          </p:nvPr>
        </p:nvSpPr>
        <p:spPr>
          <a:xfrm>
            <a:off x="230819" y="775504"/>
            <a:ext cx="11771791" cy="5401459"/>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p:txBody>
      </p:sp>
      <p:sp>
        <p:nvSpPr>
          <p:cNvPr id="35" name="Google Shape;35;p9"/>
          <p:cNvSpPr>
            <a:spLocks noGrp="1"/>
          </p:cNvSpPr>
          <p:nvPr>
            <p:ph type="dt" idx="10"/>
          </p:nvPr>
        </p:nvSpPr>
        <p:spPr>
          <a:xfrm>
            <a:off x="230819" y="6334918"/>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36" name="Google Shape;36;p9"/>
          <p:cNvSpPr>
            <a:spLocks noGrp="1"/>
          </p:cNvSpPr>
          <p:nvPr>
            <p:ph type="ftr" idx="11"/>
          </p:nvPr>
        </p:nvSpPr>
        <p:spPr>
          <a:xfrm>
            <a:off x="3734909"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37" name="Google Shape;37;p9"/>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1pPr>
            <a:lvl2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2pPr>
            <a:lvl3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3pPr>
            <a:lvl4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4pPr>
            <a:lvl5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5pPr>
            <a:lvl6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6pPr>
            <a:lvl7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7pPr>
            <a:lvl8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8pPr>
            <a:lvl9pPr marL="0" indent="0" algn="r">
              <a:spcBef>
                <a:spcPts val="0"/>
              </a:spcBef>
              <a:buNone/>
              <a:defRPr sz="1200" b="0" i="0" u="none" strike="noStrike" cap="none">
                <a:solidFill>
                  <a:srgbClr val="888888"/>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46" name="Google Shape;38;p9"/>
          <p:cNvPicPr>
            <a:picLocks noChangeAspect="1"/>
          </p:cNvPicPr>
          <p:nvPr/>
        </p:nvPicPr>
        <p:blipFill rotWithShape="1">
          <a:blip r:embed="rId3"/>
          <a:srcRect/>
          <a:stretch>
            <a:fillRect/>
          </a:stretch>
        </p:blipFill>
        <p:spPr>
          <a:xfrm>
            <a:off x="-8877" y="707671"/>
            <a:ext cx="12189541" cy="6150054"/>
          </a:xfrm>
          <a:prstGeom prst="rect">
            <a:avLst/>
          </a:prstGeom>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iaBa-UTEHY">
  <p:cSld name="GiaBa-UTEHY">
    <p:spTree>
      <p:nvGrpSpPr>
        <p:cNvPr id="1" name=""/>
        <p:cNvGrpSpPr/>
        <p:nvPr/>
      </p:nvGrpSpPr>
      <p:grpSpPr>
        <a:xfrm>
          <a:off x="0" y="0"/>
          <a:ext cx="0" cy="0"/>
          <a:chOff x="0" y="0"/>
          <a:chExt cx="0" cy="0"/>
        </a:xfrm>
      </p:grpSpPr>
      <p:pic>
        <p:nvPicPr>
          <p:cNvPr id="49" name="Google Shape;40;p10"/>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41" name="Google Shape;41;p10"/>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800"/>
              <a:buFont typeface="Times New Roman" panose="02020603050405020304"/>
              <a:buNone/>
              <a:defRPr sz="48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42" name="Google Shape;42;p10"/>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43" name="Google Shape;43;p10"/>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44" name="Google Shape;44;p10"/>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45" name="Google Shape;45;p10"/>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55" name="Google Shape;46;p10"/>
          <p:cNvPicPr>
            <a:picLocks noChangeAspect="1"/>
          </p:cNvPicPr>
          <p:nvPr/>
        </p:nvPicPr>
        <p:blipFill rotWithShape="1">
          <a:blip r:embed="rId3"/>
          <a:srcRect/>
          <a:stretch>
            <a:fillRect/>
          </a:stretch>
        </p:blipFill>
        <p:spPr>
          <a:xfrm>
            <a:off x="373209" y="331948"/>
            <a:ext cx="6464263" cy="699342"/>
          </a:xfrm>
          <a:prstGeom prst="rect">
            <a:avLst/>
          </a:prstGeom>
          <a:ln>
            <a:noFill/>
          </a:ln>
        </p:spPr>
      </p:pic>
      <p:pic>
        <p:nvPicPr>
          <p:cNvPr id="56" name="Google Shape;47;p10"/>
          <p:cNvPicPr>
            <a:picLocks noChangeAspect="1"/>
          </p:cNvPicPr>
          <p:nvPr/>
        </p:nvPicPr>
        <p:blipFill rotWithShape="1">
          <a:blip r:embed="rId4"/>
          <a:srcRect/>
          <a:stretch>
            <a:fillRect/>
          </a:stretch>
        </p:blipFill>
        <p:spPr>
          <a:xfrm>
            <a:off x="6696445" y="426461"/>
            <a:ext cx="5495555" cy="6032004"/>
          </a:xfrm>
          <a:prstGeom prst="rect">
            <a:avLst/>
          </a:prstGeom>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RUONG">
  <p:cSld name="1_TRUONG">
    <p:spTree>
      <p:nvGrpSpPr>
        <p:cNvPr id="1" name=""/>
        <p:cNvGrpSpPr/>
        <p:nvPr/>
      </p:nvGrpSpPr>
      <p:grpSpPr>
        <a:xfrm>
          <a:off x="0" y="0"/>
          <a:ext cx="0" cy="0"/>
          <a:chOff x="0" y="0"/>
          <a:chExt cx="0" cy="0"/>
        </a:xfrm>
      </p:grpSpPr>
      <p:pic>
        <p:nvPicPr>
          <p:cNvPr id="58" name="Google Shape;49;p11"/>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50" name="Google Shape;50;p11"/>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800"/>
              <a:buFont typeface="Times New Roman" panose="02020603050405020304"/>
              <a:buNone/>
              <a:defRPr sz="48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51" name="Google Shape;51;p11"/>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52" name="Google Shape;52;p11"/>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53" name="Google Shape;53;p11"/>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54" name="Google Shape;54;p11"/>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64" name="Google Shape;55;p11"/>
          <p:cNvPicPr>
            <a:picLocks noChangeAspect="1"/>
          </p:cNvPicPr>
          <p:nvPr/>
        </p:nvPicPr>
        <p:blipFill rotWithShape="1">
          <a:blip r:embed="rId3"/>
          <a:srcRect/>
          <a:stretch>
            <a:fillRect/>
          </a:stretch>
        </p:blipFill>
        <p:spPr>
          <a:xfrm>
            <a:off x="373209" y="331948"/>
            <a:ext cx="6464263" cy="699342"/>
          </a:xfrm>
          <a:prstGeom prst="rect">
            <a:avLst/>
          </a:prstGeom>
          <a:ln>
            <a:noFill/>
          </a:ln>
        </p:spPr>
      </p:pic>
      <p:pic>
        <p:nvPicPr>
          <p:cNvPr id="65" name="Google Shape;56;p11"/>
          <p:cNvPicPr>
            <a:picLocks noChangeAspect="1"/>
          </p:cNvPicPr>
          <p:nvPr/>
        </p:nvPicPr>
        <p:blipFill rotWithShape="1">
          <a:blip r:embed="rId4"/>
          <a:srcRect/>
          <a:stretch>
            <a:fillRect/>
          </a:stretch>
        </p:blipFill>
        <p:spPr>
          <a:xfrm>
            <a:off x="6696445" y="426461"/>
            <a:ext cx="5495555" cy="6032004"/>
          </a:xfrm>
          <a:prstGeom prst="rect">
            <a:avLst/>
          </a:prstGeom>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KHOA CKDL">
  <p:cSld name="KHOA CKDL">
    <p:spTree>
      <p:nvGrpSpPr>
        <p:cNvPr id="1" name=""/>
        <p:cNvGrpSpPr/>
        <p:nvPr/>
      </p:nvGrpSpPr>
      <p:grpSpPr>
        <a:xfrm>
          <a:off x="0" y="0"/>
          <a:ext cx="0" cy="0"/>
          <a:chOff x="0" y="0"/>
          <a:chExt cx="0" cy="0"/>
        </a:xfrm>
      </p:grpSpPr>
      <p:pic>
        <p:nvPicPr>
          <p:cNvPr id="67" name="Google Shape;58;p12"/>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59" name="Google Shape;59;p12"/>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800"/>
              <a:buFont typeface="Times New Roman" panose="02020603050405020304"/>
              <a:buNone/>
              <a:defRPr sz="48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60" name="Google Shape;60;p12"/>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61" name="Google Shape;61;p12"/>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62" name="Google Shape;62;p12"/>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63" name="Google Shape;63;p12"/>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73" name="Google Shape;64;p12"/>
          <p:cNvPicPr>
            <a:picLocks noChangeAspect="1"/>
          </p:cNvPicPr>
          <p:nvPr/>
        </p:nvPicPr>
        <p:blipFill rotWithShape="1">
          <a:blip r:embed="rId3"/>
          <a:srcRect/>
          <a:stretch>
            <a:fillRect/>
          </a:stretch>
        </p:blipFill>
        <p:spPr>
          <a:xfrm>
            <a:off x="433172" y="329805"/>
            <a:ext cx="6048826" cy="831026"/>
          </a:xfrm>
          <a:prstGeom prst="rect">
            <a:avLst/>
          </a:prstGeom>
          <a:ln>
            <a:noFill/>
          </a:ln>
        </p:spPr>
      </p:pic>
      <p:pic>
        <p:nvPicPr>
          <p:cNvPr id="74" name="Google Shape;65;p12"/>
          <p:cNvPicPr>
            <a:picLocks noChangeAspect="1"/>
          </p:cNvPicPr>
          <p:nvPr/>
        </p:nvPicPr>
        <p:blipFill rotWithShape="1">
          <a:blip r:embed="rId4"/>
          <a:srcRect/>
          <a:stretch>
            <a:fillRect/>
          </a:stretch>
        </p:blipFill>
        <p:spPr>
          <a:xfrm>
            <a:off x="6696445" y="426461"/>
            <a:ext cx="5495555" cy="6032004"/>
          </a:xfrm>
          <a:prstGeom prst="rect">
            <a:avLst/>
          </a:prstGeom>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N May &amp;TT">
  <p:cSld name="CN May &amp;TT">
    <p:spTree>
      <p:nvGrpSpPr>
        <p:cNvPr id="1" name=""/>
        <p:cNvGrpSpPr/>
        <p:nvPr/>
      </p:nvGrpSpPr>
      <p:grpSpPr>
        <a:xfrm>
          <a:off x="0" y="0"/>
          <a:ext cx="0" cy="0"/>
          <a:chOff x="0" y="0"/>
          <a:chExt cx="0" cy="0"/>
        </a:xfrm>
      </p:grpSpPr>
      <p:pic>
        <p:nvPicPr>
          <p:cNvPr id="76" name="Google Shape;67;p13"/>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68" name="Google Shape;68;p13"/>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800"/>
              <a:buFont typeface="Times New Roman" panose="02020603050405020304"/>
              <a:buNone/>
              <a:defRPr sz="48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69" name="Google Shape;69;p13"/>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70" name="Google Shape;70;p13"/>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71" name="Google Shape;71;p13"/>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72" name="Google Shape;72;p13"/>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82" name="Google Shape;73;p13"/>
          <p:cNvPicPr>
            <a:picLocks noChangeAspect="1"/>
          </p:cNvPicPr>
          <p:nvPr/>
        </p:nvPicPr>
        <p:blipFill rotWithShape="1">
          <a:blip r:embed="rId3"/>
          <a:srcRect/>
          <a:stretch>
            <a:fillRect/>
          </a:stretch>
        </p:blipFill>
        <p:spPr>
          <a:xfrm>
            <a:off x="433175" y="329805"/>
            <a:ext cx="6048819" cy="831026"/>
          </a:xfrm>
          <a:prstGeom prst="rect">
            <a:avLst/>
          </a:prstGeom>
          <a:ln>
            <a:noFill/>
          </a:ln>
        </p:spPr>
      </p:pic>
      <p:pic>
        <p:nvPicPr>
          <p:cNvPr id="83" name="Google Shape;74;p13"/>
          <p:cNvPicPr>
            <a:picLocks noChangeAspect="1"/>
          </p:cNvPicPr>
          <p:nvPr/>
        </p:nvPicPr>
        <p:blipFill rotWithShape="1">
          <a:blip r:embed="rId4"/>
          <a:srcRect/>
          <a:stretch>
            <a:fillRect/>
          </a:stretch>
        </p:blipFill>
        <p:spPr>
          <a:xfrm>
            <a:off x="6696445" y="426461"/>
            <a:ext cx="5495555" cy="6032004"/>
          </a:xfrm>
          <a:prstGeom prst="rect">
            <a:avLst/>
          </a:prstGeom>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NTT">
  <p:cSld name="CNTT">
    <p:spTree>
      <p:nvGrpSpPr>
        <p:cNvPr id="1" name=""/>
        <p:cNvGrpSpPr/>
        <p:nvPr/>
      </p:nvGrpSpPr>
      <p:grpSpPr>
        <a:xfrm>
          <a:off x="0" y="0"/>
          <a:ext cx="0" cy="0"/>
          <a:chOff x="0" y="0"/>
          <a:chExt cx="0" cy="0"/>
        </a:xfrm>
      </p:grpSpPr>
      <p:pic>
        <p:nvPicPr>
          <p:cNvPr id="85" name="Google Shape;76;p14"/>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77" name="Google Shape;77;p14"/>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800"/>
              <a:buFont typeface="Times New Roman" panose="02020603050405020304"/>
              <a:buNone/>
              <a:defRPr sz="48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78" name="Google Shape;78;p14"/>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79" name="Google Shape;79;p14"/>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80" name="Google Shape;80;p14"/>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81" name="Google Shape;81;p14"/>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91" name="Google Shape;82;p14"/>
          <p:cNvPicPr>
            <a:picLocks noChangeAspect="1"/>
          </p:cNvPicPr>
          <p:nvPr/>
        </p:nvPicPr>
        <p:blipFill rotWithShape="1">
          <a:blip r:embed="rId3"/>
          <a:srcRect/>
          <a:stretch>
            <a:fillRect/>
          </a:stretch>
        </p:blipFill>
        <p:spPr>
          <a:xfrm>
            <a:off x="433175" y="329805"/>
            <a:ext cx="6048819" cy="831025"/>
          </a:xfrm>
          <a:prstGeom prst="rect">
            <a:avLst/>
          </a:prstGeom>
          <a:ln>
            <a:noFill/>
          </a:ln>
        </p:spPr>
      </p:pic>
      <p:pic>
        <p:nvPicPr>
          <p:cNvPr id="92" name="Google Shape;83;p14"/>
          <p:cNvPicPr>
            <a:picLocks noChangeAspect="1"/>
          </p:cNvPicPr>
          <p:nvPr/>
        </p:nvPicPr>
        <p:blipFill rotWithShape="1">
          <a:blip r:embed="rId4"/>
          <a:srcRect/>
          <a:stretch>
            <a:fillRect/>
          </a:stretch>
        </p:blipFill>
        <p:spPr>
          <a:xfrm>
            <a:off x="6696445" y="426461"/>
            <a:ext cx="5495555" cy="6032004"/>
          </a:xfrm>
          <a:prstGeom prst="rect">
            <a:avLst/>
          </a:prstGeom>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KHCB">
  <p:cSld name="KHCB">
    <p:spTree>
      <p:nvGrpSpPr>
        <p:cNvPr id="1" name=""/>
        <p:cNvGrpSpPr/>
        <p:nvPr/>
      </p:nvGrpSpPr>
      <p:grpSpPr>
        <a:xfrm>
          <a:off x="0" y="0"/>
          <a:ext cx="0" cy="0"/>
          <a:chOff x="0" y="0"/>
          <a:chExt cx="0" cy="0"/>
        </a:xfrm>
      </p:grpSpPr>
      <p:pic>
        <p:nvPicPr>
          <p:cNvPr id="94" name="Google Shape;85;p15"/>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86" name="Google Shape;86;p15"/>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800"/>
              <a:buFont typeface="Times New Roman" panose="02020603050405020304"/>
              <a:buNone/>
              <a:defRPr sz="48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87" name="Google Shape;87;p15"/>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88" name="Google Shape;88;p15"/>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89" name="Google Shape;89;p15"/>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90" name="Google Shape;90;p15"/>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100" name="Google Shape;91;p15"/>
          <p:cNvPicPr>
            <a:picLocks noChangeAspect="1"/>
          </p:cNvPicPr>
          <p:nvPr/>
        </p:nvPicPr>
        <p:blipFill rotWithShape="1">
          <a:blip r:embed="rId3"/>
          <a:srcRect/>
          <a:stretch>
            <a:fillRect/>
          </a:stretch>
        </p:blipFill>
        <p:spPr>
          <a:xfrm>
            <a:off x="433178" y="329805"/>
            <a:ext cx="6048812" cy="831025"/>
          </a:xfrm>
          <a:prstGeom prst="rect">
            <a:avLst/>
          </a:prstGeom>
          <a:ln>
            <a:noFill/>
          </a:ln>
        </p:spPr>
      </p:pic>
      <p:pic>
        <p:nvPicPr>
          <p:cNvPr id="101" name="Google Shape;92;p15"/>
          <p:cNvPicPr>
            <a:picLocks noChangeAspect="1"/>
          </p:cNvPicPr>
          <p:nvPr/>
        </p:nvPicPr>
        <p:blipFill rotWithShape="1">
          <a:blip r:embed="rId4"/>
          <a:srcRect/>
          <a:stretch>
            <a:fillRect/>
          </a:stretch>
        </p:blipFill>
        <p:spPr>
          <a:xfrm>
            <a:off x="6696445" y="426461"/>
            <a:ext cx="5495555" cy="6032004"/>
          </a:xfrm>
          <a:prstGeom prst="rect">
            <a:avLst/>
          </a:prstGeom>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ĐT">
  <p:cSld name="DĐT">
    <p:spTree>
      <p:nvGrpSpPr>
        <p:cNvPr id="1" name=""/>
        <p:cNvGrpSpPr/>
        <p:nvPr/>
      </p:nvGrpSpPr>
      <p:grpSpPr>
        <a:xfrm>
          <a:off x="0" y="0"/>
          <a:ext cx="0" cy="0"/>
          <a:chOff x="0" y="0"/>
          <a:chExt cx="0" cy="0"/>
        </a:xfrm>
      </p:grpSpPr>
      <p:pic>
        <p:nvPicPr>
          <p:cNvPr id="103" name="Google Shape;94;p16"/>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95" name="Google Shape;95;p16"/>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800"/>
              <a:buFont typeface="Times New Roman" panose="02020603050405020304"/>
              <a:buNone/>
              <a:defRPr sz="48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96" name="Google Shape;96;p16"/>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97" name="Google Shape;97;p16"/>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98" name="Google Shape;98;p16"/>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99" name="Google Shape;99;p16"/>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109" name="Google Shape;100;p16"/>
          <p:cNvPicPr>
            <a:picLocks noChangeAspect="1"/>
          </p:cNvPicPr>
          <p:nvPr/>
        </p:nvPicPr>
        <p:blipFill rotWithShape="1">
          <a:blip r:embed="rId3"/>
          <a:srcRect/>
          <a:stretch>
            <a:fillRect/>
          </a:stretch>
        </p:blipFill>
        <p:spPr>
          <a:xfrm>
            <a:off x="433178" y="329805"/>
            <a:ext cx="6048812" cy="831024"/>
          </a:xfrm>
          <a:prstGeom prst="rect">
            <a:avLst/>
          </a:prstGeom>
          <a:ln>
            <a:noFill/>
          </a:ln>
        </p:spPr>
      </p:pic>
      <p:pic>
        <p:nvPicPr>
          <p:cNvPr id="110" name="Google Shape;101;p16"/>
          <p:cNvPicPr>
            <a:picLocks noChangeAspect="1"/>
          </p:cNvPicPr>
          <p:nvPr/>
        </p:nvPicPr>
        <p:blipFill rotWithShape="1">
          <a:blip r:embed="rId4"/>
          <a:srcRect/>
          <a:stretch>
            <a:fillRect/>
          </a:stretch>
        </p:blipFill>
        <p:spPr>
          <a:xfrm>
            <a:off x="6696445" y="426461"/>
            <a:ext cx="5495555" cy="6032004"/>
          </a:xfrm>
          <a:prstGeom prst="rect">
            <a:avLst/>
          </a:prstGeom>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NHH &amp;MT">
  <p:cSld name="CNHH &amp;MT">
    <p:spTree>
      <p:nvGrpSpPr>
        <p:cNvPr id="1" name=""/>
        <p:cNvGrpSpPr/>
        <p:nvPr/>
      </p:nvGrpSpPr>
      <p:grpSpPr>
        <a:xfrm>
          <a:off x="0" y="0"/>
          <a:ext cx="0" cy="0"/>
          <a:chOff x="0" y="0"/>
          <a:chExt cx="0" cy="0"/>
        </a:xfrm>
      </p:grpSpPr>
      <p:pic>
        <p:nvPicPr>
          <p:cNvPr id="112" name="Google Shape;103;p17"/>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104" name="Google Shape;104;p17"/>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800"/>
              <a:buFont typeface="Times New Roman" panose="02020603050405020304"/>
              <a:buNone/>
              <a:defRPr sz="48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105" name="Google Shape;105;p17"/>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106" name="Google Shape;106;p17"/>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07" name="Google Shape;107;p17"/>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08" name="Google Shape;108;p17"/>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118" name="Google Shape;109;p17"/>
          <p:cNvPicPr>
            <a:picLocks noChangeAspect="1"/>
          </p:cNvPicPr>
          <p:nvPr/>
        </p:nvPicPr>
        <p:blipFill rotWithShape="1">
          <a:blip r:embed="rId3"/>
          <a:srcRect/>
          <a:stretch>
            <a:fillRect/>
          </a:stretch>
        </p:blipFill>
        <p:spPr>
          <a:xfrm>
            <a:off x="433178" y="334428"/>
            <a:ext cx="6048812" cy="821778"/>
          </a:xfrm>
          <a:prstGeom prst="rect">
            <a:avLst/>
          </a:prstGeom>
          <a:ln>
            <a:noFill/>
          </a:ln>
        </p:spPr>
      </p:pic>
      <p:pic>
        <p:nvPicPr>
          <p:cNvPr id="119" name="Google Shape;110;p17"/>
          <p:cNvPicPr>
            <a:picLocks noChangeAspect="1"/>
          </p:cNvPicPr>
          <p:nvPr/>
        </p:nvPicPr>
        <p:blipFill rotWithShape="1">
          <a:blip r:embed="rId4"/>
          <a:srcRect/>
          <a:stretch>
            <a:fillRect/>
          </a:stretch>
        </p:blipFill>
        <p:spPr>
          <a:xfrm>
            <a:off x="6696445" y="426461"/>
            <a:ext cx="5495555" cy="6032004"/>
          </a:xfrm>
          <a:prstGeom prst="rect">
            <a:avLst/>
          </a:prstGeom>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N">
  <p:cSld name="NN">
    <p:spTree>
      <p:nvGrpSpPr>
        <p:cNvPr id="1" name=""/>
        <p:cNvGrpSpPr/>
        <p:nvPr/>
      </p:nvGrpSpPr>
      <p:grpSpPr>
        <a:xfrm>
          <a:off x="0" y="0"/>
          <a:ext cx="0" cy="0"/>
          <a:chOff x="0" y="0"/>
          <a:chExt cx="0" cy="0"/>
        </a:xfrm>
      </p:grpSpPr>
      <p:pic>
        <p:nvPicPr>
          <p:cNvPr id="121" name="Google Shape;112;p18"/>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113" name="Google Shape;113;p18"/>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000"/>
              <a:buFont typeface="Times New Roman" panose="02020603050405020304"/>
              <a:buNone/>
              <a:defRPr sz="40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114" name="Google Shape;114;p18"/>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115" name="Google Shape;115;p18"/>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16" name="Google Shape;116;p18"/>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17" name="Google Shape;117;p18"/>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127" name="Google Shape;118;p18"/>
          <p:cNvPicPr>
            <a:picLocks noChangeAspect="1"/>
          </p:cNvPicPr>
          <p:nvPr/>
        </p:nvPicPr>
        <p:blipFill rotWithShape="1">
          <a:blip r:embed="rId3"/>
          <a:srcRect/>
          <a:stretch>
            <a:fillRect/>
          </a:stretch>
        </p:blipFill>
        <p:spPr>
          <a:xfrm>
            <a:off x="463289" y="334428"/>
            <a:ext cx="5988589" cy="821778"/>
          </a:xfrm>
          <a:prstGeom prst="rect">
            <a:avLst/>
          </a:prstGeom>
          <a:ln>
            <a:noFill/>
          </a:ln>
        </p:spPr>
      </p:pic>
      <p:pic>
        <p:nvPicPr>
          <p:cNvPr id="128" name="Google Shape;119;p18"/>
          <p:cNvPicPr>
            <a:picLocks noChangeAspect="1"/>
          </p:cNvPicPr>
          <p:nvPr/>
        </p:nvPicPr>
        <p:blipFill rotWithShape="1">
          <a:blip r:embed="rId4"/>
          <a:srcRect/>
          <a:stretch>
            <a:fillRect/>
          </a:stretch>
        </p:blipFill>
        <p:spPr>
          <a:xfrm>
            <a:off x="6696445" y="426461"/>
            <a:ext cx="5495555" cy="6032004"/>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KT">
  <p:cSld name="KT">
    <p:spTree>
      <p:nvGrpSpPr>
        <p:cNvPr id="1" name=""/>
        <p:cNvGrpSpPr/>
        <p:nvPr/>
      </p:nvGrpSpPr>
      <p:grpSpPr>
        <a:xfrm>
          <a:off x="0" y="0"/>
          <a:ext cx="0" cy="0"/>
          <a:chOff x="0" y="0"/>
          <a:chExt cx="0" cy="0"/>
        </a:xfrm>
      </p:grpSpPr>
      <p:pic>
        <p:nvPicPr>
          <p:cNvPr id="130" name="Google Shape;121;p19"/>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122" name="Google Shape;122;p19"/>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000"/>
              <a:buFont typeface="Times New Roman" panose="02020603050405020304"/>
              <a:buNone/>
              <a:defRPr sz="40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123" name="Google Shape;123;p19"/>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124" name="Google Shape;124;p19"/>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25" name="Google Shape;125;p19"/>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26" name="Google Shape;126;p19"/>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136" name="Google Shape;127;p19"/>
          <p:cNvPicPr>
            <a:picLocks noChangeAspect="1"/>
          </p:cNvPicPr>
          <p:nvPr/>
        </p:nvPicPr>
        <p:blipFill rotWithShape="1">
          <a:blip r:embed="rId3"/>
          <a:srcRect/>
          <a:stretch>
            <a:fillRect/>
          </a:stretch>
        </p:blipFill>
        <p:spPr>
          <a:xfrm>
            <a:off x="466831" y="334428"/>
            <a:ext cx="5981505" cy="821778"/>
          </a:xfrm>
          <a:prstGeom prst="rect">
            <a:avLst/>
          </a:prstGeom>
          <a:ln>
            <a:noFill/>
          </a:ln>
        </p:spPr>
      </p:pic>
      <p:pic>
        <p:nvPicPr>
          <p:cNvPr id="137" name="Google Shape;128;p19"/>
          <p:cNvPicPr>
            <a:picLocks noChangeAspect="1"/>
          </p:cNvPicPr>
          <p:nvPr/>
        </p:nvPicPr>
        <p:blipFill rotWithShape="1">
          <a:blip r:embed="rId4"/>
          <a:srcRect/>
          <a:stretch>
            <a:fillRect/>
          </a:stretch>
        </p:blipFill>
        <p:spPr>
          <a:xfrm>
            <a:off x="6696445" y="426461"/>
            <a:ext cx="5495555" cy="6032004"/>
          </a:xfrm>
          <a:prstGeom prst="rect">
            <a:avLst/>
          </a:prstGeom>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PKT">
  <p:cSld name="SPKT">
    <p:spTree>
      <p:nvGrpSpPr>
        <p:cNvPr id="1" name=""/>
        <p:cNvGrpSpPr/>
        <p:nvPr/>
      </p:nvGrpSpPr>
      <p:grpSpPr>
        <a:xfrm>
          <a:off x="0" y="0"/>
          <a:ext cx="0" cy="0"/>
          <a:chOff x="0" y="0"/>
          <a:chExt cx="0" cy="0"/>
        </a:xfrm>
      </p:grpSpPr>
      <p:pic>
        <p:nvPicPr>
          <p:cNvPr id="139" name="Google Shape;130;p20"/>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131" name="Google Shape;131;p20"/>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000"/>
              <a:buFont typeface="Times New Roman" panose="02020603050405020304"/>
              <a:buNone/>
              <a:defRPr sz="40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132" name="Google Shape;132;p20"/>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133" name="Google Shape;133;p20"/>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34" name="Google Shape;134;p20"/>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35" name="Google Shape;135;p20"/>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145" name="Google Shape;136;p20"/>
          <p:cNvPicPr>
            <a:picLocks noChangeAspect="1"/>
          </p:cNvPicPr>
          <p:nvPr/>
        </p:nvPicPr>
        <p:blipFill rotWithShape="1">
          <a:blip r:embed="rId3"/>
          <a:srcRect/>
          <a:stretch>
            <a:fillRect/>
          </a:stretch>
        </p:blipFill>
        <p:spPr>
          <a:xfrm>
            <a:off x="466831" y="334833"/>
            <a:ext cx="5981505" cy="820967"/>
          </a:xfrm>
          <a:prstGeom prst="rect">
            <a:avLst/>
          </a:prstGeom>
          <a:ln>
            <a:noFill/>
          </a:ln>
        </p:spPr>
      </p:pic>
      <p:pic>
        <p:nvPicPr>
          <p:cNvPr id="146" name="Google Shape;137;p20"/>
          <p:cNvPicPr>
            <a:picLocks noChangeAspect="1"/>
          </p:cNvPicPr>
          <p:nvPr/>
        </p:nvPicPr>
        <p:blipFill rotWithShape="1">
          <a:blip r:embed="rId4"/>
          <a:srcRect/>
          <a:stretch>
            <a:fillRect/>
          </a:stretch>
        </p:blipFill>
        <p:spPr>
          <a:xfrm>
            <a:off x="6696445" y="426461"/>
            <a:ext cx="5495555" cy="6032004"/>
          </a:xfrm>
          <a:prstGeom prst="rect">
            <a:avLst/>
          </a:prstGeom>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LLCT">
  <p:cSld name="LLCT">
    <p:spTree>
      <p:nvGrpSpPr>
        <p:cNvPr id="1" name=""/>
        <p:cNvGrpSpPr/>
        <p:nvPr/>
      </p:nvGrpSpPr>
      <p:grpSpPr>
        <a:xfrm>
          <a:off x="0" y="0"/>
          <a:ext cx="0" cy="0"/>
          <a:chOff x="0" y="0"/>
          <a:chExt cx="0" cy="0"/>
        </a:xfrm>
      </p:grpSpPr>
      <p:pic>
        <p:nvPicPr>
          <p:cNvPr id="148" name="Google Shape;139;p21"/>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140" name="Google Shape;140;p21"/>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000"/>
              <a:buFont typeface="Times New Roman" panose="02020603050405020304"/>
              <a:buNone/>
              <a:defRPr sz="40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141" name="Google Shape;141;p21"/>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142" name="Google Shape;142;p21"/>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43" name="Google Shape;143;p21"/>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44" name="Google Shape;144;p21"/>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154" name="Google Shape;145;p21"/>
          <p:cNvPicPr>
            <a:picLocks noChangeAspect="1"/>
          </p:cNvPicPr>
          <p:nvPr/>
        </p:nvPicPr>
        <p:blipFill rotWithShape="1">
          <a:blip r:embed="rId3"/>
          <a:srcRect/>
          <a:stretch>
            <a:fillRect/>
          </a:stretch>
        </p:blipFill>
        <p:spPr>
          <a:xfrm>
            <a:off x="469782" y="334833"/>
            <a:ext cx="5975602" cy="820967"/>
          </a:xfrm>
          <a:prstGeom prst="rect">
            <a:avLst/>
          </a:prstGeom>
          <a:ln>
            <a:noFill/>
          </a:ln>
        </p:spPr>
      </p:pic>
      <p:pic>
        <p:nvPicPr>
          <p:cNvPr id="155" name="Google Shape;146;p21"/>
          <p:cNvPicPr>
            <a:picLocks noChangeAspect="1"/>
          </p:cNvPicPr>
          <p:nvPr/>
        </p:nvPicPr>
        <p:blipFill rotWithShape="1">
          <a:blip r:embed="rId4"/>
          <a:srcRect/>
          <a:stretch>
            <a:fillRect/>
          </a:stretch>
        </p:blipFill>
        <p:spPr>
          <a:xfrm>
            <a:off x="6696445" y="426461"/>
            <a:ext cx="5495555" cy="6032004"/>
          </a:xfrm>
          <a:prstGeom prst="rect">
            <a:avLst/>
          </a:prstGeom>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DTC&amp;QP">
  <p:cSld name="GDTC&amp;QP">
    <p:spTree>
      <p:nvGrpSpPr>
        <p:cNvPr id="1" name=""/>
        <p:cNvGrpSpPr/>
        <p:nvPr/>
      </p:nvGrpSpPr>
      <p:grpSpPr>
        <a:xfrm>
          <a:off x="0" y="0"/>
          <a:ext cx="0" cy="0"/>
          <a:chOff x="0" y="0"/>
          <a:chExt cx="0" cy="0"/>
        </a:xfrm>
      </p:grpSpPr>
      <p:pic>
        <p:nvPicPr>
          <p:cNvPr id="157" name="Google Shape;148;p22"/>
          <p:cNvPicPr>
            <a:picLocks noChangeAspect="1"/>
          </p:cNvPicPr>
          <p:nvPr/>
        </p:nvPicPr>
        <p:blipFill rotWithShape="1">
          <a:blip r:embed="rId2"/>
          <a:srcRect/>
          <a:stretch>
            <a:fillRect/>
          </a:stretch>
        </p:blipFill>
        <p:spPr>
          <a:xfrm>
            <a:off x="-1" y="0"/>
            <a:ext cx="13719239" cy="6858000"/>
          </a:xfrm>
          <a:prstGeom prst="rect">
            <a:avLst/>
          </a:prstGeom>
          <a:ln>
            <a:noFill/>
          </a:ln>
        </p:spPr>
      </p:pic>
      <p:sp>
        <p:nvSpPr>
          <p:cNvPr id="149" name="Google Shape;149;p22"/>
          <p:cNvSpPr>
            <a:spLocks noGrp="1"/>
          </p:cNvSpPr>
          <p:nvPr>
            <p:ph type="ctrTitle"/>
          </p:nvPr>
        </p:nvSpPr>
        <p:spPr>
          <a:xfrm>
            <a:off x="240481" y="1782501"/>
            <a:ext cx="6596991" cy="1405577"/>
          </a:xfrm>
          <a:prstGeom prst="rect">
            <a:avLst/>
          </a:prstGeom>
          <a:noFill/>
          <a:ln>
            <a:noFill/>
          </a:ln>
        </p:spPr>
        <p:txBody>
          <a:bodyPr spcFirstLastPara="1" wrap="square" lIns="91425" tIns="45700" rIns="91425" bIns="45700" anchor="ctr">
            <a:noAutofit/>
          </a:bodyPr>
          <a:lstStyle>
            <a:lvl1pPr algn="ctr">
              <a:lnSpc>
                <a:spcPct val="90000"/>
              </a:lnSpc>
              <a:spcBef>
                <a:spcPts val="0"/>
              </a:spcBef>
              <a:spcAft>
                <a:spcPts val="0"/>
              </a:spcAft>
              <a:buClr>
                <a:schemeClr val="dk1"/>
              </a:buClr>
              <a:buSzPts val="4000"/>
              <a:buFont typeface="Times New Roman" panose="02020603050405020304"/>
              <a:buNone/>
              <a:defRPr sz="4000">
                <a:solidFill>
                  <a:schemeClr val="dk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150" name="Google Shape;150;p22"/>
          <p:cNvSpPr>
            <a:spLocks noGrp="1"/>
          </p:cNvSpPr>
          <p:nvPr>
            <p:ph type="subTitle" idx="1"/>
          </p:nvPr>
        </p:nvSpPr>
        <p:spPr>
          <a:xfrm>
            <a:off x="217087" y="3582634"/>
            <a:ext cx="6620386" cy="1655762"/>
          </a:xfrm>
          <a:prstGeom prst="rect">
            <a:avLst/>
          </a:prstGeom>
          <a:noFill/>
          <a:ln>
            <a:noFill/>
          </a:ln>
        </p:spPr>
        <p:txBody>
          <a:bodyPr spcFirstLastPara="1" wrap="square" lIns="91425" tIns="45700" rIns="91425" bIns="45700" anchor="ctr">
            <a:normAutofit/>
          </a:bodyPr>
          <a:lstStyle>
            <a:lvl1pPr algn="ctr">
              <a:lnSpc>
                <a:spcPct val="90000"/>
              </a:lnSpc>
              <a:spcBef>
                <a:spcPts val="1000"/>
              </a:spcBef>
              <a:spcAft>
                <a:spcPts val="0"/>
              </a:spcAft>
              <a:buClr>
                <a:schemeClr val="dk1"/>
              </a:buClr>
              <a:buSzPts val="2800"/>
              <a:buNone/>
              <a:defRPr sz="2800">
                <a:latin typeface="Times New Roman" panose="02020603050405020304"/>
                <a:ea typeface="Times New Roman" panose="02020603050405020304"/>
                <a:cs typeface="Times New Roman" panose="02020603050405020304"/>
              </a:defRPr>
            </a:lvl1pPr>
            <a:lvl2pPr algn="ctr">
              <a:lnSpc>
                <a:spcPct val="90000"/>
              </a:lnSpc>
              <a:spcBef>
                <a:spcPts val="500"/>
              </a:spcBef>
              <a:spcAft>
                <a:spcPts val="0"/>
              </a:spcAft>
              <a:buClr>
                <a:schemeClr val="dk1"/>
              </a:buClr>
              <a:buSzPts val="2000"/>
              <a:buNone/>
              <a:defRPr sz="2000"/>
            </a:lvl2pPr>
            <a:lvl3pPr algn="ctr">
              <a:lnSpc>
                <a:spcPct val="90000"/>
              </a:lnSpc>
              <a:spcBef>
                <a:spcPts val="500"/>
              </a:spcBef>
              <a:spcAft>
                <a:spcPts val="0"/>
              </a:spcAft>
              <a:buClr>
                <a:schemeClr val="dk1"/>
              </a:buClr>
              <a:buSzPts val="1800"/>
              <a:buNone/>
              <a:defRPr sz="1800"/>
            </a:lvl3pPr>
            <a:lvl4pPr algn="ctr">
              <a:lnSpc>
                <a:spcPct val="90000"/>
              </a:lnSpc>
              <a:spcBef>
                <a:spcPts val="500"/>
              </a:spcBef>
              <a:spcAft>
                <a:spcPts val="0"/>
              </a:spcAft>
              <a:buClr>
                <a:schemeClr val="dk1"/>
              </a:buClr>
              <a:buSzPts val="1600"/>
              <a:buNone/>
              <a:defRPr sz="1600"/>
            </a:lvl4pPr>
            <a:lvl5pPr algn="ctr">
              <a:lnSpc>
                <a:spcPct val="90000"/>
              </a:lnSpc>
              <a:spcBef>
                <a:spcPts val="500"/>
              </a:spcBef>
              <a:spcAft>
                <a:spcPts val="0"/>
              </a:spcAft>
              <a:buClr>
                <a:schemeClr val="dk1"/>
              </a:buClr>
              <a:buSzPts val="1600"/>
              <a:buNone/>
              <a:defRPr sz="1600"/>
            </a:lvl5pPr>
            <a:lvl6pPr algn="ctr">
              <a:lnSpc>
                <a:spcPct val="90000"/>
              </a:lnSpc>
              <a:spcBef>
                <a:spcPts val="500"/>
              </a:spcBef>
              <a:spcAft>
                <a:spcPts val="0"/>
              </a:spcAft>
              <a:buClr>
                <a:schemeClr val="dk1"/>
              </a:buClr>
              <a:buSzPts val="1600"/>
              <a:buNone/>
              <a:defRPr sz="1600"/>
            </a:lvl6pPr>
            <a:lvl7pPr algn="ctr">
              <a:lnSpc>
                <a:spcPct val="90000"/>
              </a:lnSpc>
              <a:spcBef>
                <a:spcPts val="500"/>
              </a:spcBef>
              <a:spcAft>
                <a:spcPts val="0"/>
              </a:spcAft>
              <a:buClr>
                <a:schemeClr val="dk1"/>
              </a:buClr>
              <a:buSzPts val="1600"/>
              <a:buNone/>
              <a:defRPr sz="1600"/>
            </a:lvl7pPr>
            <a:lvl8pPr algn="ctr">
              <a:lnSpc>
                <a:spcPct val="90000"/>
              </a:lnSpc>
              <a:spcBef>
                <a:spcPts val="500"/>
              </a:spcBef>
              <a:spcAft>
                <a:spcPts val="0"/>
              </a:spcAft>
              <a:buClr>
                <a:schemeClr val="dk1"/>
              </a:buClr>
              <a:buSzPts val="1600"/>
              <a:buNone/>
              <a:defRPr sz="1600"/>
            </a:lvl8pPr>
            <a:lvl9pPr algn="ctr">
              <a:lnSpc>
                <a:spcPct val="90000"/>
              </a:lnSpc>
              <a:spcBef>
                <a:spcPts val="500"/>
              </a:spcBef>
              <a:spcAft>
                <a:spcPts val="0"/>
              </a:spcAft>
              <a:buClr>
                <a:schemeClr val="dk1"/>
              </a:buClr>
              <a:buSzPts val="1600"/>
              <a:buNone/>
              <a:defRPr sz="1600"/>
            </a:lvl9pPr>
          </a:lstStyle>
          <a:p/>
        </p:txBody>
      </p:sp>
      <p:sp>
        <p:nvSpPr>
          <p:cNvPr id="151" name="Google Shape;151;p22"/>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52" name="Google Shape;152;p22"/>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sz="1400">
                <a:solidFill>
                  <a:schemeClr val="dk1"/>
                </a:solidFill>
                <a:latin typeface="Times New Roman" panose="02020603050405020304"/>
                <a:ea typeface="Times New Roman" panose="02020603050405020304"/>
                <a:cs typeface="Times New Roman" panose="02020603050405020304"/>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53" name="Google Shape;153;p22"/>
          <p:cNvSpPr>
            <a:spLocks noGrp="1"/>
          </p:cNvSpPr>
          <p:nvPr>
            <p:ph type="sldNum" idx="12"/>
          </p:nvPr>
        </p:nvSpPr>
        <p:spPr>
          <a:xfrm>
            <a:off x="8861164" y="6275903"/>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1pPr>
            <a:lvl2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2pPr>
            <a:lvl3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3pPr>
            <a:lvl4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4pPr>
            <a:lvl5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5pPr>
            <a:lvl6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6pPr>
            <a:lvl7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7pPr>
            <a:lvl8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8pPr>
            <a:lvl9pPr marL="0" indent="0" algn="r">
              <a:spcBef>
                <a:spcPts val="0"/>
              </a:spcBef>
              <a:buNone/>
              <a:defRPr sz="1400" b="0" i="0" u="none" strike="noStrike" cap="none">
                <a:solidFill>
                  <a:schemeClr val="dk1"/>
                </a:solidFill>
                <a:latin typeface="Times New Roman" panose="02020603050405020304"/>
                <a:ea typeface="Times New Roman" panose="02020603050405020304"/>
                <a:cs typeface="Times New Roman" panose="02020603050405020304"/>
              </a:defRPr>
            </a:lvl9pPr>
          </a:lstStyle>
          <a:p>
            <a:pPr marL="0" lvl="0" indent="0" algn="r">
              <a:spcBef>
                <a:spcPts val="0"/>
              </a:spcBef>
              <a:spcAft>
                <a:spcPts val="0"/>
              </a:spcAft>
              <a:buNone/>
            </a:pPr>
            <a:fld id="{00000000-1234-1234-1234-123412341234}" type="slidenum">
              <a:rPr/>
            </a:fld>
            <a:endParaRPr/>
          </a:p>
        </p:txBody>
      </p:sp>
      <p:pic>
        <p:nvPicPr>
          <p:cNvPr id="163" name="Google Shape;154;p22"/>
          <p:cNvPicPr>
            <a:picLocks noChangeAspect="1"/>
          </p:cNvPicPr>
          <p:nvPr/>
        </p:nvPicPr>
        <p:blipFill rotWithShape="1">
          <a:blip r:embed="rId3"/>
          <a:srcRect/>
          <a:stretch>
            <a:fillRect/>
          </a:stretch>
        </p:blipFill>
        <p:spPr>
          <a:xfrm>
            <a:off x="469782" y="338765"/>
            <a:ext cx="5975602" cy="813102"/>
          </a:xfrm>
          <a:prstGeom prst="rect">
            <a:avLst/>
          </a:prstGeom>
          <a:ln>
            <a:noFill/>
          </a:ln>
        </p:spPr>
      </p:pic>
      <p:pic>
        <p:nvPicPr>
          <p:cNvPr id="164" name="Google Shape;155;p22"/>
          <p:cNvPicPr>
            <a:picLocks noChangeAspect="1"/>
          </p:cNvPicPr>
          <p:nvPr/>
        </p:nvPicPr>
        <p:blipFill rotWithShape="1">
          <a:blip r:embed="rId4"/>
          <a:srcRect/>
          <a:stretch>
            <a:fillRect/>
          </a:stretch>
        </p:blipFill>
        <p:spPr>
          <a:xfrm>
            <a:off x="6696445" y="426461"/>
            <a:ext cx="5495555" cy="6032004"/>
          </a:xfrm>
          <a:prstGeom prst="rect">
            <a:avLst/>
          </a:prstGeom>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
        <p:cNvGrpSpPr/>
        <p:nvPr/>
      </p:nvGrpSpPr>
      <p:grpSpPr>
        <a:xfrm>
          <a:off x="0" y="0"/>
          <a:ext cx="0" cy="0"/>
          <a:chOff x="0" y="0"/>
          <a:chExt cx="0" cy="0"/>
        </a:xfrm>
      </p:grpSpPr>
      <p:sp>
        <p:nvSpPr>
          <p:cNvPr id="157" name="Google Shape;157;p23"/>
          <p:cNvSpPr>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lt1"/>
              </a:buClr>
              <a:buSzPts val="6000"/>
              <a:buFont typeface="Times New Roman" panose="02020603050405020304"/>
              <a:buNone/>
              <a:defRPr sz="60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158" name="Google Shape;158;p23"/>
          <p:cNvSpPr>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rgbClr val="888888"/>
              </a:buClr>
              <a:buSzPts val="2400"/>
              <a:buNone/>
              <a:defRPr sz="2400">
                <a:solidFill>
                  <a:srgbClr val="888888"/>
                </a:solidFill>
              </a:defRPr>
            </a:lvl1pPr>
            <a:lvl2pPr marL="914400" indent="-228600" algn="l">
              <a:lnSpc>
                <a:spcPct val="90000"/>
              </a:lnSpc>
              <a:spcBef>
                <a:spcPts val="500"/>
              </a:spcBef>
              <a:spcAft>
                <a:spcPts val="0"/>
              </a:spcAft>
              <a:buClr>
                <a:srgbClr val="888888"/>
              </a:buClr>
              <a:buSzPts val="2000"/>
              <a:buNone/>
              <a:defRPr sz="2000">
                <a:solidFill>
                  <a:srgbClr val="888888"/>
                </a:solidFill>
              </a:defRPr>
            </a:lvl2pPr>
            <a:lvl3pPr marL="1371600" indent="-228600" algn="l">
              <a:lnSpc>
                <a:spcPct val="90000"/>
              </a:lnSpc>
              <a:spcBef>
                <a:spcPts val="500"/>
              </a:spcBef>
              <a:spcAft>
                <a:spcPts val="0"/>
              </a:spcAft>
              <a:buClr>
                <a:srgbClr val="888888"/>
              </a:buClr>
              <a:buSzPts val="1800"/>
              <a:buNone/>
              <a:defRPr sz="1800">
                <a:solidFill>
                  <a:srgbClr val="888888"/>
                </a:solidFill>
              </a:defRPr>
            </a:lvl3pPr>
            <a:lvl4pPr marL="1828800" indent="-228600" algn="l">
              <a:lnSpc>
                <a:spcPct val="90000"/>
              </a:lnSpc>
              <a:spcBef>
                <a:spcPts val="500"/>
              </a:spcBef>
              <a:spcAft>
                <a:spcPts val="0"/>
              </a:spcAft>
              <a:buClr>
                <a:srgbClr val="888888"/>
              </a:buClr>
              <a:buSzPts val="1600"/>
              <a:buNone/>
              <a:defRPr sz="1600">
                <a:solidFill>
                  <a:srgbClr val="888888"/>
                </a:solidFill>
              </a:defRPr>
            </a:lvl4pPr>
            <a:lvl5pPr marL="2286000" indent="-228600" algn="l">
              <a:lnSpc>
                <a:spcPct val="90000"/>
              </a:lnSpc>
              <a:spcBef>
                <a:spcPts val="500"/>
              </a:spcBef>
              <a:spcAft>
                <a:spcPts val="0"/>
              </a:spcAft>
              <a:buClr>
                <a:srgbClr val="888888"/>
              </a:buClr>
              <a:buSzPts val="1600"/>
              <a:buNone/>
              <a:defRPr sz="1600">
                <a:solidFill>
                  <a:srgbClr val="888888"/>
                </a:solidFill>
              </a:defRPr>
            </a:lvl5pPr>
            <a:lvl6pPr marL="2743200" indent="-228600" algn="l">
              <a:lnSpc>
                <a:spcPct val="90000"/>
              </a:lnSpc>
              <a:spcBef>
                <a:spcPts val="500"/>
              </a:spcBef>
              <a:spcAft>
                <a:spcPts val="0"/>
              </a:spcAft>
              <a:buClr>
                <a:srgbClr val="888888"/>
              </a:buClr>
              <a:buSzPts val="1600"/>
              <a:buNone/>
              <a:defRPr sz="1600">
                <a:solidFill>
                  <a:srgbClr val="888888"/>
                </a:solidFill>
              </a:defRPr>
            </a:lvl6pPr>
            <a:lvl7pPr marL="3200400" indent="-228600" algn="l">
              <a:lnSpc>
                <a:spcPct val="90000"/>
              </a:lnSpc>
              <a:spcBef>
                <a:spcPts val="500"/>
              </a:spcBef>
              <a:spcAft>
                <a:spcPts val="0"/>
              </a:spcAft>
              <a:buClr>
                <a:srgbClr val="888888"/>
              </a:buClr>
              <a:buSzPts val="1600"/>
              <a:buNone/>
              <a:defRPr sz="1600">
                <a:solidFill>
                  <a:srgbClr val="888888"/>
                </a:solidFill>
              </a:defRPr>
            </a:lvl7pPr>
            <a:lvl8pPr marL="3657600" indent="-228600" algn="l">
              <a:lnSpc>
                <a:spcPct val="90000"/>
              </a:lnSpc>
              <a:spcBef>
                <a:spcPts val="500"/>
              </a:spcBef>
              <a:spcAft>
                <a:spcPts val="0"/>
              </a:spcAft>
              <a:buClr>
                <a:srgbClr val="888888"/>
              </a:buClr>
              <a:buSzPts val="1600"/>
              <a:buNone/>
              <a:defRPr sz="1600">
                <a:solidFill>
                  <a:srgbClr val="888888"/>
                </a:solidFill>
              </a:defRPr>
            </a:lvl8pPr>
            <a:lvl9pPr marL="4114800"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159" name="Google Shape;159;p23"/>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60" name="Google Shape;160;p23"/>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61" name="Google Shape;161;p23"/>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
        <p:cNvGrpSpPr/>
        <p:nvPr/>
      </p:nvGrpSpPr>
      <p:grpSpPr>
        <a:xfrm>
          <a:off x="0" y="0"/>
          <a:ext cx="0" cy="0"/>
          <a:chOff x="0" y="0"/>
          <a:chExt cx="0" cy="0"/>
        </a:xfrm>
      </p:grpSpPr>
      <p:sp>
        <p:nvSpPr>
          <p:cNvPr id="163" name="Google Shape;163;p24"/>
          <p:cNvSpPr>
            <a:spLocks noGrp="1"/>
          </p:cNvSpPr>
          <p:nvPr>
            <p:ph type="title"/>
          </p:nvPr>
        </p:nvSpPr>
        <p:spPr>
          <a:xfrm>
            <a:off x="821803" y="1"/>
            <a:ext cx="9028253" cy="6810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lt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164" name="Google Shape;164;p24"/>
          <p:cNvSpPr>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p:txBody>
      </p:sp>
      <p:sp>
        <p:nvSpPr>
          <p:cNvPr id="165" name="Google Shape;165;p24"/>
          <p:cNvSpPr>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p:txBody>
      </p:sp>
      <p:sp>
        <p:nvSpPr>
          <p:cNvPr id="166" name="Google Shape;166;p24"/>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67" name="Google Shape;167;p24"/>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68" name="Google Shape;168;p24"/>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
        <p:cNvGrpSpPr/>
        <p:nvPr/>
      </p:nvGrpSpPr>
      <p:grpSpPr>
        <a:xfrm>
          <a:off x="0" y="0"/>
          <a:ext cx="0" cy="0"/>
          <a:chOff x="0" y="0"/>
          <a:chExt cx="0" cy="0"/>
        </a:xfrm>
      </p:grpSpPr>
      <p:sp>
        <p:nvSpPr>
          <p:cNvPr id="170" name="Google Shape;170;p25"/>
          <p:cNvSpPr>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lt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171" name="Google Shape;171;p25"/>
          <p:cNvSpPr>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ormAutofit/>
          </a:bodyPr>
          <a:lstStyle>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p:txBody>
      </p:sp>
      <p:sp>
        <p:nvSpPr>
          <p:cNvPr id="172" name="Google Shape;172;p25"/>
          <p:cNvSpPr>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p:txBody>
      </p:sp>
      <p:sp>
        <p:nvSpPr>
          <p:cNvPr id="173" name="Google Shape;173;p25"/>
          <p:cNvSpPr>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ormAutofit/>
          </a:bodyPr>
          <a:lstStyle>
            <a:lvl1pPr marL="457200" indent="-228600" algn="l">
              <a:lnSpc>
                <a:spcPct val="90000"/>
              </a:lnSpc>
              <a:spcBef>
                <a:spcPts val="1000"/>
              </a:spcBef>
              <a:spcAft>
                <a:spcPts val="0"/>
              </a:spcAft>
              <a:buClr>
                <a:schemeClr val="dk1"/>
              </a:buClr>
              <a:buSzPts val="2400"/>
              <a:buNone/>
              <a:defRPr sz="2400" b="1"/>
            </a:lvl1pPr>
            <a:lvl2pPr marL="914400" indent="-228600" algn="l">
              <a:lnSpc>
                <a:spcPct val="90000"/>
              </a:lnSpc>
              <a:spcBef>
                <a:spcPts val="500"/>
              </a:spcBef>
              <a:spcAft>
                <a:spcPts val="0"/>
              </a:spcAft>
              <a:buClr>
                <a:schemeClr val="dk1"/>
              </a:buClr>
              <a:buSzPts val="2000"/>
              <a:buNone/>
              <a:defRPr sz="2000" b="1"/>
            </a:lvl2pPr>
            <a:lvl3pPr marL="1371600" indent="-228600" algn="l">
              <a:lnSpc>
                <a:spcPct val="90000"/>
              </a:lnSpc>
              <a:spcBef>
                <a:spcPts val="500"/>
              </a:spcBef>
              <a:spcAft>
                <a:spcPts val="0"/>
              </a:spcAft>
              <a:buClr>
                <a:schemeClr val="dk1"/>
              </a:buClr>
              <a:buSzPts val="1800"/>
              <a:buNone/>
              <a:defRPr sz="1800" b="1"/>
            </a:lvl3pPr>
            <a:lvl4pPr marL="1828800" indent="-228600" algn="l">
              <a:lnSpc>
                <a:spcPct val="90000"/>
              </a:lnSpc>
              <a:spcBef>
                <a:spcPts val="500"/>
              </a:spcBef>
              <a:spcAft>
                <a:spcPts val="0"/>
              </a:spcAft>
              <a:buClr>
                <a:schemeClr val="dk1"/>
              </a:buClr>
              <a:buSzPts val="1600"/>
              <a:buNone/>
              <a:defRPr sz="1600" b="1"/>
            </a:lvl4pPr>
            <a:lvl5pPr marL="2286000" indent="-228600" algn="l">
              <a:lnSpc>
                <a:spcPct val="90000"/>
              </a:lnSpc>
              <a:spcBef>
                <a:spcPts val="500"/>
              </a:spcBef>
              <a:spcAft>
                <a:spcPts val="0"/>
              </a:spcAft>
              <a:buClr>
                <a:schemeClr val="dk1"/>
              </a:buClr>
              <a:buSzPts val="1600"/>
              <a:buNone/>
              <a:defRPr sz="1600" b="1"/>
            </a:lvl5pPr>
            <a:lvl6pPr marL="2743200" indent="-228600" algn="l">
              <a:lnSpc>
                <a:spcPct val="90000"/>
              </a:lnSpc>
              <a:spcBef>
                <a:spcPts val="500"/>
              </a:spcBef>
              <a:spcAft>
                <a:spcPts val="0"/>
              </a:spcAft>
              <a:buClr>
                <a:schemeClr val="dk1"/>
              </a:buClr>
              <a:buSzPts val="1600"/>
              <a:buNone/>
              <a:defRPr sz="1600" b="1"/>
            </a:lvl6pPr>
            <a:lvl7pPr marL="3200400" indent="-228600" algn="l">
              <a:lnSpc>
                <a:spcPct val="90000"/>
              </a:lnSpc>
              <a:spcBef>
                <a:spcPts val="500"/>
              </a:spcBef>
              <a:spcAft>
                <a:spcPts val="0"/>
              </a:spcAft>
              <a:buClr>
                <a:schemeClr val="dk1"/>
              </a:buClr>
              <a:buSzPts val="1600"/>
              <a:buNone/>
              <a:defRPr sz="1600" b="1"/>
            </a:lvl7pPr>
            <a:lvl8pPr marL="3657600" indent="-228600" algn="l">
              <a:lnSpc>
                <a:spcPct val="90000"/>
              </a:lnSpc>
              <a:spcBef>
                <a:spcPts val="500"/>
              </a:spcBef>
              <a:spcAft>
                <a:spcPts val="0"/>
              </a:spcAft>
              <a:buClr>
                <a:schemeClr val="dk1"/>
              </a:buClr>
              <a:buSzPts val="1600"/>
              <a:buNone/>
              <a:defRPr sz="1600" b="1"/>
            </a:lvl8pPr>
            <a:lvl9pPr marL="4114800" indent="-228600" algn="l">
              <a:lnSpc>
                <a:spcPct val="90000"/>
              </a:lnSpc>
              <a:spcBef>
                <a:spcPts val="500"/>
              </a:spcBef>
              <a:spcAft>
                <a:spcPts val="0"/>
              </a:spcAft>
              <a:buClr>
                <a:schemeClr val="dk1"/>
              </a:buClr>
              <a:buSzPts val="1600"/>
              <a:buNone/>
              <a:defRPr sz="1600" b="1"/>
            </a:lvl9pPr>
          </a:lstStyle>
          <a:p/>
        </p:txBody>
      </p:sp>
      <p:sp>
        <p:nvSpPr>
          <p:cNvPr id="174" name="Google Shape;174;p25"/>
          <p:cNvSpPr>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p:txBody>
      </p:sp>
      <p:sp>
        <p:nvSpPr>
          <p:cNvPr id="175" name="Google Shape;175;p25"/>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76" name="Google Shape;176;p25"/>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77" name="Google Shape;177;p25"/>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
        <p:cNvGrpSpPr/>
        <p:nvPr/>
      </p:nvGrpSpPr>
      <p:grpSpPr>
        <a:xfrm>
          <a:off x="0" y="0"/>
          <a:ext cx="0" cy="0"/>
          <a:chOff x="0" y="0"/>
          <a:chExt cx="0" cy="0"/>
        </a:xfrm>
      </p:grpSpPr>
      <p:sp>
        <p:nvSpPr>
          <p:cNvPr id="179" name="Google Shape;179;p26"/>
          <p:cNvSpPr>
            <a:spLocks noGrp="1"/>
          </p:cNvSpPr>
          <p:nvPr>
            <p:ph type="title"/>
          </p:nvPr>
        </p:nvSpPr>
        <p:spPr>
          <a:xfrm>
            <a:off x="821803" y="1"/>
            <a:ext cx="9028253" cy="6810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lt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180" name="Google Shape;180;p26"/>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81" name="Google Shape;181;p26"/>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82" name="Google Shape;182;p26"/>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
        <p:cNvGrpSpPr/>
        <p:nvPr/>
      </p:nvGrpSpPr>
      <p:grpSpPr>
        <a:xfrm>
          <a:off x="0" y="0"/>
          <a:ext cx="0" cy="0"/>
          <a:chOff x="0" y="0"/>
          <a:chExt cx="0" cy="0"/>
        </a:xfrm>
      </p:grpSpPr>
      <p:sp>
        <p:nvSpPr>
          <p:cNvPr id="184" name="Google Shape;184;p27"/>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85" name="Google Shape;185;p27"/>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86" name="Google Shape;186;p27"/>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rPr/>
            </a:fld>
            <a:endParaRPr/>
          </a:p>
        </p:txBody>
      </p:sp>
      <p:sp>
        <p:nvSpPr>
          <p:cNvPr id="188" name="Google Shape;188;p27"/>
          <p:cNvSpPr>
            <a:spLocks noGrp="1"/>
          </p:cNvSpPr>
          <p:nvPr/>
        </p:nvSpPr>
        <p:spPr>
          <a:xfrm rot="2700000">
            <a:off x="5562599" y="1419636"/>
            <a:ext cx="549852" cy="549852"/>
          </a:xfrm>
          <a:prstGeom prst="rect">
            <a:avLst/>
          </a:prstGeom>
          <a:solidFill>
            <a:srgbClr val="00B0F0"/>
          </a:solidFill>
          <a:ln>
            <a:noFill/>
          </a:ln>
          <a:effectLst>
            <a:outerShdw blurRad="57150" dist="19050" dir="5400000" algn="ctr" rotWithShape="0">
              <a:srgbClr val="000000">
                <a:alpha val="63137"/>
              </a:srgbClr>
            </a:outerShdw>
          </a:effectLst>
        </p:spPr>
        <p:txBody>
          <a:bodyPr spcFirstLastPara="1" wrap="square" lIns="91425" tIns="45700" rIns="91425" bIns="45700" anchor="ctr">
            <a:noAutofit/>
          </a:bodyPr>
          <a:lstStyle/>
          <a:p>
            <a:pPr marL="0" marR="0" lvl="0" indent="0" algn="ctr">
              <a:spcBef>
                <a:spcPts val="0"/>
              </a:spcBef>
              <a:spcAft>
                <a:spcPts val="0"/>
              </a:spcAft>
              <a:buNone/>
            </a:pPr>
            <a:endParaRPr sz="1800" b="0" i="0" u="none" strike="noStrike" cap="none">
              <a:solidFill>
                <a:schemeClr val="accent1"/>
              </a:solidFill>
              <a:latin typeface="Calibri" panose="020F0502020204030204"/>
              <a:ea typeface="Calibri" panose="020F0502020204030204"/>
              <a:cs typeface="Calibri" panose="020F0502020204030204"/>
            </a:endParaRPr>
          </a:p>
        </p:txBody>
      </p:sp>
      <p:sp>
        <p:nvSpPr>
          <p:cNvPr id="189" name="Google Shape;189;p27"/>
          <p:cNvSpPr>
            <a:spLocks noGrp="1"/>
          </p:cNvSpPr>
          <p:nvPr/>
        </p:nvSpPr>
        <p:spPr>
          <a:xfrm rot="2700000">
            <a:off x="6114939" y="1830541"/>
            <a:ext cx="2482632" cy="2482632"/>
          </a:xfrm>
          <a:prstGeom prst="rect">
            <a:avLst/>
          </a:prstGeom>
          <a:solidFill>
            <a:srgbClr val="00B050"/>
          </a:solidFill>
          <a:ln>
            <a:noFill/>
          </a:ln>
          <a:effectLst>
            <a:outerShdw blurRad="57150" dist="19050" dir="5400000" algn="ctr" rotWithShape="0">
              <a:srgbClr val="000000">
                <a:alpha val="63137"/>
              </a:srgbClr>
            </a:outerShdw>
          </a:effectLst>
        </p:spPr>
        <p:txBody>
          <a:bodyPr spcFirstLastPara="1" wrap="square" lIns="91425" tIns="45700" rIns="91425" bIns="45700" anchor="ctr">
            <a:noAutofit/>
          </a:bodyPr>
          <a:lstStyle/>
          <a:p>
            <a:pPr marL="0" marR="0" lvl="0" indent="0" algn="ctr">
              <a:spcBef>
                <a:spcPts val="0"/>
              </a:spcBef>
              <a:spcAft>
                <a:spcPts val="0"/>
              </a:spcAft>
              <a:buNone/>
            </a:pPr>
            <a:endParaRPr sz="1800" b="0" i="0" u="none" strike="noStrike" cap="none">
              <a:solidFill>
                <a:schemeClr val="accent1"/>
              </a:solidFill>
              <a:latin typeface="Calibri" panose="020F0502020204030204"/>
              <a:ea typeface="Calibri" panose="020F0502020204030204"/>
              <a:cs typeface="Calibri" panose="020F0502020204030204"/>
            </a:endParaRPr>
          </a:p>
        </p:txBody>
      </p:sp>
      <p:sp>
        <p:nvSpPr>
          <p:cNvPr id="190" name="Google Shape;190;p27"/>
          <p:cNvSpPr>
            <a:spLocks noGrp="1"/>
          </p:cNvSpPr>
          <p:nvPr/>
        </p:nvSpPr>
        <p:spPr>
          <a:xfrm rot="2700000">
            <a:off x="7770565" y="3339154"/>
            <a:ext cx="2125769" cy="2125769"/>
          </a:xfrm>
          <a:prstGeom prst="rect">
            <a:avLst/>
          </a:prstGeom>
          <a:solidFill>
            <a:srgbClr val="00B0F0"/>
          </a:solidFill>
          <a:ln>
            <a:noFill/>
          </a:ln>
          <a:effectLst>
            <a:outerShdw blurRad="57150" dist="19050" dir="5400000" algn="ctr" rotWithShape="0">
              <a:srgbClr val="000000">
                <a:alpha val="63137"/>
              </a:srgbClr>
            </a:outerShdw>
          </a:effectLst>
        </p:spPr>
        <p:txBody>
          <a:bodyPr spcFirstLastPara="1" wrap="square" lIns="91425" tIns="45700" rIns="91425" bIns="45700" anchor="ctr">
            <a:noAutofit/>
          </a:bodyPr>
          <a:lstStyle/>
          <a:p>
            <a:pPr marL="0" marR="0" lvl="0" indent="0" algn="ctr">
              <a:spcBef>
                <a:spcPts val="0"/>
              </a:spcBef>
              <a:spcAft>
                <a:spcPts val="0"/>
              </a:spcAft>
              <a:buNone/>
            </a:pPr>
            <a:endParaRPr sz="1800" b="0" i="0" u="none" strike="noStrike" cap="none">
              <a:solidFill>
                <a:schemeClr val="accent1"/>
              </a:solidFill>
              <a:latin typeface="Calibri" panose="020F0502020204030204"/>
              <a:ea typeface="Calibri" panose="020F0502020204030204"/>
              <a:cs typeface="Calibri" panose="020F0502020204030204"/>
            </a:endParaRPr>
          </a:p>
        </p:txBody>
      </p:sp>
      <p:sp>
        <p:nvSpPr>
          <p:cNvPr id="191" name="Google Shape;191;p27"/>
          <p:cNvSpPr>
            <a:spLocks noGrp="1"/>
          </p:cNvSpPr>
          <p:nvPr/>
        </p:nvSpPr>
        <p:spPr>
          <a:xfrm rot="2700000">
            <a:off x="8716736" y="-212635"/>
            <a:ext cx="6568983" cy="6568983"/>
          </a:xfrm>
          <a:prstGeom prst="rect">
            <a:avLst/>
          </a:prstGeom>
          <a:gradFill>
            <a:gsLst>
              <a:gs pos="0">
                <a:srgbClr val="F08B54"/>
              </a:gs>
              <a:gs pos="50000">
                <a:srgbClr val="F67B27"/>
              </a:gs>
              <a:gs pos="100000">
                <a:srgbClr val="E36A18"/>
              </a:gs>
            </a:gsLst>
            <a:lin ang="5400000" scaled="0"/>
          </a:gradFill>
          <a:ln>
            <a:noFill/>
          </a:ln>
          <a:effectLst>
            <a:outerShdw blurRad="57150" dist="19050" dir="5400000" algn="ctr" rotWithShape="0">
              <a:srgbClr val="000000">
                <a:alpha val="63137"/>
              </a:srgbClr>
            </a:outerShdw>
          </a:effectLst>
        </p:spPr>
        <p:txBody>
          <a:bodyPr spcFirstLastPara="1" wrap="square" lIns="91425" tIns="45700" rIns="91425" bIns="45700" anchor="ctr">
            <a:noAutofit/>
          </a:bodyPr>
          <a:lstStyle/>
          <a:p>
            <a:pPr marL="0" marR="0" lvl="0" indent="0" algn="ctr">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endParaRPr>
          </a:p>
        </p:txBody>
      </p:sp>
      <p:sp>
        <p:nvSpPr>
          <p:cNvPr id="192" name="Google Shape;192;p27"/>
          <p:cNvSpPr>
            <a:spLocks noGrp="1"/>
          </p:cNvSpPr>
          <p:nvPr/>
        </p:nvSpPr>
        <p:spPr>
          <a:xfrm rot="2700000">
            <a:off x="6938348" y="1823039"/>
            <a:ext cx="2497639" cy="2497638"/>
          </a:xfrm>
          <a:prstGeom prst="rect">
            <a:avLst/>
          </a:prstGeom>
          <a:solidFill>
            <a:schemeClr val="lt1"/>
          </a:solidFill>
          <a:ln>
            <a:noFill/>
          </a:ln>
          <a:effectLst>
            <a:outerShdw blurRad="57150" dist="19050" dir="5400000" algn="ctr" rotWithShape="0">
              <a:srgbClr val="000000">
                <a:alpha val="63137"/>
              </a:srgbClr>
            </a:outerShdw>
          </a:effectLst>
        </p:spPr>
        <p:txBody>
          <a:bodyPr spcFirstLastPara="1" wrap="square" lIns="91425" tIns="45700" rIns="91425" bIns="45700" anchor="ctr">
            <a:noAutofit/>
          </a:bodyPr>
          <a:lstStyle/>
          <a:p>
            <a:pPr marL="0" marR="0" lvl="0" indent="0" algn="ctr">
              <a:spcBef>
                <a:spcPts val="0"/>
              </a:spcBef>
              <a:spcAft>
                <a:spcPts val="0"/>
              </a:spcAft>
              <a:buNone/>
            </a:pPr>
            <a:endParaRPr sz="1800" b="0" i="0" u="none" strike="noStrike" cap="none">
              <a:solidFill>
                <a:schemeClr val="accent1"/>
              </a:solidFill>
              <a:latin typeface="Calibri" panose="020F0502020204030204"/>
              <a:ea typeface="Calibri" panose="020F0502020204030204"/>
              <a:cs typeface="Calibri" panose="020F0502020204030204"/>
            </a:endParaRPr>
          </a:p>
        </p:txBody>
      </p:sp>
      <p:sp>
        <p:nvSpPr>
          <p:cNvPr id="193" name="Google Shape;193;p27"/>
          <p:cNvSpPr>
            <a:spLocks noGrp="1"/>
          </p:cNvSpPr>
          <p:nvPr/>
        </p:nvSpPr>
        <p:spPr>
          <a:xfrm rot="2700000">
            <a:off x="6252510" y="4852848"/>
            <a:ext cx="777700" cy="777700"/>
          </a:xfrm>
          <a:prstGeom prst="rect">
            <a:avLst/>
          </a:prstGeom>
          <a:gradFill>
            <a:gsLst>
              <a:gs pos="0">
                <a:srgbClr val="FFC647"/>
              </a:gs>
              <a:gs pos="50000">
                <a:srgbClr val="FFC600"/>
              </a:gs>
              <a:gs pos="100000">
                <a:srgbClr val="E3B400"/>
              </a:gs>
            </a:gsLst>
            <a:lin ang="5400000" scaled="0"/>
          </a:gradFill>
          <a:ln>
            <a:noFill/>
          </a:ln>
          <a:effectLst>
            <a:outerShdw blurRad="57150" dist="19050" dir="5400000" algn="ctr" rotWithShape="0">
              <a:srgbClr val="000000">
                <a:alpha val="63137"/>
              </a:srgbClr>
            </a:outerShdw>
          </a:effectLst>
        </p:spPr>
        <p:txBody>
          <a:bodyPr spcFirstLastPara="1" wrap="square" lIns="91425" tIns="45700" rIns="91425" bIns="45700" anchor="ctr">
            <a:noAutofit/>
          </a:bodyPr>
          <a:lstStyle/>
          <a:p>
            <a:pPr marL="0" marR="0" lvl="0" indent="0" algn="ctr">
              <a:spcBef>
                <a:spcPts val="0"/>
              </a:spcBef>
              <a:spcAft>
                <a:spcPts val="0"/>
              </a:spcAft>
              <a:buNone/>
            </a:pPr>
            <a:endParaRPr sz="1800" b="0" i="0" u="none" strike="noStrike" cap="none">
              <a:solidFill>
                <a:schemeClr val="accent1"/>
              </a:solidFill>
              <a:latin typeface="Calibri" panose="020F0502020204030204"/>
              <a:ea typeface="Calibri" panose="020F0502020204030204"/>
              <a:cs typeface="Calibri" panose="020F050202020403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
        <p:cNvGrpSpPr/>
        <p:nvPr/>
      </p:nvGrpSpPr>
      <p:grpSpPr>
        <a:xfrm>
          <a:off x="0" y="0"/>
          <a:ext cx="0" cy="0"/>
          <a:chOff x="0" y="0"/>
          <a:chExt cx="0" cy="0"/>
        </a:xfrm>
      </p:grpSpPr>
      <p:sp>
        <p:nvSpPr>
          <p:cNvPr id="195" name="Google Shape;195;p28"/>
          <p:cNvSpPr>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lt1"/>
              </a:buClr>
              <a:buSzPts val="3200"/>
              <a:buFont typeface="Times New Roman" panose="02020603050405020304"/>
              <a:buNone/>
              <a:defRPr sz="32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196" name="Google Shape;196;p28"/>
          <p:cNvSpPr>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ormAutofit/>
          </a:bodyPr>
          <a:lstStyle>
            <a:lvl1pPr marL="457200" indent="-431800" algn="l">
              <a:lnSpc>
                <a:spcPct val="90000"/>
              </a:lnSpc>
              <a:spcBef>
                <a:spcPts val="1000"/>
              </a:spcBef>
              <a:spcAft>
                <a:spcPts val="0"/>
              </a:spcAft>
              <a:buClr>
                <a:schemeClr val="dk1"/>
              </a:buClr>
              <a:buSzPts val="3200"/>
              <a:buChar char="•"/>
              <a:defRPr sz="3200"/>
            </a:lvl1pPr>
            <a:lvl2pPr marL="914400" indent="-406400" algn="l">
              <a:lnSpc>
                <a:spcPct val="90000"/>
              </a:lnSpc>
              <a:spcBef>
                <a:spcPts val="500"/>
              </a:spcBef>
              <a:spcAft>
                <a:spcPts val="0"/>
              </a:spcAft>
              <a:buClr>
                <a:schemeClr val="dk1"/>
              </a:buClr>
              <a:buSzPts val="2800"/>
              <a:buChar char="•"/>
              <a:defRPr sz="2800"/>
            </a:lvl2pPr>
            <a:lvl3pPr marL="1371600" indent="-381000" algn="l">
              <a:lnSpc>
                <a:spcPct val="90000"/>
              </a:lnSpc>
              <a:spcBef>
                <a:spcPts val="500"/>
              </a:spcBef>
              <a:spcAft>
                <a:spcPts val="0"/>
              </a:spcAft>
              <a:buClr>
                <a:schemeClr val="dk1"/>
              </a:buClr>
              <a:buSzPts val="2400"/>
              <a:buChar char="•"/>
              <a:defRPr sz="2400"/>
            </a:lvl3pPr>
            <a:lvl4pPr marL="1828800" indent="-355600" algn="l">
              <a:lnSpc>
                <a:spcPct val="90000"/>
              </a:lnSpc>
              <a:spcBef>
                <a:spcPts val="500"/>
              </a:spcBef>
              <a:spcAft>
                <a:spcPts val="0"/>
              </a:spcAft>
              <a:buClr>
                <a:schemeClr val="dk1"/>
              </a:buClr>
              <a:buSzPts val="2000"/>
              <a:buChar char="•"/>
              <a:defRPr sz="2000"/>
            </a:lvl4pPr>
            <a:lvl5pPr marL="2286000" indent="-355600" algn="l">
              <a:lnSpc>
                <a:spcPct val="90000"/>
              </a:lnSpc>
              <a:spcBef>
                <a:spcPts val="500"/>
              </a:spcBef>
              <a:spcAft>
                <a:spcPts val="0"/>
              </a:spcAft>
              <a:buClr>
                <a:schemeClr val="dk1"/>
              </a:buClr>
              <a:buSzPts val="2000"/>
              <a:buChar char="•"/>
              <a:defRPr sz="2000"/>
            </a:lvl5pPr>
            <a:lvl6pPr marL="2743200" indent="-355600" algn="l">
              <a:lnSpc>
                <a:spcPct val="90000"/>
              </a:lnSpc>
              <a:spcBef>
                <a:spcPts val="500"/>
              </a:spcBef>
              <a:spcAft>
                <a:spcPts val="0"/>
              </a:spcAft>
              <a:buClr>
                <a:schemeClr val="dk1"/>
              </a:buClr>
              <a:buSzPts val="2000"/>
              <a:buChar char="•"/>
              <a:defRPr sz="2000"/>
            </a:lvl6pPr>
            <a:lvl7pPr marL="3200400" indent="-355600" algn="l">
              <a:lnSpc>
                <a:spcPct val="90000"/>
              </a:lnSpc>
              <a:spcBef>
                <a:spcPts val="500"/>
              </a:spcBef>
              <a:spcAft>
                <a:spcPts val="0"/>
              </a:spcAft>
              <a:buClr>
                <a:schemeClr val="dk1"/>
              </a:buClr>
              <a:buSzPts val="2000"/>
              <a:buChar char="•"/>
              <a:defRPr sz="2000"/>
            </a:lvl7pPr>
            <a:lvl8pPr marL="3657600" indent="-355600" algn="l">
              <a:lnSpc>
                <a:spcPct val="90000"/>
              </a:lnSpc>
              <a:spcBef>
                <a:spcPts val="500"/>
              </a:spcBef>
              <a:spcAft>
                <a:spcPts val="0"/>
              </a:spcAft>
              <a:buClr>
                <a:schemeClr val="dk1"/>
              </a:buClr>
              <a:buSzPts val="2000"/>
              <a:buChar char="•"/>
              <a:defRPr sz="2000"/>
            </a:lvl8pPr>
            <a:lvl9pPr marL="4114800" indent="-355600" algn="l">
              <a:lnSpc>
                <a:spcPct val="90000"/>
              </a:lnSpc>
              <a:spcBef>
                <a:spcPts val="500"/>
              </a:spcBef>
              <a:spcAft>
                <a:spcPts val="0"/>
              </a:spcAft>
              <a:buClr>
                <a:schemeClr val="dk1"/>
              </a:buClr>
              <a:buSzPts val="2000"/>
              <a:buChar char="•"/>
              <a:defRPr sz="2000"/>
            </a:lvl9pPr>
          </a:lstStyle>
          <a:p/>
        </p:txBody>
      </p:sp>
      <p:sp>
        <p:nvSpPr>
          <p:cNvPr id="197" name="Google Shape;197;p28"/>
          <p:cNvSpPr>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p:txBody>
      </p:sp>
      <p:sp>
        <p:nvSpPr>
          <p:cNvPr id="198" name="Google Shape;198;p28"/>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199" name="Google Shape;199;p28"/>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200" name="Google Shape;200;p28"/>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
        <p:cNvGrpSpPr/>
        <p:nvPr/>
      </p:nvGrpSpPr>
      <p:grpSpPr>
        <a:xfrm>
          <a:off x="0" y="0"/>
          <a:ext cx="0" cy="0"/>
          <a:chOff x="0" y="0"/>
          <a:chExt cx="0" cy="0"/>
        </a:xfrm>
      </p:grpSpPr>
      <p:sp>
        <p:nvSpPr>
          <p:cNvPr id="202" name="Google Shape;202;p29"/>
          <p:cNvSpPr>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Clr>
                <a:schemeClr val="lt1"/>
              </a:buClr>
              <a:buSzPts val="3200"/>
              <a:buFont typeface="Times New Roman" panose="02020603050405020304"/>
              <a:buNone/>
              <a:defRPr sz="32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203" name="Google Shape;203;p29"/>
          <p:cNvSpPr>
            <a:spLocks noGrp="1"/>
          </p:cNvSpPr>
          <p:nvPr>
            <p:ph type="pic" idx="2"/>
          </p:nvPr>
        </p:nvSpPr>
        <p:spPr>
          <a:xfrm>
            <a:off x="5183188" y="987425"/>
            <a:ext cx="6172200" cy="4873625"/>
          </a:xfrm>
          <a:prstGeom prst="rect">
            <a:avLst/>
          </a:prstGeom>
          <a:noFill/>
          <a:ln>
            <a:noFill/>
          </a:ln>
        </p:spPr>
      </p:sp>
      <p:sp>
        <p:nvSpPr>
          <p:cNvPr id="204" name="Google Shape;204;p29"/>
          <p:cNvSpPr>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Clr>
                <a:schemeClr val="dk1"/>
              </a:buClr>
              <a:buSzPts val="1600"/>
              <a:buNone/>
              <a:defRPr sz="1600"/>
            </a:lvl1pPr>
            <a:lvl2pPr marL="914400" indent="-228600" algn="l">
              <a:lnSpc>
                <a:spcPct val="90000"/>
              </a:lnSpc>
              <a:spcBef>
                <a:spcPts val="500"/>
              </a:spcBef>
              <a:spcAft>
                <a:spcPts val="0"/>
              </a:spcAft>
              <a:buClr>
                <a:schemeClr val="dk1"/>
              </a:buClr>
              <a:buSzPts val="1400"/>
              <a:buNone/>
              <a:defRPr sz="1400"/>
            </a:lvl2pPr>
            <a:lvl3pPr marL="1371600" indent="-228600" algn="l">
              <a:lnSpc>
                <a:spcPct val="90000"/>
              </a:lnSpc>
              <a:spcBef>
                <a:spcPts val="500"/>
              </a:spcBef>
              <a:spcAft>
                <a:spcPts val="0"/>
              </a:spcAft>
              <a:buClr>
                <a:schemeClr val="dk1"/>
              </a:buClr>
              <a:buSzPts val="1200"/>
              <a:buNone/>
              <a:defRPr sz="1200"/>
            </a:lvl3pPr>
            <a:lvl4pPr marL="1828800" indent="-228600" algn="l">
              <a:lnSpc>
                <a:spcPct val="90000"/>
              </a:lnSpc>
              <a:spcBef>
                <a:spcPts val="500"/>
              </a:spcBef>
              <a:spcAft>
                <a:spcPts val="0"/>
              </a:spcAft>
              <a:buClr>
                <a:schemeClr val="dk1"/>
              </a:buClr>
              <a:buSzPts val="1000"/>
              <a:buNone/>
              <a:defRPr sz="1000"/>
            </a:lvl4pPr>
            <a:lvl5pPr marL="2286000" indent="-228600" algn="l">
              <a:lnSpc>
                <a:spcPct val="90000"/>
              </a:lnSpc>
              <a:spcBef>
                <a:spcPts val="500"/>
              </a:spcBef>
              <a:spcAft>
                <a:spcPts val="0"/>
              </a:spcAft>
              <a:buClr>
                <a:schemeClr val="dk1"/>
              </a:buClr>
              <a:buSzPts val="1000"/>
              <a:buNone/>
              <a:defRPr sz="1000"/>
            </a:lvl5pPr>
            <a:lvl6pPr marL="2743200" indent="-228600" algn="l">
              <a:lnSpc>
                <a:spcPct val="90000"/>
              </a:lnSpc>
              <a:spcBef>
                <a:spcPts val="500"/>
              </a:spcBef>
              <a:spcAft>
                <a:spcPts val="0"/>
              </a:spcAft>
              <a:buClr>
                <a:schemeClr val="dk1"/>
              </a:buClr>
              <a:buSzPts val="1000"/>
              <a:buNone/>
              <a:defRPr sz="1000"/>
            </a:lvl6pPr>
            <a:lvl7pPr marL="3200400" indent="-228600" algn="l">
              <a:lnSpc>
                <a:spcPct val="90000"/>
              </a:lnSpc>
              <a:spcBef>
                <a:spcPts val="500"/>
              </a:spcBef>
              <a:spcAft>
                <a:spcPts val="0"/>
              </a:spcAft>
              <a:buClr>
                <a:schemeClr val="dk1"/>
              </a:buClr>
              <a:buSzPts val="1000"/>
              <a:buNone/>
              <a:defRPr sz="1000"/>
            </a:lvl7pPr>
            <a:lvl8pPr marL="3657600" indent="-228600" algn="l">
              <a:lnSpc>
                <a:spcPct val="90000"/>
              </a:lnSpc>
              <a:spcBef>
                <a:spcPts val="500"/>
              </a:spcBef>
              <a:spcAft>
                <a:spcPts val="0"/>
              </a:spcAft>
              <a:buClr>
                <a:schemeClr val="dk1"/>
              </a:buClr>
              <a:buSzPts val="1000"/>
              <a:buNone/>
              <a:defRPr sz="1000"/>
            </a:lvl8pPr>
            <a:lvl9pPr marL="4114800" indent="-228600" algn="l">
              <a:lnSpc>
                <a:spcPct val="90000"/>
              </a:lnSpc>
              <a:spcBef>
                <a:spcPts val="500"/>
              </a:spcBef>
              <a:spcAft>
                <a:spcPts val="0"/>
              </a:spcAft>
              <a:buClr>
                <a:schemeClr val="dk1"/>
              </a:buClr>
              <a:buSzPts val="1000"/>
              <a:buNone/>
              <a:defRPr sz="1000"/>
            </a:lvl9pPr>
          </a:lstStyle>
          <a:p/>
        </p:txBody>
      </p:sp>
      <p:sp>
        <p:nvSpPr>
          <p:cNvPr id="205" name="Google Shape;205;p29"/>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206" name="Google Shape;206;p29"/>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207" name="Google Shape;207;p29"/>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
        <p:cNvGrpSpPr/>
        <p:nvPr/>
      </p:nvGrpSpPr>
      <p:grpSpPr>
        <a:xfrm>
          <a:off x="0" y="0"/>
          <a:ext cx="0" cy="0"/>
          <a:chOff x="0" y="0"/>
          <a:chExt cx="0" cy="0"/>
        </a:xfrm>
      </p:grpSpPr>
      <p:sp>
        <p:nvSpPr>
          <p:cNvPr id="209" name="Google Shape;209;p30"/>
          <p:cNvSpPr>
            <a:spLocks noGrp="1"/>
          </p:cNvSpPr>
          <p:nvPr>
            <p:ph type="title"/>
          </p:nvPr>
        </p:nvSpPr>
        <p:spPr>
          <a:xfrm>
            <a:off x="821803" y="1"/>
            <a:ext cx="9028253" cy="6810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lt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210" name="Google Shape;210;p30"/>
          <p:cNvSpPr>
            <a:spLocks noGrp="1"/>
          </p:cNvSpPr>
          <p:nvPr>
            <p:ph type="body" idx="1"/>
          </p:nvPr>
        </p:nvSpPr>
        <p:spPr>
          <a:xfrm rot="5400000">
            <a:off x="3395271" y="-1781566"/>
            <a:ext cx="5401459" cy="105156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p:txBody>
      </p:sp>
      <p:sp>
        <p:nvSpPr>
          <p:cNvPr id="211" name="Google Shape;211;p30"/>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212" name="Google Shape;212;p30"/>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213" name="Google Shape;213;p30"/>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
        <p:cNvGrpSpPr/>
        <p:nvPr/>
      </p:nvGrpSpPr>
      <p:grpSpPr>
        <a:xfrm>
          <a:off x="0" y="0"/>
          <a:ext cx="0" cy="0"/>
          <a:chOff x="0" y="0"/>
          <a:chExt cx="0" cy="0"/>
        </a:xfrm>
      </p:grpSpPr>
      <p:sp>
        <p:nvSpPr>
          <p:cNvPr id="215" name="Google Shape;215;p31"/>
          <p:cNvSpPr>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Clr>
                <a:schemeClr val="lt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p:txBody>
      </p:sp>
      <p:sp>
        <p:nvSpPr>
          <p:cNvPr id="216" name="Google Shape;216;p31"/>
          <p:cNvSpPr>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lr>
                <a:schemeClr val="dk1"/>
              </a:buClr>
              <a:buSzPts val="1800"/>
              <a:buChar char="•"/>
              <a:defRPr/>
            </a:lvl1pPr>
            <a:lvl2pPr marL="914400" indent="-342900" algn="l">
              <a:lnSpc>
                <a:spcPct val="90000"/>
              </a:lnSpc>
              <a:spcBef>
                <a:spcPts val="500"/>
              </a:spcBef>
              <a:spcAft>
                <a:spcPts val="0"/>
              </a:spcAft>
              <a:buClr>
                <a:schemeClr val="dk1"/>
              </a:buClr>
              <a:buSzPts val="1800"/>
              <a:buChar char="•"/>
              <a:defRPr/>
            </a:lvl2pPr>
            <a:lvl3pPr marL="1371600" indent="-342900" algn="l">
              <a:lnSpc>
                <a:spcPct val="90000"/>
              </a:lnSpc>
              <a:spcBef>
                <a:spcPts val="500"/>
              </a:spcBef>
              <a:spcAft>
                <a:spcPts val="0"/>
              </a:spcAft>
              <a:buClr>
                <a:schemeClr val="dk1"/>
              </a:buClr>
              <a:buSzPts val="1800"/>
              <a:buChar char="•"/>
              <a:defRPr/>
            </a:lvl3pPr>
            <a:lvl4pPr marL="1828800" indent="-342900" algn="l">
              <a:lnSpc>
                <a:spcPct val="90000"/>
              </a:lnSpc>
              <a:spcBef>
                <a:spcPts val="500"/>
              </a:spcBef>
              <a:spcAft>
                <a:spcPts val="0"/>
              </a:spcAft>
              <a:buClr>
                <a:schemeClr val="dk1"/>
              </a:buClr>
              <a:buSzPts val="1800"/>
              <a:buChar char="•"/>
              <a:defRPr/>
            </a:lvl4pPr>
            <a:lvl5pPr marL="2286000" indent="-342900" algn="l">
              <a:lnSpc>
                <a:spcPct val="90000"/>
              </a:lnSpc>
              <a:spcBef>
                <a:spcPts val="500"/>
              </a:spcBef>
              <a:spcAft>
                <a:spcPts val="0"/>
              </a:spcAft>
              <a:buClr>
                <a:schemeClr val="dk1"/>
              </a:buClr>
              <a:buSzPts val="1800"/>
              <a:buChar char="•"/>
              <a:defRPr/>
            </a:lvl5pPr>
            <a:lvl6pPr marL="2743200" indent="-342900" algn="l">
              <a:lnSpc>
                <a:spcPct val="90000"/>
              </a:lnSpc>
              <a:spcBef>
                <a:spcPts val="500"/>
              </a:spcBef>
              <a:spcAft>
                <a:spcPts val="0"/>
              </a:spcAft>
              <a:buClr>
                <a:schemeClr val="dk1"/>
              </a:buClr>
              <a:buSzPts val="1800"/>
              <a:buChar char="•"/>
              <a:defRPr/>
            </a:lvl6pPr>
            <a:lvl7pPr marL="3200400" indent="-342900" algn="l">
              <a:lnSpc>
                <a:spcPct val="90000"/>
              </a:lnSpc>
              <a:spcBef>
                <a:spcPts val="500"/>
              </a:spcBef>
              <a:spcAft>
                <a:spcPts val="0"/>
              </a:spcAft>
              <a:buClr>
                <a:schemeClr val="dk1"/>
              </a:buClr>
              <a:buSzPts val="1800"/>
              <a:buChar char="•"/>
              <a:defRPr/>
            </a:lvl7pPr>
            <a:lvl8pPr marL="3657600" indent="-342900" algn="l">
              <a:lnSpc>
                <a:spcPct val="90000"/>
              </a:lnSpc>
              <a:spcBef>
                <a:spcPts val="500"/>
              </a:spcBef>
              <a:spcAft>
                <a:spcPts val="0"/>
              </a:spcAft>
              <a:buClr>
                <a:schemeClr val="dk1"/>
              </a:buClr>
              <a:buSzPts val="1800"/>
              <a:buChar char="•"/>
              <a:defRPr/>
            </a:lvl8pPr>
            <a:lvl9pPr marL="4114800" indent="-342900" algn="l">
              <a:lnSpc>
                <a:spcPct val="90000"/>
              </a:lnSpc>
              <a:spcBef>
                <a:spcPts val="500"/>
              </a:spcBef>
              <a:spcAft>
                <a:spcPts val="0"/>
              </a:spcAft>
              <a:buClr>
                <a:schemeClr val="dk1"/>
              </a:buClr>
              <a:buSzPts val="1800"/>
              <a:buChar char="•"/>
              <a:defRPr/>
            </a:lvl9pPr>
          </a:lstStyle>
          <a:p/>
        </p:txBody>
      </p:sp>
      <p:sp>
        <p:nvSpPr>
          <p:cNvPr id="217" name="Google Shape;217;p31"/>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218" name="Google Shape;218;p31"/>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p:txBody>
      </p:sp>
      <p:sp>
        <p:nvSpPr>
          <p:cNvPr id="219" name="Google Shape;219;p31"/>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pPr marL="0" lvl="0" indent="0" algn="r">
              <a:spcBef>
                <a:spcPts val="0"/>
              </a:spcBef>
              <a:spcAft>
                <a:spcPts val="0"/>
              </a:spcAft>
              <a:buNone/>
            </a:pPr>
            <a:fld id="{00000000-1234-1234-1234-123412341234}"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6" Type="http://schemas.openxmlformats.org/officeDocument/2006/relationships/theme" Target="../theme/theme1.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Google Shape;10;p6"/>
          <p:cNvSpPr>
            <a:spLocks noGrp="1"/>
          </p:cNvSpPr>
          <p:nvPr>
            <p:ph type="title"/>
          </p:nvPr>
        </p:nvSpPr>
        <p:spPr>
          <a:xfrm>
            <a:off x="821803" y="1"/>
            <a:ext cx="9028253" cy="681036"/>
          </a:xfrm>
          <a:prstGeom prst="rect">
            <a:avLst/>
          </a:prstGeom>
          <a:noFill/>
          <a:ln>
            <a:noFill/>
          </a:ln>
        </p:spPr>
        <p:txBody>
          <a:bodyPr spcFirstLastPara="1" wrap="square" lIns="91425" tIns="45700" rIns="91425" bIns="45700" anchor="ctr">
            <a:normAutofit/>
          </a:bodyPr>
          <a:lstStyle>
            <a:lvl1pPr marR="0" algn="l">
              <a:lnSpc>
                <a:spcPct val="90000"/>
              </a:lnSpc>
              <a:spcBef>
                <a:spcPts val="0"/>
              </a:spcBef>
              <a:spcAft>
                <a:spcPts val="0"/>
              </a:spcAft>
              <a:buClr>
                <a:schemeClr val="lt1"/>
              </a:buClr>
              <a:buSzPts val="4000"/>
              <a:buFont typeface="Times New Roman" panose="02020603050405020304"/>
              <a:buNone/>
              <a:defRPr sz="4000" b="0" i="0" u="none" strike="noStrike" cap="none">
                <a:solidFill>
                  <a:schemeClr val="lt1"/>
                </a:solidFill>
                <a:latin typeface="Times New Roman" panose="02020603050405020304"/>
                <a:ea typeface="Times New Roman" panose="02020603050405020304"/>
                <a:cs typeface="Times New Roman" panose="02020603050405020304"/>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p:txBody>
      </p:sp>
      <p:sp>
        <p:nvSpPr>
          <p:cNvPr id="11" name="Google Shape;11;p6"/>
          <p:cNvSpPr>
            <a:spLocks noGrp="1"/>
          </p:cNvSpPr>
          <p:nvPr>
            <p:ph type="body" idx="1"/>
          </p:nvPr>
        </p:nvSpPr>
        <p:spPr>
          <a:xfrm>
            <a:off x="838200" y="775504"/>
            <a:ext cx="10515600" cy="5401459"/>
          </a:xfrm>
          <a:prstGeom prst="rect">
            <a:avLst/>
          </a:prstGeom>
          <a:noFill/>
          <a:ln>
            <a:noFill/>
          </a:ln>
        </p:spPr>
        <p:txBody>
          <a:bodyPr spcFirstLastPara="1" wrap="square" lIns="91425" tIns="45700" rIns="91425" bIns="45700" anchor="t">
            <a:normAutofit/>
          </a:bodyPr>
          <a:lstStyle>
            <a:lvl1pPr marL="457200" marR="0" indent="-406400" algn="l">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Times New Roman" panose="02020603050405020304"/>
                <a:ea typeface="Times New Roman" panose="02020603050405020304"/>
                <a:cs typeface="Times New Roman" panose="02020603050405020304"/>
              </a:defRPr>
            </a:lvl1pPr>
            <a:lvl2pPr marL="914400" marR="0" indent="-381000" algn="l">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Times New Roman" panose="02020603050405020304"/>
                <a:ea typeface="Times New Roman" panose="02020603050405020304"/>
                <a:cs typeface="Times New Roman" panose="02020603050405020304"/>
              </a:defRPr>
            </a:lvl2pPr>
            <a:lvl3pPr marL="1371600" marR="0" indent="-355600" algn="l">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Times New Roman" panose="02020603050405020304"/>
                <a:ea typeface="Times New Roman" panose="02020603050405020304"/>
                <a:cs typeface="Times New Roman" panose="02020603050405020304"/>
              </a:defRPr>
            </a:lvl3pPr>
            <a:lvl4pPr marL="1828800" marR="0" indent="-342900" algn="l">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defRPr>
            </a:lvl4pPr>
            <a:lvl5pPr marL="2286000" marR="0" indent="-342900" algn="l">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Times New Roman" panose="02020603050405020304"/>
                <a:ea typeface="Times New Roman" panose="02020603050405020304"/>
                <a:cs typeface="Times New Roman" panose="02020603050405020304"/>
              </a:defRPr>
            </a:lvl5pPr>
            <a:lvl6pPr marL="2743200" marR="0" indent="-342900" algn="l">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defRPr>
            </a:lvl6pPr>
            <a:lvl7pPr marL="3200400" marR="0" indent="-342900" algn="l">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defRPr>
            </a:lvl7pPr>
            <a:lvl8pPr marL="3657600" marR="0" indent="-342900" algn="l">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defRPr>
            </a:lvl8pPr>
            <a:lvl9pPr marL="4114800" marR="0" indent="-342900" algn="l">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defRPr>
            </a:lvl9pPr>
          </a:lstStyle>
          <a:p/>
        </p:txBody>
      </p:sp>
      <p:sp>
        <p:nvSpPr>
          <p:cNvPr id="12" name="Google Shape;12;p6"/>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marR="0" algn="l">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defRPr>
            </a:lvl1pPr>
            <a:lvl2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2pPr>
            <a:lvl3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3pPr>
            <a:lvl4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4pPr>
            <a:lvl5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5pPr>
            <a:lvl6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6pPr>
            <a:lvl7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7pPr>
            <a:lvl8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8pPr>
            <a:lvl9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9pPr>
          </a:lstStyle>
          <a:p/>
        </p:txBody>
      </p:sp>
      <p:sp>
        <p:nvSpPr>
          <p:cNvPr id="13" name="Google Shape;13;p6"/>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marR="0" algn="ctr">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defRPr>
            </a:lvl1pPr>
            <a:lvl2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2pPr>
            <a:lvl3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3pPr>
            <a:lvl4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4pPr>
            <a:lvl5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5pPr>
            <a:lvl6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6pPr>
            <a:lvl7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7pPr>
            <a:lvl8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8pPr>
            <a:lvl9pPr marR="0" algn="l">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defRPr>
            </a:lvl9pPr>
          </a:lstStyle>
          <a:p/>
        </p:txBody>
      </p:sp>
      <p:sp>
        <p:nvSpPr>
          <p:cNvPr id="14" name="Google Shape;14;p6"/>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marR="0"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defRPr>
            </a:lvl1pPr>
            <a:lvl2pPr marL="0" marR="0"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defRPr>
            </a:lvl2pPr>
            <a:lvl3pPr marL="0" marR="0"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defRPr>
            </a:lvl3pPr>
            <a:lvl4pPr marL="0" marR="0"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defRPr>
            </a:lvl4pPr>
            <a:lvl5pPr marL="0" marR="0"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defRPr>
            </a:lvl5pPr>
            <a:lvl6pPr marL="0" marR="0"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defRPr>
            </a:lvl6pPr>
            <a:lvl7pPr marL="0" marR="0"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defRPr>
            </a:lvl7pPr>
            <a:lvl8pPr marL="0" marR="0"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defRPr>
            </a:lvl8pPr>
            <a:lvl9pPr marL="0" marR="0"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defRPr>
            </a:lvl9pPr>
          </a:lstStyle>
          <a:p>
            <a:pPr marL="0" lvl="0" indent="0" algn="r">
              <a:spcBef>
                <a:spcPts val="0"/>
              </a:spcBef>
              <a:spcAft>
                <a:spcPts val="0"/>
              </a:spcAft>
              <a:buNone/>
            </a:pPr>
            <a:fld id="{00000000-1234-1234-1234-123412341234}" type="slidenum">
              <a:rPr/>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sldNum="0" hdr="0" ftr="0" dt="0"/>
  <p:txStyles>
    <p:titleStyle>
      <a:lvl1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9pPr>
    </p:titleStyle>
    <p:bodyStyle>
      <a:lvl1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9pPr>
    </p:bodyStyle>
    <p:otherStyle>
      <a:lvl1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Google Shape;224;p1"/>
          <p:cNvSpPr>
            <a:spLocks noGrp="1"/>
          </p:cNvSpPr>
          <p:nvPr>
            <p:ph type="ctrTitle"/>
          </p:nvPr>
        </p:nvSpPr>
        <p:spPr>
          <a:xfrm>
            <a:off x="457200" y="2000250"/>
            <a:ext cx="6191250" cy="2381250"/>
          </a:xfrm>
          <a:prstGeom prst="rect">
            <a:avLst/>
          </a:prstGeom>
          <a:noFill/>
          <a:ln>
            <a:noFill/>
          </a:ln>
        </p:spPr>
        <p:txBody>
          <a:bodyPr spcFirstLastPara="1" wrap="square" lIns="91425" tIns="45700" rIns="91425" bIns="45700" anchor="ctr">
            <a:noAutofit/>
          </a:bodyPr>
          <a:lstStyle/>
          <a:p>
            <a:pPr marL="0" lvl="0" indent="0" algn="l">
              <a:lnSpc>
                <a:spcPct val="130000"/>
              </a:lnSpc>
              <a:spcBef>
                <a:spcPts val="0"/>
              </a:spcBef>
              <a:spcAft>
                <a:spcPts val="0"/>
              </a:spcAft>
              <a:buClr>
                <a:schemeClr val="dk1"/>
              </a:buClr>
              <a:buSzPts val="3600"/>
              <a:buFont typeface="Arial" panose="020B0604020202020204"/>
              <a:buNone/>
              <a:defRPr sz="3600" b="1">
                <a:solidFill>
                  <a:srgbClr val="002060"/>
                </a:solidFill>
                <a:latin typeface="Arial" panose="020B0604020202020204"/>
                <a:ea typeface="Arial" panose="020B0604020202020204"/>
                <a:cs typeface="Arial" panose="020B0604020202020204"/>
              </a:defRPr>
            </a:pPr>
            <a:r>
              <a:rPr sz="3600" b="1">
                <a:solidFill>
                  <a:srgbClr val="002060"/>
                </a:solidFill>
                <a:latin typeface="Arial" panose="020B0604020202020204"/>
                <a:ea typeface="Arial" panose="020B0604020202020204"/>
                <a:cs typeface="Arial" panose="020B0604020202020204"/>
              </a:rPr>
              <a:t>BÀI 12</a:t>
            </a:r>
            <a:endParaRPr sz="3600" b="1">
              <a:solidFill>
                <a:srgbClr val="002060"/>
              </a:solidFill>
              <a:latin typeface="Arial" panose="020B0604020202020204"/>
              <a:ea typeface="Arial" panose="020B0604020202020204"/>
              <a:cs typeface="Arial" panose="020B0604020202020204"/>
            </a:endParaRPr>
          </a:p>
          <a:p>
            <a:pPr marL="0" lvl="0" indent="0" algn="l">
              <a:lnSpc>
                <a:spcPct val="130000"/>
              </a:lnSpc>
              <a:spcBef>
                <a:spcPts val="0"/>
              </a:spcBef>
              <a:spcAft>
                <a:spcPts val="0"/>
              </a:spcAft>
              <a:buClr>
                <a:schemeClr val="dk1"/>
              </a:buClr>
              <a:buSzPts val="3600"/>
              <a:buFont typeface="Arial" panose="020B0604020202020204"/>
              <a:buNone/>
              <a:defRPr sz="3600" b="1">
                <a:solidFill>
                  <a:srgbClr val="002060"/>
                </a:solidFill>
                <a:latin typeface="Arial" panose="020B0604020202020204"/>
                <a:ea typeface="Arial" panose="020B0604020202020204"/>
                <a:cs typeface="Arial" panose="020B0604020202020204"/>
              </a:defRPr>
            </a:pPr>
            <a:r>
              <a:rPr sz="3600" b="1">
                <a:solidFill>
                  <a:srgbClr val="002060"/>
                </a:solidFill>
                <a:latin typeface="Arial" panose="020B0604020202020204"/>
                <a:ea typeface="Arial" panose="020B0604020202020204"/>
                <a:cs typeface="Arial" panose="020B0604020202020204"/>
              </a:rPr>
              <a:t>GIAO THỨC TẦNG</a:t>
            </a:r>
            <a:endParaRPr sz="3600" b="1">
              <a:solidFill>
                <a:srgbClr val="002060"/>
              </a:solidFill>
              <a:latin typeface="Arial" panose="020B0604020202020204"/>
              <a:ea typeface="Arial" panose="020B0604020202020204"/>
              <a:cs typeface="Arial" panose="020B0604020202020204"/>
            </a:endParaRPr>
          </a:p>
          <a:p>
            <a:pPr marL="0" lvl="0" indent="0" algn="l">
              <a:lnSpc>
                <a:spcPct val="130000"/>
              </a:lnSpc>
              <a:spcBef>
                <a:spcPts val="0"/>
              </a:spcBef>
              <a:spcAft>
                <a:spcPts val="0"/>
              </a:spcAft>
              <a:buClr>
                <a:schemeClr val="dk1"/>
              </a:buClr>
              <a:buSzPts val="3600"/>
              <a:buFont typeface="Arial" panose="020B0604020202020204"/>
              <a:buNone/>
              <a:defRPr sz="3600" b="1">
                <a:solidFill>
                  <a:srgbClr val="002060"/>
                </a:solidFill>
                <a:latin typeface="Arial" panose="020B0604020202020204"/>
                <a:ea typeface="Arial" panose="020B0604020202020204"/>
                <a:cs typeface="Arial" panose="020B0604020202020204"/>
              </a:defRPr>
            </a:pPr>
            <a:r>
              <a:rPr sz="3600" b="1">
                <a:solidFill>
                  <a:srgbClr val="002060"/>
                </a:solidFill>
                <a:latin typeface="Arial" panose="020B0604020202020204"/>
                <a:ea typeface="Arial" panose="020B0604020202020204"/>
                <a:cs typeface="Arial" panose="020B0604020202020204"/>
              </a:rPr>
              <a:t>ỨNG DỤNG MQTT</a:t>
            </a:r>
            <a:endParaRPr sz="3600" b="1">
              <a:solidFill>
                <a:srgbClr val="002060"/>
              </a:solidFill>
              <a:latin typeface="Arial" panose="020B0604020202020204"/>
              <a:ea typeface="Arial" panose="020B0604020202020204"/>
              <a:cs typeface="Arial" panose="020B0604020202020204"/>
            </a:endParaRPr>
          </a:p>
        </p:txBody>
      </p:sp>
      <p:sp>
        <p:nvSpPr>
          <p:cNvPr id="225" name="Hình chữ nhật 224"/>
          <p:cNvSpPr>
            <a:spLocks noGrp="1"/>
          </p:cNvSpPr>
          <p:nvPr/>
        </p:nvSpPr>
        <p:spPr>
          <a:xfrm>
            <a:off x="552450" y="4572000"/>
            <a:ext cx="5810250" cy="952500"/>
          </a:xfrm>
          <a:prstGeom prst="rect">
            <a:avLst/>
          </a:prstGeom>
          <a:noFill/>
          <a:ln w="0">
            <a:noFill/>
          </a:ln>
        </p:spPr>
        <p:txBody>
          <a:bodyPr>
            <a:noAutofit/>
          </a:bodyPr>
          <a:lstStyle/>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Lý thuyết và bài thực hành 12.1</a:t>
            </a:r>
            <a:endParaRPr sz="2100" b="0">
              <a:solidFill>
                <a:srgbClr val="002060"/>
              </a:solidFill>
              <a:latin typeface="Arial" panose="020B0604020202020204"/>
              <a:ea typeface="Arial" panose="020B0604020202020204"/>
              <a:cs typeface="Arial" panose="020B0604020202020204"/>
            </a:endParaRPr>
          </a:p>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ESP32 • Mosquitto • Home Assistant</a:t>
            </a:r>
            <a:endParaRPr sz="2100" b="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E2598689-54C9-18A7-3A19-ED76AA08988F}"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Kết quả cần đạt</a:t>
            </a:r>
            <a:endParaRPr sz="2400" b="1">
              <a:solidFill>
                <a:srgbClr val="00A95C"/>
              </a:solidFill>
              <a:latin typeface="Arial" panose="020B0604020202020204"/>
              <a:ea typeface="Arial" panose="020B0604020202020204"/>
              <a:cs typeface="Arial" panose="020B0604020202020204"/>
            </a:endParaRPr>
          </a:p>
        </p:txBody>
      </p:sp>
      <p:sp>
        <p:nvSpPr>
          <p:cNvPr id="243" name="Hình chữ nhật 242"/>
          <p:cNvSpPr>
            <a:spLocks noGrp="1"/>
          </p:cNvSpPr>
          <p:nvPr/>
        </p:nvSpPr>
        <p:spPr>
          <a:xfrm>
            <a:off x="619125" y="1762125"/>
            <a:ext cx="10668000" cy="4238625"/>
          </a:xfrm>
          <a:prstGeom prst="rect">
            <a:avLst/>
          </a:prstGeom>
          <a:noFill/>
          <a:ln w="0">
            <a:noFill/>
          </a:ln>
        </p:spPr>
        <p:txBody>
          <a:bodyPr>
            <a:noAutofit/>
          </a:bodyPr>
          <a:lstStyle/>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Chỉ ra MQTT nằm ở tầng ứng dụng của TCP/IP</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Giải thích ESP32, broker và Home Assistant trao đổi thế nào</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Đọc topic, payload, wildcard và ba mức QoS</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Theo dõi dữ liệu nhiệt độ, độ ẩm trên Home Assistant</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Nhận diện CONNECT, PUBLISH và Ping trong Wireshark</a:t>
            </a:r>
            <a:endParaRPr sz="2400" b="0">
              <a:solidFill>
                <a:srgbClr val="002060"/>
              </a:solidFill>
              <a:latin typeface="Arial" panose="020B0604020202020204"/>
              <a:ea typeface="Arial" panose="020B0604020202020204"/>
              <a:cs typeface="Arial" panose="020B060402020202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Mục tiêu bài học</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202359C0-8A7A-196E-DD58-8E6569619F09}"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Lộ trình bài học</a:t>
            </a:r>
            <a:endParaRPr sz="2400" b="1">
              <a:solidFill>
                <a:srgbClr val="00A95C"/>
              </a:solidFill>
              <a:latin typeface="Arial" panose="020B0604020202020204"/>
              <a:ea typeface="Arial" panose="020B0604020202020204"/>
              <a:cs typeface="Arial" panose="020B0604020202020204"/>
            </a:endParaRPr>
          </a:p>
        </p:txBody>
      </p:sp>
      <p:sp>
        <p:nvSpPr>
          <p:cNvPr id="243" name="Hình chữ nhật 242"/>
          <p:cNvSpPr>
            <a:spLocks noGrp="1"/>
          </p:cNvSpPr>
          <p:nvPr/>
        </p:nvSpPr>
        <p:spPr>
          <a:xfrm>
            <a:off x="619125" y="1762125"/>
            <a:ext cx="10668000" cy="4238625"/>
          </a:xfrm>
          <a:prstGeom prst="rect">
            <a:avLst/>
          </a:prstGeom>
          <a:noFill/>
          <a:ln w="0">
            <a:noFill/>
          </a:ln>
        </p:spPr>
        <p:txBody>
          <a:bodyPr>
            <a:noAutofit/>
          </a:bodyPr>
          <a:lstStyle/>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12.1–12.2  MQTT ở đâu và vì sao cần dùng?</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12.3–12.4  Client, broker, topic và wildcard</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12.5–12.6  Đường đi bản tin và các mức QoS</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12.7  Ứng dụng MQTT trong hệ thống IoT</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12.8–12.9  Demo và phân tích bài thực hành 12.1</a:t>
            </a:r>
            <a:endParaRPr sz="2400" b="0">
              <a:solidFill>
                <a:srgbClr val="002060"/>
              </a:solidFill>
              <a:latin typeface="Arial" panose="020B0604020202020204"/>
              <a:ea typeface="Arial" panose="020B0604020202020204"/>
              <a:cs typeface="Arial" panose="020B060402020202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Nội dung Bài 12</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8C630A04-5A25-9E0C-9436-126091DB86B3}"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dirty="0" err="1">
                <a:solidFill>
                  <a:srgbClr val="00A95C"/>
                </a:solidFill>
                <a:latin typeface="Arial" panose="020B0604020202020204"/>
                <a:ea typeface="Arial" panose="020B0604020202020204"/>
                <a:cs typeface="Arial" panose="020B0604020202020204"/>
              </a:rPr>
              <a:t>Lịch</a:t>
            </a:r>
            <a:r>
              <a:rPr sz="2400" b="1" dirty="0">
                <a:solidFill>
                  <a:srgbClr val="00A95C"/>
                </a:solidFill>
                <a:latin typeface="Arial" panose="020B0604020202020204"/>
                <a:ea typeface="Arial" panose="020B0604020202020204"/>
                <a:cs typeface="Arial" panose="020B0604020202020204"/>
              </a:rPr>
              <a:t> </a:t>
            </a:r>
            <a:r>
              <a:rPr sz="2400" b="1" dirty="0" err="1">
                <a:solidFill>
                  <a:srgbClr val="00A95C"/>
                </a:solidFill>
                <a:latin typeface="Arial" panose="020B0604020202020204"/>
                <a:ea typeface="Arial" panose="020B0604020202020204"/>
                <a:cs typeface="Arial" panose="020B0604020202020204"/>
              </a:rPr>
              <a:t>sử</a:t>
            </a:r>
            <a:r>
              <a:rPr sz="2400" b="1" dirty="0">
                <a:solidFill>
                  <a:srgbClr val="00A95C"/>
                </a:solidFill>
                <a:latin typeface="Arial" panose="020B0604020202020204"/>
                <a:ea typeface="Arial" panose="020B0604020202020204"/>
                <a:cs typeface="Arial" panose="020B0604020202020204"/>
              </a:rPr>
              <a:t> </a:t>
            </a:r>
            <a:r>
              <a:rPr sz="2400" b="1" dirty="0" err="1">
                <a:solidFill>
                  <a:srgbClr val="00A95C"/>
                </a:solidFill>
                <a:latin typeface="Arial" panose="020B0604020202020204"/>
                <a:ea typeface="Arial" panose="020B0604020202020204"/>
                <a:cs typeface="Arial" panose="020B0604020202020204"/>
              </a:rPr>
              <a:t>và</a:t>
            </a:r>
            <a:r>
              <a:rPr sz="2400" b="1" dirty="0">
                <a:solidFill>
                  <a:srgbClr val="00A95C"/>
                </a:solidFill>
                <a:latin typeface="Arial" panose="020B0604020202020204"/>
                <a:ea typeface="Arial" panose="020B0604020202020204"/>
                <a:cs typeface="Arial" panose="020B0604020202020204"/>
              </a:rPr>
              <a:t> </a:t>
            </a:r>
            <a:r>
              <a:rPr sz="2400" b="1" dirty="0" err="1">
                <a:solidFill>
                  <a:srgbClr val="00A95C"/>
                </a:solidFill>
                <a:latin typeface="Arial" panose="020B0604020202020204"/>
                <a:ea typeface="Arial" panose="020B0604020202020204"/>
                <a:cs typeface="Arial" panose="020B0604020202020204"/>
              </a:rPr>
              <a:t>mục</a:t>
            </a:r>
            <a:r>
              <a:rPr sz="2400" b="1" dirty="0">
                <a:solidFill>
                  <a:srgbClr val="00A95C"/>
                </a:solidFill>
                <a:latin typeface="Arial" panose="020B0604020202020204"/>
                <a:ea typeface="Arial" panose="020B0604020202020204"/>
                <a:cs typeface="Arial" panose="020B0604020202020204"/>
              </a:rPr>
              <a:t> </a:t>
            </a:r>
            <a:r>
              <a:rPr sz="2400" b="1" dirty="0" err="1">
                <a:solidFill>
                  <a:srgbClr val="00A95C"/>
                </a:solidFill>
                <a:latin typeface="Arial" panose="020B0604020202020204"/>
                <a:ea typeface="Arial" panose="020B0604020202020204"/>
                <a:cs typeface="Arial" panose="020B0604020202020204"/>
              </a:rPr>
              <a:t>đích</a:t>
            </a:r>
            <a:r>
              <a:rPr sz="2400" b="1" dirty="0">
                <a:solidFill>
                  <a:srgbClr val="00A95C"/>
                </a:solidFill>
                <a:latin typeface="Arial" panose="020B0604020202020204"/>
                <a:ea typeface="Arial" panose="020B0604020202020204"/>
                <a:cs typeface="Arial" panose="020B0604020202020204"/>
              </a:rPr>
              <a:t> </a:t>
            </a:r>
            <a:r>
              <a:rPr sz="2400" b="1" dirty="0" err="1">
                <a:solidFill>
                  <a:srgbClr val="00A95C"/>
                </a:solidFill>
                <a:latin typeface="Arial" panose="020B0604020202020204"/>
                <a:ea typeface="Arial" panose="020B0604020202020204"/>
                <a:cs typeface="Arial" panose="020B0604020202020204"/>
              </a:rPr>
              <a:t>ra</a:t>
            </a:r>
            <a:r>
              <a:rPr sz="2400" b="1" dirty="0">
                <a:solidFill>
                  <a:srgbClr val="00A95C"/>
                </a:solidFill>
                <a:latin typeface="Arial" panose="020B0604020202020204"/>
                <a:ea typeface="Arial" panose="020B0604020202020204"/>
                <a:cs typeface="Arial" panose="020B0604020202020204"/>
              </a:rPr>
              <a:t> </a:t>
            </a:r>
            <a:r>
              <a:rPr sz="2400" b="1" dirty="0" err="1">
                <a:solidFill>
                  <a:srgbClr val="00A95C"/>
                </a:solidFill>
                <a:latin typeface="Arial" panose="020B0604020202020204"/>
                <a:ea typeface="Arial" panose="020B0604020202020204"/>
                <a:cs typeface="Arial" panose="020B0604020202020204"/>
              </a:rPr>
              <a:t>đời</a:t>
            </a:r>
            <a:endParaRPr sz="2400" b="1" dirty="0">
              <a:solidFill>
                <a:srgbClr val="00A95C"/>
              </a:solidFill>
              <a:latin typeface="Arial" panose="020B0604020202020204"/>
              <a:ea typeface="Arial" panose="020B0604020202020204"/>
              <a:cs typeface="Arial" panose="020B060402020202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a:t>
            </a:r>
            <a:r>
              <a:rPr lang="en-US" sz="3200" b="1">
                <a:solidFill>
                  <a:srgbClr val="FFFFFF"/>
                </a:solidFill>
                <a:latin typeface="Arial" panose="020B0604020202020204"/>
                <a:ea typeface="Arial" panose="020B0604020202020204"/>
                <a:cs typeface="Arial" panose="020B0604020202020204"/>
              </a:rPr>
              <a:t>1</a:t>
            </a:r>
            <a:r>
              <a:rPr sz="3200" b="1">
                <a:solidFill>
                  <a:srgbClr val="FFFFFF"/>
                </a:solidFill>
                <a:latin typeface="Arial" panose="020B0604020202020204"/>
                <a:ea typeface="Arial" panose="020B0604020202020204"/>
                <a:cs typeface="Arial" panose="020B0604020202020204"/>
              </a:rPr>
              <a:t> Giới thiệu MQTT</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714375" y="1809750"/>
            <a:ext cx="10620375" cy="1666875"/>
          </a:xfrm>
          <a:prstGeom prst="rect">
            <a:avLst/>
          </a:prstGeom>
          <a:noFill/>
          <a:ln w="0">
            <a:noFill/>
          </a:ln>
        </p:spPr>
        <p:txBody>
          <a:bodyPr>
            <a:noAutofit/>
          </a:bodyPr>
          <a:lstStyle/>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MQTT ra đời năm 1999, do Andy Stanford-Clark (IBM) và Arlen Nipper (Arcom) tạo ra để giám sát đường ống dầu khí từ xa. Kết nối vệ tinh khi đó truyền được ít dữ liệu và tốn nhiều tiền. Vì vậy, MQTT dùng bản tin nhỏ để tiết kiệm đường truyền và tài nguyên thiết bị. Giao thức này về sau được sử dụng rộng rãi trong IoT.</a:t>
            </a:r>
            <a:endParaRPr sz="2250" b="0">
              <a:solidFill>
                <a:srgbClr val="002060"/>
              </a:solidFill>
              <a:latin typeface="Arial" panose="020B0604020202020204"/>
              <a:ea typeface="Arial" panose="020B0604020202020204"/>
              <a:cs typeface="Arial" panose="020B0604020202020204"/>
            </a:endParaRPr>
          </a:p>
        </p:txBody>
      </p:sp>
      <p:pic>
        <p:nvPicPr>
          <p:cNvPr id="256" name="Hình ảnh 255"/>
          <p:cNvPicPr>
            <a:picLocks noChangeAspect="1"/>
          </p:cNvPicPr>
          <p:nvPr/>
        </p:nvPicPr>
        <p:blipFill>
          <a:blip r:embed="rId1"/>
          <a:srcRect l="15000" r="20000"/>
          <a:stretch>
            <a:fillRect/>
          </a:stretch>
        </p:blipFill>
        <p:spPr>
          <a:xfrm>
            <a:off x="3000375" y="3667125"/>
            <a:ext cx="2286000" cy="2047875"/>
          </a:xfrm>
          <a:prstGeom prst="rect">
            <a:avLst/>
          </a:prstGeom>
        </p:spPr>
      </p:pic>
      <p:pic>
        <p:nvPicPr>
          <p:cNvPr id="257" name="Hình ảnh 256"/>
          <p:cNvPicPr>
            <a:picLocks noChangeAspect="1"/>
          </p:cNvPicPr>
          <p:nvPr/>
        </p:nvPicPr>
        <p:blipFill>
          <a:blip r:embed="rId2"/>
          <a:srcRect l="14000" t="1000" r="54000" b="23000"/>
          <a:stretch>
            <a:fillRect/>
          </a:stretch>
        </p:blipFill>
        <p:spPr>
          <a:xfrm>
            <a:off x="6762750" y="3667125"/>
            <a:ext cx="2286000" cy="2047875"/>
          </a:xfrm>
          <a:prstGeom prst="rect">
            <a:avLst/>
          </a:prstGeom>
        </p:spPr>
      </p:pic>
      <p:sp>
        <p:nvSpPr>
          <p:cNvPr id="248" name="Hình chữ nhật 247"/>
          <p:cNvSpPr>
            <a:spLocks noGrp="1"/>
          </p:cNvSpPr>
          <p:nvPr/>
        </p:nvSpPr>
        <p:spPr>
          <a:xfrm>
            <a:off x="2762250" y="5810250"/>
            <a:ext cx="2905125" cy="381000"/>
          </a:xfrm>
          <a:prstGeom prst="rect">
            <a:avLst/>
          </a:prstGeom>
          <a:noFill/>
          <a:ln w="0">
            <a:noFill/>
          </a:ln>
        </p:spPr>
        <p:txBody>
          <a:bodyPr>
            <a:noAutofit/>
          </a:bodyPr>
          <a:lstStyle/>
          <a:p>
            <a:pPr>
              <a:buNone/>
              <a:defRPr sz="1875" b="1">
                <a:solidFill>
                  <a:srgbClr val="002060"/>
                </a:solidFill>
                <a:latin typeface="Arial" panose="020B0604020202020204"/>
                <a:ea typeface="Arial" panose="020B0604020202020204"/>
                <a:cs typeface="Arial" panose="020B0604020202020204"/>
              </a:defRPr>
            </a:pPr>
            <a:r>
              <a:rPr sz="1875" b="1">
                <a:solidFill>
                  <a:srgbClr val="002060"/>
                </a:solidFill>
                <a:latin typeface="Arial" panose="020B0604020202020204"/>
                <a:ea typeface="Arial" panose="020B0604020202020204"/>
                <a:cs typeface="Arial" panose="020B0604020202020204"/>
              </a:rPr>
              <a:t>Andy Stanford-Clark</a:t>
            </a:r>
            <a:endParaRPr sz="1875" b="1">
              <a:solidFill>
                <a:srgbClr val="002060"/>
              </a:solidFill>
              <a:latin typeface="Arial" panose="020B0604020202020204"/>
              <a:ea typeface="Arial" panose="020B0604020202020204"/>
              <a:cs typeface="Arial" panose="020B0604020202020204"/>
            </a:endParaRPr>
          </a:p>
        </p:txBody>
      </p:sp>
      <p:sp>
        <p:nvSpPr>
          <p:cNvPr id="249" name="Hình chữ nhật 248"/>
          <p:cNvSpPr>
            <a:spLocks noGrp="1"/>
          </p:cNvSpPr>
          <p:nvPr/>
        </p:nvSpPr>
        <p:spPr>
          <a:xfrm>
            <a:off x="7048500" y="5810250"/>
            <a:ext cx="2238375" cy="381000"/>
          </a:xfrm>
          <a:prstGeom prst="rect">
            <a:avLst/>
          </a:prstGeom>
          <a:noFill/>
          <a:ln w="0">
            <a:noFill/>
          </a:ln>
        </p:spPr>
        <p:txBody>
          <a:bodyPr>
            <a:noAutofit/>
          </a:bodyPr>
          <a:lstStyle/>
          <a:p>
            <a:pPr>
              <a:buNone/>
              <a:defRPr sz="1875" b="1">
                <a:solidFill>
                  <a:srgbClr val="002060"/>
                </a:solidFill>
                <a:latin typeface="Arial" panose="020B0604020202020204"/>
                <a:ea typeface="Arial" panose="020B0604020202020204"/>
                <a:cs typeface="Arial" panose="020B0604020202020204"/>
              </a:defRPr>
            </a:pPr>
            <a:r>
              <a:rPr sz="1875" b="1">
                <a:solidFill>
                  <a:srgbClr val="002060"/>
                </a:solidFill>
                <a:latin typeface="Arial" panose="020B0604020202020204"/>
                <a:ea typeface="Arial" panose="020B0604020202020204"/>
                <a:cs typeface="Arial" panose="020B0604020202020204"/>
              </a:rPr>
              <a:t>Arlen Nipper</a:t>
            </a:r>
            <a:endParaRPr sz="1875" b="1">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EFD6AB9A-5F9E-5F59-51AB-3C8734130965}"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Vị trí trong mô hình TCP/IP</a:t>
            </a:r>
            <a:endParaRPr sz="2400" b="1">
              <a:solidFill>
                <a:srgbClr val="00A95C"/>
              </a:solidFill>
              <a:latin typeface="Arial" panose="020B0604020202020204"/>
              <a:ea typeface="Arial" panose="020B0604020202020204"/>
              <a:cs typeface="Arial" panose="020B0604020202020204"/>
            </a:endParaRPr>
          </a:p>
        </p:txBody>
      </p:sp>
      <p:sp>
        <p:nvSpPr>
          <p:cNvPr id="243" name="Hình chữ nhật 242"/>
          <p:cNvSpPr>
            <a:spLocks noGrp="1"/>
          </p:cNvSpPr>
          <p:nvPr/>
        </p:nvSpPr>
        <p:spPr>
          <a:xfrm>
            <a:off x="762000" y="1809750"/>
            <a:ext cx="3857625" cy="809625"/>
          </a:xfrm>
          <a:prstGeom prst="rect">
            <a:avLst/>
          </a:prstGeom>
          <a:solidFill>
            <a:srgbClr val="EFF8F3"/>
          </a:solidFill>
          <a:ln w="19050">
            <a:solidFill>
              <a:srgbClr val="00A95C"/>
            </a:solidFill>
          </a:ln>
        </p:spPr>
        <p:txBody>
          <a:bodyPr anchor="ctr">
            <a:noAutofit/>
          </a:bodyPr>
          <a:lstStyle/>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Ứng dụng</a:t>
            </a:r>
            <a:endParaRPr sz="2250" b="1">
              <a:solidFill>
                <a:srgbClr val="002060"/>
              </a:solidFill>
              <a:latin typeface="Arial" panose="020B0604020202020204"/>
              <a:ea typeface="Arial" panose="020B0604020202020204"/>
              <a:cs typeface="Arial" panose="020B0604020202020204"/>
            </a:endParaRPr>
          </a:p>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MQTT</a:t>
            </a:r>
            <a:endParaRPr sz="2250" b="1">
              <a:solidFill>
                <a:srgbClr val="002060"/>
              </a:solidFill>
              <a:latin typeface="Arial" panose="020B0604020202020204"/>
              <a:ea typeface="Arial" panose="020B0604020202020204"/>
              <a:cs typeface="Arial" panose="020B0604020202020204"/>
            </a:endParaRPr>
          </a:p>
        </p:txBody>
      </p:sp>
      <p:sp>
        <p:nvSpPr>
          <p:cNvPr id="244" name="Hình chữ nhật 243"/>
          <p:cNvSpPr>
            <a:spLocks noGrp="1"/>
          </p:cNvSpPr>
          <p:nvPr/>
        </p:nvSpPr>
        <p:spPr>
          <a:xfrm>
            <a:off x="5381625" y="1952625"/>
            <a:ext cx="5810250" cy="704850"/>
          </a:xfrm>
          <a:prstGeom prst="rect">
            <a:avLst/>
          </a:prstGeom>
          <a:noFill/>
          <a:ln w="0">
            <a:noFill/>
          </a:ln>
        </p:spPr>
        <p:txBody>
          <a:bodyPr>
            <a:noAutofit/>
          </a:bodyPr>
          <a:lstStyle/>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JSON nhiệt độ, độ ẩm giữa ESP32 và HA</a:t>
            </a:r>
            <a:endParaRPr sz="2250" b="0">
              <a:solidFill>
                <a:srgbClr val="002060"/>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762000" y="2809875"/>
            <a:ext cx="3857625" cy="809625"/>
          </a:xfrm>
          <a:prstGeom prst="rect">
            <a:avLst/>
          </a:prstGeom>
          <a:solidFill>
            <a:srgbClr val="EFF8F3"/>
          </a:solidFill>
          <a:ln w="19050">
            <a:solidFill>
              <a:srgbClr val="00A95C"/>
            </a:solidFill>
          </a:ln>
        </p:spPr>
        <p:txBody>
          <a:bodyPr anchor="ctr">
            <a:noAutofit/>
          </a:bodyPr>
          <a:lstStyle/>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Giao vận</a:t>
            </a:r>
            <a:endParaRPr sz="2250" b="1">
              <a:solidFill>
                <a:srgbClr val="002060"/>
              </a:solidFill>
              <a:latin typeface="Arial" panose="020B0604020202020204"/>
              <a:ea typeface="Arial" panose="020B0604020202020204"/>
              <a:cs typeface="Arial" panose="020B0604020202020204"/>
            </a:endParaRPr>
          </a:p>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TCP</a:t>
            </a:r>
            <a:endParaRPr sz="2250" b="1">
              <a:solidFill>
                <a:srgbClr val="002060"/>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5381625" y="2952750"/>
            <a:ext cx="5810250" cy="704850"/>
          </a:xfrm>
          <a:prstGeom prst="rect">
            <a:avLst/>
          </a:prstGeom>
          <a:noFill/>
          <a:ln w="0">
            <a:noFill/>
          </a:ln>
        </p:spPr>
        <p:txBody>
          <a:bodyPr>
            <a:noAutofit/>
          </a:bodyPr>
          <a:lstStyle/>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Kết nối TCP tới cổng 1883 của broker</a:t>
            </a:r>
            <a:endParaRPr sz="2250" b="0">
              <a:solidFill>
                <a:srgbClr val="002060"/>
              </a:solidFill>
              <a:latin typeface="Arial" panose="020B0604020202020204"/>
              <a:ea typeface="Arial" panose="020B0604020202020204"/>
              <a:cs typeface="Arial" panose="020B0604020202020204"/>
            </a:endParaRPr>
          </a:p>
        </p:txBody>
      </p:sp>
      <p:sp>
        <p:nvSpPr>
          <p:cNvPr id="247" name="Hình chữ nhật 246"/>
          <p:cNvSpPr>
            <a:spLocks noGrp="1"/>
          </p:cNvSpPr>
          <p:nvPr/>
        </p:nvSpPr>
        <p:spPr>
          <a:xfrm>
            <a:off x="762000" y="3810000"/>
            <a:ext cx="3857625" cy="809625"/>
          </a:xfrm>
          <a:prstGeom prst="rect">
            <a:avLst/>
          </a:prstGeom>
          <a:solidFill>
            <a:srgbClr val="EFF8F3"/>
          </a:solidFill>
          <a:ln w="19050">
            <a:solidFill>
              <a:srgbClr val="00A95C"/>
            </a:solidFill>
          </a:ln>
        </p:spPr>
        <p:txBody>
          <a:bodyPr anchor="ctr">
            <a:noAutofit/>
          </a:bodyPr>
          <a:lstStyle/>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Mạng</a:t>
            </a:r>
            <a:endParaRPr sz="2250" b="1">
              <a:solidFill>
                <a:srgbClr val="002060"/>
              </a:solidFill>
              <a:latin typeface="Arial" panose="020B0604020202020204"/>
              <a:ea typeface="Arial" panose="020B0604020202020204"/>
              <a:cs typeface="Arial" panose="020B0604020202020204"/>
            </a:endParaRPr>
          </a:p>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IP</a:t>
            </a:r>
            <a:endParaRPr sz="2250" b="1">
              <a:solidFill>
                <a:srgbClr val="002060"/>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5381625" y="3952875"/>
            <a:ext cx="5810250" cy="704850"/>
          </a:xfrm>
          <a:prstGeom prst="rect">
            <a:avLst/>
          </a:prstGeom>
          <a:noFill/>
          <a:ln w="0">
            <a:noFill/>
          </a:ln>
        </p:spPr>
        <p:txBody>
          <a:bodyPr>
            <a:noAutofit/>
          </a:bodyPr>
          <a:lstStyle/>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IP ESP32 và IP máy Home Assistant</a:t>
            </a:r>
            <a:endParaRPr sz="2250" b="0">
              <a:solidFill>
                <a:srgbClr val="002060"/>
              </a:solidFill>
              <a:latin typeface="Arial" panose="020B0604020202020204"/>
              <a:ea typeface="Arial" panose="020B0604020202020204"/>
              <a:cs typeface="Arial" panose="020B0604020202020204"/>
            </a:endParaRPr>
          </a:p>
        </p:txBody>
      </p:sp>
      <p:sp>
        <p:nvSpPr>
          <p:cNvPr id="249" name="Hình chữ nhật 248"/>
          <p:cNvSpPr>
            <a:spLocks noGrp="1"/>
          </p:cNvSpPr>
          <p:nvPr/>
        </p:nvSpPr>
        <p:spPr>
          <a:xfrm>
            <a:off x="762000" y="4810125"/>
            <a:ext cx="3857625" cy="809625"/>
          </a:xfrm>
          <a:prstGeom prst="rect">
            <a:avLst/>
          </a:prstGeom>
          <a:solidFill>
            <a:srgbClr val="EFF8F3"/>
          </a:solidFill>
          <a:ln w="19050">
            <a:solidFill>
              <a:srgbClr val="00A95C"/>
            </a:solidFill>
          </a:ln>
        </p:spPr>
        <p:txBody>
          <a:bodyPr anchor="ctr">
            <a:noAutofit/>
          </a:bodyPr>
          <a:lstStyle/>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Liên kết</a:t>
            </a:r>
            <a:endParaRPr sz="2250" b="1">
              <a:solidFill>
                <a:srgbClr val="002060"/>
              </a:solidFill>
              <a:latin typeface="Arial" panose="020B0604020202020204"/>
              <a:ea typeface="Arial" panose="020B0604020202020204"/>
              <a:cs typeface="Arial" panose="020B0604020202020204"/>
            </a:endParaRPr>
          </a:p>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Wi-Fi hoặc Ethernet</a:t>
            </a:r>
            <a:endParaRPr sz="2250" b="1">
              <a:solidFill>
                <a:srgbClr val="002060"/>
              </a:solidFill>
              <a:latin typeface="Arial" panose="020B0604020202020204"/>
              <a:ea typeface="Arial" panose="020B0604020202020204"/>
              <a:cs typeface="Arial" panose="020B0604020202020204"/>
            </a:endParaRPr>
          </a:p>
        </p:txBody>
      </p:sp>
      <p:sp>
        <p:nvSpPr>
          <p:cNvPr id="250" name="Hình chữ nhật 249"/>
          <p:cNvSpPr>
            <a:spLocks noGrp="1"/>
          </p:cNvSpPr>
          <p:nvPr/>
        </p:nvSpPr>
        <p:spPr>
          <a:xfrm>
            <a:off x="5381625" y="4953000"/>
            <a:ext cx="5810250" cy="704850"/>
          </a:xfrm>
          <a:prstGeom prst="rect">
            <a:avLst/>
          </a:prstGeom>
          <a:noFill/>
          <a:ln w="0">
            <a:noFill/>
          </a:ln>
        </p:spPr>
        <p:txBody>
          <a:bodyPr>
            <a:noAutofit/>
          </a:bodyPr>
          <a:lstStyle/>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ESP32 dùng Wi-Fi cùng mạng với HA</a:t>
            </a:r>
            <a:endParaRPr sz="2250" b="0">
              <a:solidFill>
                <a:srgbClr val="002060"/>
              </a:solidFill>
              <a:latin typeface="Arial" panose="020B0604020202020204"/>
              <a:ea typeface="Arial" panose="020B0604020202020204"/>
              <a:cs typeface="Arial" panose="020B0604020202020204"/>
            </a:endParaRPr>
          </a:p>
        </p:txBody>
      </p:sp>
      <p:sp>
        <p:nvSpPr>
          <p:cNvPr id="251" name="Hình chữ nhật 250"/>
          <p:cNvSpPr>
            <a:spLocks noGrp="1"/>
          </p:cNvSpPr>
          <p:nvPr/>
        </p:nvSpPr>
        <p:spPr>
          <a:xfrm>
            <a:off x="762000" y="5953125"/>
            <a:ext cx="10572750" cy="381000"/>
          </a:xfrm>
          <a:prstGeom prst="rect">
            <a:avLst/>
          </a:prstGeom>
          <a:noFill/>
          <a:ln w="0">
            <a:noFill/>
          </a:ln>
        </p:spPr>
        <p:txBody>
          <a:bodyPr>
            <a:noAutofit/>
          </a:bodyPr>
          <a:lstStyle/>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Mở gói PUBLISH trong Wireshark sẽ thấy IP → TCP → MQTT</a:t>
            </a:r>
            <a:endParaRPr sz="1875" b="0">
              <a:solidFill>
                <a:srgbClr val="002060"/>
              </a:solidFill>
              <a:latin typeface="Arial" panose="020B0604020202020204"/>
              <a:ea typeface="Arial" panose="020B0604020202020204"/>
              <a:cs typeface="Arial" panose="020B0604020202020204"/>
            </a:endParaRPr>
          </a:p>
        </p:txBody>
      </p:sp>
      <p:sp>
        <p:nvSpPr>
          <p:cNvPr id="252" name="Hình chữ nhật 251"/>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a:t>
            </a:r>
            <a:r>
              <a:rPr lang="en-US" sz="3200" b="1">
                <a:solidFill>
                  <a:srgbClr val="FFFFFF"/>
                </a:solidFill>
                <a:latin typeface="Arial" panose="020B0604020202020204"/>
                <a:ea typeface="Arial" panose="020B0604020202020204"/>
                <a:cs typeface="Arial" panose="020B0604020202020204"/>
              </a:rPr>
              <a:t>2</a:t>
            </a:r>
            <a:r>
              <a:rPr sz="3200" b="1">
                <a:solidFill>
                  <a:srgbClr val="FFFFFF"/>
                </a:solidFill>
                <a:latin typeface="Arial" panose="020B0604020202020204"/>
                <a:ea typeface="Arial" panose="020B0604020202020204"/>
                <a:cs typeface="Arial" panose="020B0604020202020204"/>
              </a:rPr>
              <a:t> Giới thiệu tầng ứng dụng</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BA58DA2A-B818-18A9-29C1-B697728D5BCE}"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12.3.1 Client và broker</a:t>
            </a:r>
            <a:endParaRPr sz="2400" b="1">
              <a:solidFill>
                <a:srgbClr val="00A95C"/>
              </a:solidFill>
              <a:latin typeface="Arial" panose="020B0604020202020204"/>
              <a:ea typeface="Arial" panose="020B0604020202020204"/>
              <a:cs typeface="Arial" panose="020B0604020202020204"/>
            </a:endParaRPr>
          </a:p>
        </p:txBody>
      </p:sp>
      <p:graphicFrame>
        <p:nvGraphicFramePr>
          <p:cNvPr id="250" name="Bảng 249"/>
          <p:cNvGraphicFramePr/>
          <p:nvPr/>
        </p:nvGraphicFramePr>
        <p:xfrm>
          <a:off x="619125" y="1762125"/>
          <a:ext cx="10668000" cy="3048000"/>
        </p:xfrm>
        <a:graphic>
          <a:graphicData uri="http://schemas.openxmlformats.org/drawingml/2006/table">
            <a:tbl>
              <a:tblPr/>
              <a:tblGrid>
                <a:gridCol w="3556000"/>
                <a:gridCol w="3556000"/>
                <a:gridCol w="3556000"/>
              </a:tblGrid>
              <a:tr h="762000">
                <a:tc>
                  <a:txBody>
                    <a:bodyPr/>
                    <a:lstStyle/>
                    <a:p>
                      <a:r>
                        <a:rPr sz="2025" b="1">
                          <a:solidFill>
                            <a:srgbClr val="FFFFFF"/>
                          </a:solidFill>
                          <a:latin typeface="Arial" panose="020B0604020202020204"/>
                          <a:ea typeface="Arial" panose="020B0604020202020204"/>
                          <a:cs typeface="Arial" panose="020B0604020202020204"/>
                        </a:rPr>
                        <a:t>Thành phần</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Làm việc gì?</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Trong BTH 12.1</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r>
              <a:tr h="762000">
                <a:tc>
                  <a:txBody>
                    <a:bodyPr/>
                    <a:lstStyle/>
                    <a:p>
                      <a:r>
                        <a:rPr sz="2025" b="0">
                          <a:solidFill>
                            <a:srgbClr val="002060"/>
                          </a:solidFill>
                          <a:latin typeface="Arial" panose="020B0604020202020204"/>
                          <a:ea typeface="Arial" panose="020B0604020202020204"/>
                          <a:cs typeface="Arial" panose="020B0604020202020204"/>
                        </a:rPr>
                        <a:t>Publisher</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Tạo và gửi bản tin</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ESP32-S3</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r h="762000">
                <a:tc>
                  <a:txBody>
                    <a:bodyPr/>
                    <a:lstStyle/>
                    <a:p>
                      <a:r>
                        <a:rPr sz="2025" b="0">
                          <a:solidFill>
                            <a:srgbClr val="002060"/>
                          </a:solidFill>
                          <a:latin typeface="Arial" panose="020B0604020202020204"/>
                          <a:ea typeface="Arial" panose="020B0604020202020204"/>
                          <a:cs typeface="Arial" panose="020B0604020202020204"/>
                        </a:rPr>
                        <a:t>Subscriber</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Theo dõi topic, nhận tin</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Home Assistant</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r>
              <a:tr h="762000">
                <a:tc>
                  <a:txBody>
                    <a:bodyPr/>
                    <a:lstStyle/>
                    <a:p>
                      <a:r>
                        <a:rPr sz="2025" b="0">
                          <a:solidFill>
                            <a:srgbClr val="002060"/>
                          </a:solidFill>
                          <a:latin typeface="Arial" panose="020B0604020202020204"/>
                          <a:ea typeface="Arial" panose="020B0604020202020204"/>
                          <a:cs typeface="Arial" panose="020B0604020202020204"/>
                        </a:rPr>
                        <a:t>Broker</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Nhận và chuyển tin</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Mosquitto trên HA</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bl>
          </a:graphicData>
        </a:graphic>
      </p:graphicFrame>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12.3 Kiến trúc MQTT</a:t>
            </a:r>
            <a:endParaRPr sz="3200" b="1">
              <a:solidFill>
                <a:srgbClr val="FFFFFF"/>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714375" y="5095875"/>
            <a:ext cx="10668000" cy="904875"/>
          </a:xfrm>
          <a:prstGeom prst="rect">
            <a:avLst/>
          </a:prstGeom>
          <a:noFill/>
          <a:ln w="0">
            <a:noFill/>
          </a:ln>
        </p:spPr>
        <p:txBody>
          <a:bodyPr>
            <a:noAutofit/>
          </a:bodyPr>
          <a:lstStyle/>
          <a:p>
            <a:pPr>
              <a:buNone/>
              <a:defRPr sz="2100">
                <a:solidFill>
                  <a:srgbClr val="002060"/>
                </a:solidFill>
                <a:latin typeface="Arial" panose="020B0604020202020204"/>
                <a:ea typeface="Arial" panose="020B0604020202020204"/>
                <a:cs typeface="Arial" panose="020B0604020202020204"/>
              </a:defRPr>
            </a:pPr>
            <a:r>
              <a:rPr sz="2100">
                <a:solidFill>
                  <a:srgbClr val="002060"/>
                </a:solidFill>
                <a:latin typeface="Arial" panose="020B0604020202020204"/>
                <a:ea typeface="Arial" panose="020B0604020202020204"/>
                <a:cs typeface="Arial" panose="020B0604020202020204"/>
              </a:rPr>
              <a:t>Client là thiết bị hoặc ứng dụng kết nối với broker.</a:t>
            </a:r>
            <a:endParaRPr sz="2100">
              <a:solidFill>
                <a:srgbClr val="002060"/>
              </a:solidFill>
              <a:latin typeface="Arial" panose="020B0604020202020204"/>
              <a:ea typeface="Arial" panose="020B0604020202020204"/>
              <a:cs typeface="Arial" panose="020B0604020202020204"/>
            </a:endParaRPr>
          </a:p>
          <a:p>
            <a:pPr>
              <a:buNone/>
              <a:defRPr sz="2100">
                <a:solidFill>
                  <a:srgbClr val="002060"/>
                </a:solidFill>
                <a:latin typeface="Arial" panose="020B0604020202020204"/>
                <a:ea typeface="Arial" panose="020B0604020202020204"/>
                <a:cs typeface="Arial" panose="020B0604020202020204"/>
              </a:defRPr>
            </a:pPr>
            <a:r>
              <a:rPr sz="2100">
                <a:solidFill>
                  <a:srgbClr val="002060"/>
                </a:solidFill>
                <a:latin typeface="Arial" panose="020B0604020202020204"/>
                <a:ea typeface="Arial" panose="020B0604020202020204"/>
                <a:cs typeface="Arial" panose="020B0604020202020204"/>
              </a:rPr>
              <a:t>Một client có thể vừa gửi (publish), vừa đăng ký nhận (subscribe).</a:t>
            </a:r>
            <a:endParaRPr sz="210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388657AE-30A1-5A7A-6A7F-315D84436430}"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dirty="0">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12.3.2 Mô hình Publish/Subscribe</a:t>
            </a:r>
            <a:endParaRPr sz="2400" b="1">
              <a:solidFill>
                <a:srgbClr val="00A95C"/>
              </a:solidFill>
              <a:latin typeface="Arial" panose="020B0604020202020204"/>
              <a:ea typeface="Arial" panose="020B0604020202020204"/>
              <a:cs typeface="Arial" panose="020B0604020202020204"/>
            </a:endParaRPr>
          </a:p>
        </p:txBody>
      </p:sp>
      <p:sp>
        <p:nvSpPr>
          <p:cNvPr id="243" name="Hình chữ nhật 242"/>
          <p:cNvSpPr>
            <a:spLocks noGrp="1"/>
          </p:cNvSpPr>
          <p:nvPr/>
        </p:nvSpPr>
        <p:spPr>
          <a:xfrm>
            <a:off x="762000" y="1714500"/>
            <a:ext cx="10096500" cy="476250"/>
          </a:xfrm>
          <a:prstGeom prst="rect">
            <a:avLst/>
          </a:prstGeom>
          <a:noFill/>
          <a:ln w="0">
            <a:noFill/>
          </a:ln>
        </p:spPr>
        <p:txBody>
          <a:bodyPr>
            <a:noAutofit/>
          </a:bodyPr>
          <a:lstStyle/>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Topic: iot/lab1/10124332/sensor</a:t>
            </a:r>
            <a:endParaRPr sz="2250" b="0">
              <a:solidFill>
                <a:srgbClr val="002060"/>
              </a:solidFill>
              <a:latin typeface="Arial" panose="020B0604020202020204"/>
              <a:ea typeface="Arial" panose="020B0604020202020204"/>
              <a:cs typeface="Arial" panose="020B0604020202020204"/>
            </a:endParaRPr>
          </a:p>
        </p:txBody>
      </p:sp>
      <p:sp>
        <p:nvSpPr>
          <p:cNvPr id="244" name="Hình chữ nhật 243"/>
          <p:cNvSpPr>
            <a:spLocks noGrp="1"/>
          </p:cNvSpPr>
          <p:nvPr/>
        </p:nvSpPr>
        <p:spPr>
          <a:xfrm>
            <a:off x="666750" y="2952750"/>
            <a:ext cx="2667000" cy="1047750"/>
          </a:xfrm>
          <a:prstGeom prst="rect">
            <a:avLst/>
          </a:prstGeom>
          <a:solidFill>
            <a:srgbClr val="EFF8F3"/>
          </a:solidFill>
          <a:ln w="19050">
            <a:solidFill>
              <a:srgbClr val="00A95C"/>
            </a:solidFill>
          </a:ln>
        </p:spPr>
        <p:txBody>
          <a:bodyPr anchor="ctr">
            <a:noAutofit/>
          </a:bodyPr>
          <a:lstStyle/>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ESP32</a:t>
            </a:r>
            <a:endParaRPr sz="2250" b="1">
              <a:solidFill>
                <a:srgbClr val="002060"/>
              </a:solidFill>
              <a:latin typeface="Arial" panose="020B0604020202020204"/>
              <a:ea typeface="Arial" panose="020B0604020202020204"/>
              <a:cs typeface="Arial" panose="020B0604020202020204"/>
            </a:endParaRPr>
          </a:p>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Publisher</a:t>
            </a:r>
            <a:endParaRPr sz="2250" b="1">
              <a:solidFill>
                <a:srgbClr val="002060"/>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4572000" y="2952750"/>
            <a:ext cx="2667000" cy="1047750"/>
          </a:xfrm>
          <a:prstGeom prst="rect">
            <a:avLst/>
          </a:prstGeom>
          <a:solidFill>
            <a:srgbClr val="EFF8F3"/>
          </a:solidFill>
          <a:ln w="19050">
            <a:solidFill>
              <a:srgbClr val="00A95C"/>
            </a:solidFill>
          </a:ln>
        </p:spPr>
        <p:txBody>
          <a:bodyPr anchor="ctr">
            <a:noAutofit/>
          </a:bodyPr>
          <a:lstStyle/>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Broker</a:t>
            </a:r>
            <a:endParaRPr sz="2250" b="1">
              <a:solidFill>
                <a:srgbClr val="002060"/>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8572500" y="2238375"/>
            <a:ext cx="2857500" cy="1047750"/>
          </a:xfrm>
          <a:prstGeom prst="rect">
            <a:avLst/>
          </a:prstGeom>
          <a:solidFill>
            <a:srgbClr val="EFF8F3"/>
          </a:solidFill>
          <a:ln w="19050">
            <a:solidFill>
              <a:srgbClr val="00A95C"/>
            </a:solidFill>
          </a:ln>
        </p:spPr>
        <p:txBody>
          <a:bodyPr anchor="ctr">
            <a:noAutofit/>
          </a:bodyPr>
          <a:lstStyle/>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Home Assistant</a:t>
            </a:r>
            <a:endParaRPr sz="2250" b="1">
              <a:solidFill>
                <a:srgbClr val="002060"/>
              </a:solidFill>
              <a:latin typeface="Arial" panose="020B0604020202020204"/>
              <a:ea typeface="Arial" panose="020B0604020202020204"/>
              <a:cs typeface="Arial" panose="020B0604020202020204"/>
            </a:endParaRPr>
          </a:p>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Subscriber</a:t>
            </a:r>
            <a:endParaRPr sz="2250" b="1">
              <a:solidFill>
                <a:srgbClr val="002060"/>
              </a:solidFill>
              <a:latin typeface="Arial" panose="020B0604020202020204"/>
              <a:ea typeface="Arial" panose="020B0604020202020204"/>
              <a:cs typeface="Arial" panose="020B0604020202020204"/>
            </a:endParaRPr>
          </a:p>
        </p:txBody>
      </p:sp>
      <p:sp>
        <p:nvSpPr>
          <p:cNvPr id="247" name="Hình chữ nhật 246"/>
          <p:cNvSpPr>
            <a:spLocks noGrp="1"/>
          </p:cNvSpPr>
          <p:nvPr/>
        </p:nvSpPr>
        <p:spPr>
          <a:xfrm>
            <a:off x="8572500" y="4238625"/>
            <a:ext cx="2857500" cy="1047750"/>
          </a:xfrm>
          <a:prstGeom prst="rect">
            <a:avLst/>
          </a:prstGeom>
          <a:solidFill>
            <a:srgbClr val="EFF8F3"/>
          </a:solidFill>
          <a:ln w="19050">
            <a:solidFill>
              <a:srgbClr val="00A95C"/>
            </a:solidFill>
          </a:ln>
        </p:spPr>
        <p:txBody>
          <a:bodyPr anchor="ctr">
            <a:noAutofit/>
          </a:bodyPr>
          <a:lstStyle/>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Ứng dụng khác</a:t>
            </a:r>
            <a:endParaRPr sz="2250" b="1">
              <a:solidFill>
                <a:srgbClr val="002060"/>
              </a:solidFill>
              <a:latin typeface="Arial" panose="020B0604020202020204"/>
              <a:ea typeface="Arial" panose="020B0604020202020204"/>
              <a:cs typeface="Arial" panose="020B0604020202020204"/>
            </a:endParaRPr>
          </a:p>
          <a:p>
            <a:pPr algn="ct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Subscriber</a:t>
            </a:r>
            <a:endParaRPr sz="2250" b="1">
              <a:solidFill>
                <a:srgbClr val="002060"/>
              </a:solidFill>
              <a:latin typeface="Arial" panose="020B0604020202020204"/>
              <a:ea typeface="Arial" panose="020B0604020202020204"/>
              <a:cs typeface="Arial" panose="020B0604020202020204"/>
            </a:endParaRPr>
          </a:p>
        </p:txBody>
      </p:sp>
      <p:sp>
        <p:nvSpPr>
          <p:cNvPr id="248" name="Mũi tên: Phải 247"/>
          <p:cNvSpPr>
            <a:spLocks noGrp="1"/>
          </p:cNvSpPr>
          <p:nvPr/>
        </p:nvSpPr>
        <p:spPr>
          <a:xfrm>
            <a:off x="3429000" y="3390900"/>
            <a:ext cx="1047750" cy="171450"/>
          </a:xfrm>
          <a:prstGeom prst="rightArrow">
            <a:avLst/>
          </a:prstGeom>
          <a:solidFill>
            <a:srgbClr val="00A95C"/>
          </a:solidFill>
          <a:ln w="0">
            <a:solidFill>
              <a:srgbClr val="00A95C"/>
            </a:solidFill>
          </a:ln>
        </p:spPr>
      </p:sp>
      <p:sp>
        <p:nvSpPr>
          <p:cNvPr id="249" name="Hình chữ nhật 248"/>
          <p:cNvSpPr>
            <a:spLocks noGrp="1"/>
          </p:cNvSpPr>
          <p:nvPr/>
        </p:nvSpPr>
        <p:spPr>
          <a:xfrm>
            <a:off x="7334250" y="3448050"/>
            <a:ext cx="523875" cy="28575"/>
          </a:xfrm>
          <a:prstGeom prst="rect">
            <a:avLst/>
          </a:prstGeom>
          <a:solidFill>
            <a:srgbClr val="00A95C"/>
          </a:solidFill>
          <a:ln w="0">
            <a:noFill/>
          </a:ln>
        </p:spPr>
      </p:sp>
      <p:sp>
        <p:nvSpPr>
          <p:cNvPr id="250" name="Hình chữ nhật 249"/>
          <p:cNvSpPr>
            <a:spLocks noGrp="1"/>
          </p:cNvSpPr>
          <p:nvPr/>
        </p:nvSpPr>
        <p:spPr>
          <a:xfrm>
            <a:off x="7839075" y="2733675"/>
            <a:ext cx="28575" cy="2057400"/>
          </a:xfrm>
          <a:prstGeom prst="rect">
            <a:avLst/>
          </a:prstGeom>
          <a:solidFill>
            <a:srgbClr val="00A95C"/>
          </a:solidFill>
          <a:ln w="0">
            <a:noFill/>
          </a:ln>
        </p:spPr>
      </p:sp>
      <p:sp>
        <p:nvSpPr>
          <p:cNvPr id="251" name="Mũi tên: Phải 250"/>
          <p:cNvSpPr>
            <a:spLocks noGrp="1"/>
          </p:cNvSpPr>
          <p:nvPr/>
        </p:nvSpPr>
        <p:spPr>
          <a:xfrm>
            <a:off x="7858125" y="2686050"/>
            <a:ext cx="619125" cy="171450"/>
          </a:xfrm>
          <a:prstGeom prst="rightArrow">
            <a:avLst/>
          </a:prstGeom>
          <a:solidFill>
            <a:srgbClr val="00A95C"/>
          </a:solidFill>
          <a:ln w="0">
            <a:solidFill>
              <a:srgbClr val="00A95C"/>
            </a:solidFill>
          </a:ln>
        </p:spPr>
      </p:sp>
      <p:sp>
        <p:nvSpPr>
          <p:cNvPr id="252" name="Mũi tên: Phải 251"/>
          <p:cNvSpPr>
            <a:spLocks noGrp="1"/>
          </p:cNvSpPr>
          <p:nvPr/>
        </p:nvSpPr>
        <p:spPr>
          <a:xfrm>
            <a:off x="7858125" y="4686300"/>
            <a:ext cx="619125" cy="171450"/>
          </a:xfrm>
          <a:prstGeom prst="rightArrow">
            <a:avLst/>
          </a:prstGeom>
          <a:solidFill>
            <a:srgbClr val="00A95C"/>
          </a:solidFill>
          <a:ln w="0">
            <a:solidFill>
              <a:srgbClr val="00A95C"/>
            </a:solidFill>
          </a:ln>
        </p:spPr>
      </p:sp>
      <p:sp>
        <p:nvSpPr>
          <p:cNvPr id="253" name="Hình chữ nhật 252"/>
          <p:cNvSpPr>
            <a:spLocks noGrp="1"/>
          </p:cNvSpPr>
          <p:nvPr/>
        </p:nvSpPr>
        <p:spPr>
          <a:xfrm>
            <a:off x="762000" y="5810250"/>
            <a:ext cx="10572750" cy="476250"/>
          </a:xfrm>
          <a:prstGeom prst="rect">
            <a:avLst/>
          </a:prstGeom>
          <a:noFill/>
          <a:ln w="0">
            <a:noFill/>
          </a:ln>
        </p:spPr>
        <p:txBody>
          <a:bodyPr>
            <a:noAutofit/>
          </a:bodyPr>
          <a:lstStyle/>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ESP32 gửi một lần; broker chuyển tới các client đăng ký phù hợp</a:t>
            </a:r>
            <a:endParaRPr sz="2100" b="0">
              <a:solidFill>
                <a:srgbClr val="002060"/>
              </a:solidFill>
              <a:latin typeface="Arial" panose="020B0604020202020204"/>
              <a:ea typeface="Arial" panose="020B0604020202020204"/>
              <a:cs typeface="Arial" panose="020B0604020202020204"/>
            </a:endParaRPr>
          </a:p>
        </p:txBody>
      </p:sp>
      <p:sp>
        <p:nvSpPr>
          <p:cNvPr id="254" name="Hình chữ nhật 25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12.3 Kiến trúc MQTT</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DB7BEEEC-A170-5376-2B6E-CB54687B0CB1}"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12.4 Topic và nội dung bản tin</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12.4.1 Topic và Payload</a:t>
            </a:r>
            <a:endParaRPr sz="2400" b="1">
              <a:solidFill>
                <a:srgbClr val="00A65A"/>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666750" y="1952625"/>
            <a:ext cx="5000625" cy="1143000"/>
          </a:xfrm>
          <a:prstGeom prst="rect">
            <a:avLst/>
          </a:prstGeom>
          <a:solidFill>
            <a:srgbClr val="EFF8F3"/>
          </a:solidFill>
          <a:ln w="19050">
            <a:solidFill>
              <a:srgbClr val="00A65A"/>
            </a:solidFill>
          </a:ln>
        </p:spPr>
      </p:sp>
      <p:sp>
        <p:nvSpPr>
          <p:cNvPr id="247" name="Hình chữ nhật 246"/>
          <p:cNvSpPr>
            <a:spLocks noGrp="1"/>
          </p:cNvSpPr>
          <p:nvPr/>
        </p:nvSpPr>
        <p:spPr>
          <a:xfrm>
            <a:off x="800100" y="2066925"/>
            <a:ext cx="4733925" cy="952500"/>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TOPIC</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Nhãn để broker phân phối</a:t>
            </a:r>
            <a:endParaRPr sz="2250" b="1">
              <a:solidFill>
                <a:srgbClr val="002060"/>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6286500" y="1952625"/>
            <a:ext cx="5000625" cy="1143000"/>
          </a:xfrm>
          <a:prstGeom prst="rect">
            <a:avLst/>
          </a:prstGeom>
          <a:solidFill>
            <a:srgbClr val="EFF8F3"/>
          </a:solidFill>
          <a:ln w="19050">
            <a:solidFill>
              <a:srgbClr val="00A65A"/>
            </a:solidFill>
          </a:ln>
        </p:spPr>
      </p:sp>
      <p:sp>
        <p:nvSpPr>
          <p:cNvPr id="249" name="Hình chữ nhật 248"/>
          <p:cNvSpPr>
            <a:spLocks noGrp="1"/>
          </p:cNvSpPr>
          <p:nvPr/>
        </p:nvSpPr>
        <p:spPr>
          <a:xfrm>
            <a:off x="6419850" y="2066925"/>
            <a:ext cx="4733925" cy="952500"/>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PAYLOAD</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Nội dung của bản tin</a:t>
            </a:r>
            <a:endParaRPr sz="2250" b="1">
              <a:solidFill>
                <a:srgbClr val="002060"/>
              </a:solidFill>
              <a:latin typeface="Arial" panose="020B0604020202020204"/>
              <a:ea typeface="Arial" panose="020B0604020202020204"/>
              <a:cs typeface="Arial" panose="020B0604020202020204"/>
            </a:endParaRPr>
          </a:p>
        </p:txBody>
      </p:sp>
      <p:sp>
        <p:nvSpPr>
          <p:cNvPr id="250" name="Hình chữ nhật 249"/>
          <p:cNvSpPr>
            <a:spLocks noGrp="1"/>
          </p:cNvSpPr>
          <p:nvPr/>
        </p:nvSpPr>
        <p:spPr>
          <a:xfrm>
            <a:off x="809625" y="3381375"/>
            <a:ext cx="5048250" cy="619125"/>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iot/lab1/10124332/sensor</a:t>
            </a:r>
            <a:endParaRPr sz="2250" b="1">
              <a:solidFill>
                <a:srgbClr val="002060"/>
              </a:solidFill>
              <a:latin typeface="Arial" panose="020B0604020202020204"/>
              <a:ea typeface="Arial" panose="020B0604020202020204"/>
              <a:cs typeface="Arial" panose="020B0604020202020204"/>
            </a:endParaRPr>
          </a:p>
        </p:txBody>
      </p:sp>
      <p:sp>
        <p:nvSpPr>
          <p:cNvPr id="251" name="Hình chữ nhật 250"/>
          <p:cNvSpPr>
            <a:spLocks noGrp="1"/>
          </p:cNvSpPr>
          <p:nvPr/>
        </p:nvSpPr>
        <p:spPr>
          <a:xfrm>
            <a:off x="6429375" y="3381375"/>
            <a:ext cx="4762500" cy="619125"/>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{"temp":34,"hum":78.8}</a:t>
            </a:r>
            <a:endParaRPr sz="2250" b="1">
              <a:solidFill>
                <a:srgbClr val="002060"/>
              </a:solidFill>
              <a:latin typeface="Arial" panose="020B0604020202020204"/>
              <a:ea typeface="Arial" panose="020B0604020202020204"/>
              <a:cs typeface="Arial" panose="020B0604020202020204"/>
            </a:endParaRPr>
          </a:p>
        </p:txBody>
      </p:sp>
      <p:sp>
        <p:nvSpPr>
          <p:cNvPr id="252" name="Hình chữ nhật 251"/>
          <p:cNvSpPr>
            <a:spLocks noGrp="1"/>
          </p:cNvSpPr>
          <p:nvPr/>
        </p:nvSpPr>
        <p:spPr>
          <a:xfrm>
            <a:off x="809625" y="4238625"/>
            <a:ext cx="4905375" cy="952500"/>
          </a:xfrm>
          <a:prstGeom prst="rect">
            <a:avLst/>
          </a:prstGeom>
          <a:noFill/>
          <a:ln w="0">
            <a:noFill/>
          </a:ln>
        </p:spPr>
        <p:txBody>
          <a:bodyPr>
            <a:noAutofit/>
          </a:bodyPr>
          <a:lstStyle/>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Các cấp ngăn bằng dấu /</a:t>
            </a:r>
            <a:endParaRPr sz="2100" b="0">
              <a:solidFill>
                <a:srgbClr val="002060"/>
              </a:solidFill>
              <a:latin typeface="Arial" panose="020B0604020202020204"/>
              <a:ea typeface="Arial" panose="020B0604020202020204"/>
              <a:cs typeface="Arial" panose="020B0604020202020204"/>
            </a:endParaRPr>
          </a:p>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Phân biệt chữ hoa và chữ thường</a:t>
            </a:r>
            <a:endParaRPr sz="2100" b="0">
              <a:solidFill>
                <a:srgbClr val="002060"/>
              </a:solidFill>
              <a:latin typeface="Arial" panose="020B0604020202020204"/>
              <a:ea typeface="Arial" panose="020B0604020202020204"/>
              <a:cs typeface="Arial" panose="020B0604020202020204"/>
            </a:endParaRPr>
          </a:p>
        </p:txBody>
      </p:sp>
      <p:sp>
        <p:nvSpPr>
          <p:cNvPr id="253" name="Hình chữ nhật 252"/>
          <p:cNvSpPr>
            <a:spLocks noGrp="1"/>
          </p:cNvSpPr>
          <p:nvPr/>
        </p:nvSpPr>
        <p:spPr>
          <a:xfrm>
            <a:off x="6429375" y="4238625"/>
            <a:ext cx="4905375" cy="952500"/>
          </a:xfrm>
          <a:prstGeom prst="rect">
            <a:avLst/>
          </a:prstGeom>
          <a:noFill/>
          <a:ln w="0">
            <a:noFill/>
          </a:ln>
        </p:spPr>
        <p:txBody>
          <a:bodyPr>
            <a:noAutofit/>
          </a:bodyPr>
          <a:lstStyle/>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JSON gồm tên trường và giá trị</a:t>
            </a:r>
            <a:endParaRPr sz="2100" b="0">
              <a:solidFill>
                <a:srgbClr val="002060"/>
              </a:solidFill>
              <a:latin typeface="Arial" panose="020B0604020202020204"/>
              <a:ea typeface="Arial" panose="020B0604020202020204"/>
              <a:cs typeface="Arial" panose="020B0604020202020204"/>
            </a:endParaRPr>
          </a:p>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Ứng dụng thống nhất tên và đơn vị</a:t>
            </a:r>
            <a:endParaRPr sz="2100" b="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30394428-F1DC-E5F6-DB0C-7DE31F3D8A23}"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12.4 Topic và nội dung bản tin</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12.4.2 JSON là gì?</a:t>
            </a:r>
            <a:endParaRPr sz="2400" b="1">
              <a:solidFill>
                <a:srgbClr val="00A65A"/>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714375" y="1952625"/>
            <a:ext cx="10668000" cy="952500"/>
          </a:xfrm>
          <a:prstGeom prst="rect">
            <a:avLst/>
          </a:prstGeom>
          <a:solidFill>
            <a:srgbClr val="EFF8F3"/>
          </a:solidFill>
          <a:ln w="19050">
            <a:solidFill>
              <a:srgbClr val="00A65A"/>
            </a:solidFill>
          </a:ln>
        </p:spPr>
      </p:sp>
      <p:sp>
        <p:nvSpPr>
          <p:cNvPr id="247" name="Hình chữ nhật 246"/>
          <p:cNvSpPr>
            <a:spLocks noGrp="1"/>
          </p:cNvSpPr>
          <p:nvPr/>
        </p:nvSpPr>
        <p:spPr>
          <a:xfrm>
            <a:off x="847725" y="2066925"/>
            <a:ext cx="10401300" cy="762000"/>
          </a:xfrm>
          <a:prstGeom prst="rect">
            <a:avLst/>
          </a:prstGeom>
          <a:noFill/>
          <a:ln w="0">
            <a:noFill/>
          </a:ln>
        </p:spPr>
        <p:txBody>
          <a:bodyPr>
            <a:noAutofit/>
          </a:bodyPr>
          <a:lstStyle/>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JSON: JavaScript Object Notation</a:t>
            </a:r>
            <a:endParaRPr sz="2400" b="1">
              <a:solidFill>
                <a:srgbClr val="002060"/>
              </a:solidFill>
              <a:latin typeface="Arial" panose="020B0604020202020204"/>
              <a:ea typeface="Arial" panose="020B0604020202020204"/>
              <a:cs typeface="Arial" panose="020B0604020202020204"/>
            </a:endParaRPr>
          </a:p>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Định dạng văn bản để biểu diễn dữ liệu</a:t>
            </a:r>
            <a:endParaRPr sz="2400" b="1">
              <a:solidFill>
                <a:srgbClr val="002060"/>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762000" y="3286125"/>
            <a:ext cx="10668000" cy="619125"/>
          </a:xfrm>
          <a:prstGeom prst="rect">
            <a:avLst/>
          </a:prstGeom>
          <a:noFill/>
          <a:ln w="0">
            <a:noFill/>
          </a:ln>
        </p:spPr>
        <p:txBody>
          <a:bodyPr>
            <a:noAutofit/>
          </a:bodyPr>
          <a:lstStyle/>
          <a:p>
            <a:pPr>
              <a:buNone/>
              <a:defRPr sz="3000" b="1">
                <a:solidFill>
                  <a:srgbClr val="002060"/>
                </a:solidFill>
                <a:latin typeface="Arial" panose="020B0604020202020204"/>
                <a:ea typeface="Arial" panose="020B0604020202020204"/>
                <a:cs typeface="Arial" panose="020B0604020202020204"/>
              </a:defRPr>
            </a:pPr>
            <a:r>
              <a:rPr sz="3000" b="1">
                <a:solidFill>
                  <a:srgbClr val="002060"/>
                </a:solidFill>
                <a:latin typeface="Arial" panose="020B0604020202020204"/>
                <a:ea typeface="Arial" panose="020B0604020202020204"/>
                <a:cs typeface="Arial" panose="020B0604020202020204"/>
              </a:rPr>
              <a:t>{"temp":34,"hum":78.8}</a:t>
            </a:r>
            <a:endParaRPr sz="3000" b="1">
              <a:solidFill>
                <a:srgbClr val="002060"/>
              </a:solidFill>
              <a:latin typeface="Arial" panose="020B0604020202020204"/>
              <a:ea typeface="Arial" panose="020B0604020202020204"/>
              <a:cs typeface="Arial" panose="020B0604020202020204"/>
            </a:endParaRPr>
          </a:p>
        </p:txBody>
      </p:sp>
      <p:sp>
        <p:nvSpPr>
          <p:cNvPr id="249" name="Hình chữ nhật 248"/>
          <p:cNvSpPr>
            <a:spLocks noGrp="1"/>
          </p:cNvSpPr>
          <p:nvPr/>
        </p:nvSpPr>
        <p:spPr>
          <a:xfrm>
            <a:off x="762000" y="4143375"/>
            <a:ext cx="10668000" cy="1428750"/>
          </a:xfrm>
          <a:prstGeom prst="rect">
            <a:avLst/>
          </a:prstGeom>
          <a:noFill/>
          <a:ln w="0">
            <a:noFill/>
          </a:ln>
        </p:spPr>
        <p:txBody>
          <a:bodyPr>
            <a:noAutofit/>
          </a:bodyPr>
          <a:lstStyle/>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temp, hum: tên trường (khóa)</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34, 78.8: giá trị dạng số</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Dấu { } bao quanh đối tượng, dấu phẩy ngăn các cặp.</a:t>
            </a:r>
            <a:endParaRPr sz="2250" b="0">
              <a:solidFill>
                <a:srgbClr val="002060"/>
              </a:solidFill>
              <a:latin typeface="Arial" panose="020B0604020202020204"/>
              <a:ea typeface="Arial" panose="020B0604020202020204"/>
              <a:cs typeface="Arial" panose="020B0604020202020204"/>
            </a:endParaRPr>
          </a:p>
        </p:txBody>
      </p:sp>
      <p:sp>
        <p:nvSpPr>
          <p:cNvPr id="250" name="Hình chữ nhật 249"/>
          <p:cNvSpPr>
            <a:spLocks noGrp="1"/>
          </p:cNvSpPr>
          <p:nvPr/>
        </p:nvSpPr>
        <p:spPr>
          <a:xfrm>
            <a:off x="762000" y="5715000"/>
            <a:ext cx="10668000" cy="476250"/>
          </a:xfrm>
          <a:prstGeom prst="rect">
            <a:avLst/>
          </a:prstGeom>
          <a:noFill/>
          <a:ln w="0">
            <a:noFill/>
          </a:ln>
        </p:spPr>
        <p:txBody>
          <a:bodyPr>
            <a:noAutofit/>
          </a:bodyPr>
          <a:lstStyle/>
          <a:p>
            <a:pPr>
              <a:buNone/>
              <a:defRPr sz="1950" b="0">
                <a:solidFill>
                  <a:srgbClr val="002060"/>
                </a:solidFill>
                <a:latin typeface="Arial" panose="020B0604020202020204"/>
                <a:ea typeface="Arial" panose="020B0604020202020204"/>
                <a:cs typeface="Arial" panose="020B0604020202020204"/>
              </a:defRPr>
            </a:pPr>
            <a:r>
              <a:rPr sz="1950" b="0">
                <a:solidFill>
                  <a:srgbClr val="002060"/>
                </a:solidFill>
                <a:latin typeface="Arial" panose="020B0604020202020204"/>
                <a:ea typeface="Arial" panose="020B0604020202020204"/>
                <a:cs typeface="Arial" panose="020B0604020202020204"/>
              </a:rPr>
              <a:t>MQTT chuyển payload. JSON giúp ứng dụng hiểu cấu trúc dữ liệu.</a:t>
            </a:r>
            <a:endParaRPr sz="1950" b="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4DB16885-0D3F-A391-B669-3211DB3B26E8}"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12.4.3 Wildcards</a:t>
            </a:r>
            <a:endParaRPr sz="2400" b="1">
              <a:solidFill>
                <a:srgbClr val="00A95C"/>
              </a:solidFill>
              <a:latin typeface="Arial" panose="020B0604020202020204"/>
              <a:ea typeface="Arial" panose="020B0604020202020204"/>
              <a:cs typeface="Arial" panose="020B0604020202020204"/>
            </a:endParaRPr>
          </a:p>
        </p:txBody>
      </p:sp>
      <p:graphicFrame>
        <p:nvGraphicFramePr>
          <p:cNvPr id="248" name="Bảng 247"/>
          <p:cNvGraphicFramePr/>
          <p:nvPr/>
        </p:nvGraphicFramePr>
        <p:xfrm>
          <a:off x="619125" y="1762125"/>
          <a:ext cx="10668000" cy="3048000"/>
        </p:xfrm>
        <a:graphic>
          <a:graphicData uri="http://schemas.openxmlformats.org/drawingml/2006/table">
            <a:tbl>
              <a:tblPr/>
              <a:tblGrid>
                <a:gridCol w="3556000"/>
                <a:gridCol w="3556000"/>
                <a:gridCol w="3556000"/>
              </a:tblGrid>
              <a:tr h="762000">
                <a:tc>
                  <a:txBody>
                    <a:bodyPr/>
                    <a:lstStyle/>
                    <a:p>
                      <a:r>
                        <a:rPr sz="2025" b="1">
                          <a:solidFill>
                            <a:srgbClr val="FFFFFF"/>
                          </a:solidFill>
                          <a:latin typeface="Arial" panose="020B0604020202020204"/>
                          <a:ea typeface="Arial" panose="020B0604020202020204"/>
                          <a:cs typeface="Arial" panose="020B0604020202020204"/>
                        </a:rPr>
                        <a:t>Bộ lọc</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Dấu đại diện</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Ví dụ khớp</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r>
              <a:tr h="762000">
                <a:tc>
                  <a:txBody>
                    <a:bodyPr/>
                    <a:lstStyle/>
                    <a:p>
                      <a:r>
                        <a:rPr sz="2025" b="0">
                          <a:solidFill>
                            <a:srgbClr val="002060"/>
                          </a:solidFill>
                          <a:latin typeface="Arial" panose="020B0604020202020204"/>
                          <a:ea typeface="Arial" panose="020B0604020202020204"/>
                          <a:cs typeface="Arial" panose="020B0604020202020204"/>
                        </a:rPr>
                        <a:t>iot/lab1/+/sensor</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 = đúng một cấp</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iot/lab1/10124332/sensor</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r h="762000">
                <a:tc>
                  <a:txBody>
                    <a:bodyPr/>
                    <a:lstStyle/>
                    <a:p>
                      <a:r>
                        <a:rPr sz="2025" b="0">
                          <a:solidFill>
                            <a:srgbClr val="002060"/>
                          </a:solidFill>
                          <a:latin typeface="Arial" panose="020B0604020202020204"/>
                          <a:ea typeface="Arial" panose="020B0604020202020204"/>
                          <a:cs typeface="Arial" panose="020B0604020202020204"/>
                        </a:rPr>
                        <a:t>iot/lab1/10124332/#</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 = từ 0 cấp trở lên</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iot/lab1/10124332/sensor</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r>
              <a:tr h="762000">
                <a:tc>
                  <a:txBody>
                    <a:bodyPr/>
                    <a:lstStyle/>
                    <a:p>
                      <a:r>
                        <a:rPr sz="2025" b="0">
                          <a:solidFill>
                            <a:srgbClr val="002060"/>
                          </a:solidFill>
                          <a:latin typeface="Arial" panose="020B0604020202020204"/>
                          <a:ea typeface="Arial" panose="020B0604020202020204"/>
                          <a:cs typeface="Arial" panose="020B0604020202020204"/>
                        </a:rPr>
                        <a:t>iot/#</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iot và các nhánh dưới iot</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iot/lab1/10124332/sensor</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bl>
          </a:graphicData>
        </a:graphic>
      </p:graphicFrame>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12.4 Topic và nội dung bản tin</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2DD23107-4986-8758-3A93-3D74F35908CC}"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12.4 Topic và nội dung bản tin</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12.4.4 Dấu + và # khớp những gì?</a:t>
            </a:r>
            <a:endParaRPr sz="2400" b="1">
              <a:solidFill>
                <a:srgbClr val="00A65A"/>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714375" y="1952625"/>
            <a:ext cx="5048250" cy="1047750"/>
          </a:xfrm>
          <a:prstGeom prst="rect">
            <a:avLst/>
          </a:prstGeom>
          <a:solidFill>
            <a:srgbClr val="EFF8F3"/>
          </a:solidFill>
          <a:ln w="19050">
            <a:solidFill>
              <a:srgbClr val="00A65A"/>
            </a:solidFill>
          </a:ln>
        </p:spPr>
      </p:sp>
      <p:sp>
        <p:nvSpPr>
          <p:cNvPr id="247" name="Hình chữ nhật 246"/>
          <p:cNvSpPr>
            <a:spLocks noGrp="1"/>
          </p:cNvSpPr>
          <p:nvPr/>
        </p:nvSpPr>
        <p:spPr>
          <a:xfrm>
            <a:off x="847725" y="2066925"/>
            <a:ext cx="4781550" cy="857250"/>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iot/lab1/+/sensor</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Dấu + thay đúng một cấp</a:t>
            </a:r>
            <a:endParaRPr sz="2250" b="1">
              <a:solidFill>
                <a:srgbClr val="002060"/>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6286500" y="1952625"/>
            <a:ext cx="5191125" cy="1047750"/>
          </a:xfrm>
          <a:prstGeom prst="rect">
            <a:avLst/>
          </a:prstGeom>
          <a:solidFill>
            <a:srgbClr val="EFF8F3"/>
          </a:solidFill>
          <a:ln w="19050">
            <a:solidFill>
              <a:srgbClr val="00A65A"/>
            </a:solidFill>
          </a:ln>
        </p:spPr>
      </p:sp>
      <p:sp>
        <p:nvSpPr>
          <p:cNvPr id="249" name="Hình chữ nhật 248"/>
          <p:cNvSpPr>
            <a:spLocks noGrp="1"/>
          </p:cNvSpPr>
          <p:nvPr/>
        </p:nvSpPr>
        <p:spPr>
          <a:xfrm>
            <a:off x="6419850" y="2066925"/>
            <a:ext cx="4924425" cy="857250"/>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iot/lab1/10124332/#</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Dấu # nhận phần còn lại</a:t>
            </a:r>
            <a:endParaRPr sz="2250" b="1">
              <a:solidFill>
                <a:srgbClr val="002060"/>
              </a:solidFill>
              <a:latin typeface="Arial" panose="020B0604020202020204"/>
              <a:ea typeface="Arial" panose="020B0604020202020204"/>
              <a:cs typeface="Arial" panose="020B0604020202020204"/>
            </a:endParaRPr>
          </a:p>
        </p:txBody>
      </p:sp>
      <p:sp>
        <p:nvSpPr>
          <p:cNvPr id="250" name="Hình chữ nhật 249"/>
          <p:cNvSpPr>
            <a:spLocks noGrp="1"/>
          </p:cNvSpPr>
          <p:nvPr/>
        </p:nvSpPr>
        <p:spPr>
          <a:xfrm>
            <a:off x="809625" y="3286125"/>
            <a:ext cx="4857750" cy="1714500"/>
          </a:xfrm>
          <a:prstGeom prst="rect">
            <a:avLst/>
          </a:prstGeom>
          <a:noFill/>
          <a:ln w="0">
            <a:noFill/>
          </a:ln>
        </p:spPr>
        <p:txBody>
          <a:bodyPr>
            <a:noAutofit/>
          </a:bodyPr>
          <a:lstStyle/>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Các topic khớp bộ lọc:</a:t>
            </a:r>
            <a:endParaRPr sz="1875" b="0">
              <a:solidFill>
                <a:srgbClr val="002060"/>
              </a:solidFill>
              <a:latin typeface="Arial" panose="020B0604020202020204"/>
              <a:ea typeface="Arial" panose="020B0604020202020204"/>
              <a:cs typeface="Arial" panose="020B0604020202020204"/>
            </a:endParaRPr>
          </a:p>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iot/lab1/10124332/sensor</a:t>
            </a:r>
            <a:endParaRPr sz="1875" b="0">
              <a:solidFill>
                <a:srgbClr val="002060"/>
              </a:solidFill>
              <a:latin typeface="Arial" panose="020B0604020202020204"/>
              <a:ea typeface="Arial" panose="020B0604020202020204"/>
              <a:cs typeface="Arial" panose="020B0604020202020204"/>
            </a:endParaRPr>
          </a:p>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iot/lab1/10124333/sensor</a:t>
            </a:r>
            <a:endParaRPr sz="1875" b="0">
              <a:solidFill>
                <a:srgbClr val="002060"/>
              </a:solidFill>
              <a:latin typeface="Arial" panose="020B0604020202020204"/>
              <a:ea typeface="Arial" panose="020B0604020202020204"/>
              <a:cs typeface="Arial" panose="020B0604020202020204"/>
            </a:endParaRPr>
          </a:p>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iot/lab1/10124334/sensor</a:t>
            </a:r>
            <a:endParaRPr sz="1875" b="0">
              <a:solidFill>
                <a:srgbClr val="002060"/>
              </a:solidFill>
              <a:latin typeface="Arial" panose="020B0604020202020204"/>
              <a:ea typeface="Arial" panose="020B0604020202020204"/>
              <a:cs typeface="Arial" panose="020B0604020202020204"/>
            </a:endParaRPr>
          </a:p>
        </p:txBody>
      </p:sp>
      <p:sp>
        <p:nvSpPr>
          <p:cNvPr id="251" name="Hình chữ nhật 250"/>
          <p:cNvSpPr>
            <a:spLocks noGrp="1"/>
          </p:cNvSpPr>
          <p:nvPr/>
        </p:nvSpPr>
        <p:spPr>
          <a:xfrm>
            <a:off x="6429375" y="3286125"/>
            <a:ext cx="5048250" cy="1714500"/>
          </a:xfrm>
          <a:prstGeom prst="rect">
            <a:avLst/>
          </a:prstGeom>
          <a:noFill/>
          <a:ln w="0">
            <a:noFill/>
          </a:ln>
        </p:spPr>
        <p:txBody>
          <a:bodyPr>
            <a:noAutofit/>
          </a:bodyPr>
          <a:lstStyle/>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Các topic khớp bộ lọc:</a:t>
            </a:r>
            <a:endParaRPr sz="1875" b="0">
              <a:solidFill>
                <a:srgbClr val="002060"/>
              </a:solidFill>
              <a:latin typeface="Arial" panose="020B0604020202020204"/>
              <a:ea typeface="Arial" panose="020B0604020202020204"/>
              <a:cs typeface="Arial" panose="020B0604020202020204"/>
            </a:endParaRPr>
          </a:p>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iot/lab1/10124332/sensor</a:t>
            </a:r>
            <a:endParaRPr sz="1875" b="0">
              <a:solidFill>
                <a:srgbClr val="002060"/>
              </a:solidFill>
              <a:latin typeface="Arial" panose="020B0604020202020204"/>
              <a:ea typeface="Arial" panose="020B0604020202020204"/>
              <a:cs typeface="Arial" panose="020B0604020202020204"/>
            </a:endParaRPr>
          </a:p>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iot/lab1/10124332/phong1/temp</a:t>
            </a:r>
            <a:endParaRPr sz="1875" b="0">
              <a:solidFill>
                <a:srgbClr val="002060"/>
              </a:solidFill>
              <a:latin typeface="Arial" panose="020B0604020202020204"/>
              <a:ea typeface="Arial" panose="020B0604020202020204"/>
              <a:cs typeface="Arial" panose="020B0604020202020204"/>
            </a:endParaRPr>
          </a:p>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iot/lab1/10124332</a:t>
            </a:r>
            <a:endParaRPr sz="1875" b="0">
              <a:solidFill>
                <a:srgbClr val="002060"/>
              </a:solidFill>
              <a:latin typeface="Arial" panose="020B0604020202020204"/>
              <a:ea typeface="Arial" panose="020B0604020202020204"/>
              <a:cs typeface="Arial" panose="020B0604020202020204"/>
            </a:endParaRPr>
          </a:p>
        </p:txBody>
      </p:sp>
      <p:sp>
        <p:nvSpPr>
          <p:cNvPr id="252" name="Hình chữ nhật 251"/>
          <p:cNvSpPr>
            <a:spLocks noGrp="1"/>
          </p:cNvSpPr>
          <p:nvPr/>
        </p:nvSpPr>
        <p:spPr>
          <a:xfrm>
            <a:off x="762000" y="5381625"/>
            <a:ext cx="10572750" cy="857250"/>
          </a:xfrm>
          <a:prstGeom prst="rect">
            <a:avLst/>
          </a:prstGeom>
          <a:noFill/>
          <a:ln w="0">
            <a:noFill/>
          </a:ln>
        </p:spPr>
        <p:txBody>
          <a:bodyPr>
            <a:noAutofit/>
          </a:bodyPr>
          <a:lstStyle/>
          <a:p>
            <a:pPr>
              <a:buNone/>
              <a:defRPr sz="2100" b="1">
                <a:solidFill>
                  <a:srgbClr val="002060"/>
                </a:solidFill>
                <a:latin typeface="Arial" panose="020B0604020202020204"/>
                <a:ea typeface="Arial" panose="020B0604020202020204"/>
                <a:cs typeface="Arial" panose="020B0604020202020204"/>
              </a:defRPr>
            </a:pPr>
            <a:r>
              <a:rPr sz="2100" b="1">
                <a:solidFill>
                  <a:srgbClr val="002060"/>
                </a:solidFill>
                <a:latin typeface="Arial" panose="020B0604020202020204"/>
                <a:ea typeface="Arial" panose="020B0604020202020204"/>
                <a:cs typeface="Arial" panose="020B0604020202020204"/>
              </a:rPr>
              <a:t>iot/lab1/#/phong1 không hợp lệ: # phải đứng cuối.</a:t>
            </a:r>
            <a:endParaRPr sz="2100" b="1">
              <a:solidFill>
                <a:srgbClr val="002060"/>
              </a:solidFill>
              <a:latin typeface="Arial" panose="020B0604020202020204"/>
              <a:ea typeface="Arial" panose="020B0604020202020204"/>
              <a:cs typeface="Arial" panose="020B0604020202020204"/>
            </a:endParaRPr>
          </a:p>
          <a:p>
            <a:pPr>
              <a:buNone/>
              <a:defRPr sz="2100" b="1">
                <a:solidFill>
                  <a:srgbClr val="002060"/>
                </a:solidFill>
                <a:latin typeface="Arial" panose="020B0604020202020204"/>
                <a:ea typeface="Arial" panose="020B0604020202020204"/>
                <a:cs typeface="Arial" panose="020B0604020202020204"/>
              </a:defRPr>
            </a:pPr>
            <a:r>
              <a:rPr sz="2100" b="1">
                <a:solidFill>
                  <a:srgbClr val="002060"/>
                </a:solidFill>
                <a:latin typeface="Arial" panose="020B0604020202020204"/>
                <a:ea typeface="Arial" panose="020B0604020202020204"/>
                <a:cs typeface="Arial" panose="020B0604020202020204"/>
              </a:rPr>
              <a:t>Wildcard dùng trong bộ lọc đăng ký, publish dùng topic cụ thể.</a:t>
            </a:r>
            <a:endParaRPr sz="2100" b="1">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327921A4-25C4-3DB4-06B1-32693CEE2241}"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12.5.1 Kết nối rồi đăng ký topic</a:t>
            </a:r>
            <a:endParaRPr sz="2400" b="1">
              <a:solidFill>
                <a:srgbClr val="00A95C"/>
              </a:solidFill>
              <a:latin typeface="Arial" panose="020B0604020202020204"/>
              <a:ea typeface="Arial" panose="020B0604020202020204"/>
              <a:cs typeface="Arial" panose="020B0604020202020204"/>
            </a:endParaRPr>
          </a:p>
        </p:txBody>
      </p:sp>
      <p:sp>
        <p:nvSpPr>
          <p:cNvPr id="243" name="Hình chữ nhật 242"/>
          <p:cNvSpPr>
            <a:spLocks noGrp="1"/>
          </p:cNvSpPr>
          <p:nvPr/>
        </p:nvSpPr>
        <p:spPr>
          <a:xfrm>
            <a:off x="857250" y="1762125"/>
            <a:ext cx="2762250" cy="571500"/>
          </a:xfrm>
          <a:prstGeom prst="rect">
            <a:avLst/>
          </a:prstGeom>
          <a:noFill/>
          <a:ln w="0">
            <a:noFill/>
          </a:ln>
        </p:spPr>
        <p:txBody>
          <a:bodyPr>
            <a:noAutofit/>
          </a:bodyPr>
          <a:lstStyle/>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CLIENT</a:t>
            </a:r>
            <a:endParaRPr sz="2400" b="1">
              <a:solidFill>
                <a:srgbClr val="002060"/>
              </a:solidFill>
              <a:latin typeface="Arial" panose="020B0604020202020204"/>
              <a:ea typeface="Arial" panose="020B0604020202020204"/>
              <a:cs typeface="Arial" panose="020B0604020202020204"/>
            </a:endParaRPr>
          </a:p>
        </p:txBody>
      </p:sp>
      <p:sp>
        <p:nvSpPr>
          <p:cNvPr id="244" name="Hình chữ nhật 243"/>
          <p:cNvSpPr>
            <a:spLocks noGrp="1"/>
          </p:cNvSpPr>
          <p:nvPr/>
        </p:nvSpPr>
        <p:spPr>
          <a:xfrm>
            <a:off x="8715375" y="1762125"/>
            <a:ext cx="2762250" cy="571500"/>
          </a:xfrm>
          <a:prstGeom prst="rect">
            <a:avLst/>
          </a:prstGeom>
          <a:noFill/>
          <a:ln w="0">
            <a:noFill/>
          </a:ln>
        </p:spPr>
        <p:txBody>
          <a:bodyPr>
            <a:noAutofit/>
          </a:bodyPr>
          <a:lstStyle/>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BROKER</a:t>
            </a:r>
            <a:endParaRPr sz="2400" b="1">
              <a:solidFill>
                <a:srgbClr val="002060"/>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3048000" y="2238375"/>
            <a:ext cx="5619750" cy="495300"/>
          </a:xfrm>
          <a:prstGeom prst="rect">
            <a:avLst/>
          </a:prstGeom>
          <a:noFill/>
          <a:ln w="0">
            <a:noFill/>
          </a:ln>
        </p:spPr>
        <p:txBody>
          <a:bodyPr>
            <a:noAutofit/>
          </a:bodyPr>
          <a:lstStyle/>
          <a:p>
            <a:pPr>
              <a:buNone/>
              <a:defRPr sz="2175" b="1">
                <a:solidFill>
                  <a:srgbClr val="002060"/>
                </a:solidFill>
                <a:latin typeface="Arial" panose="020B0604020202020204"/>
                <a:ea typeface="Arial" panose="020B0604020202020204"/>
                <a:cs typeface="Arial" panose="020B0604020202020204"/>
              </a:defRPr>
            </a:pPr>
            <a:r>
              <a:rPr sz="2175" b="1">
                <a:solidFill>
                  <a:srgbClr val="002060"/>
                </a:solidFill>
                <a:latin typeface="Arial" panose="020B0604020202020204"/>
                <a:ea typeface="Arial" panose="020B0604020202020204"/>
                <a:cs typeface="Arial" panose="020B0604020202020204"/>
              </a:rPr>
              <a:t>1 CONNECT: xin mở phiên MQTT</a:t>
            </a:r>
            <a:endParaRPr sz="2175" b="1">
              <a:solidFill>
                <a:srgbClr val="002060"/>
              </a:solidFill>
              <a:latin typeface="Arial" panose="020B0604020202020204"/>
              <a:ea typeface="Arial" panose="020B0604020202020204"/>
              <a:cs typeface="Arial" panose="020B0604020202020204"/>
            </a:endParaRPr>
          </a:p>
        </p:txBody>
      </p:sp>
      <p:sp>
        <p:nvSpPr>
          <p:cNvPr id="246" name="Mũi tên: Phải 245"/>
          <p:cNvSpPr>
            <a:spLocks noGrp="1"/>
          </p:cNvSpPr>
          <p:nvPr/>
        </p:nvSpPr>
        <p:spPr>
          <a:xfrm>
            <a:off x="3048000" y="2714625"/>
            <a:ext cx="5476875" cy="171450"/>
          </a:xfrm>
          <a:prstGeom prst="rightArrow">
            <a:avLst/>
          </a:prstGeom>
          <a:solidFill>
            <a:srgbClr val="00A95C"/>
          </a:solidFill>
          <a:ln w="0">
            <a:solidFill>
              <a:srgbClr val="00A95C"/>
            </a:solidFill>
          </a:ln>
        </p:spPr>
      </p:sp>
      <p:sp>
        <p:nvSpPr>
          <p:cNvPr id="247" name="Hình chữ nhật 246"/>
          <p:cNvSpPr>
            <a:spLocks noGrp="1"/>
          </p:cNvSpPr>
          <p:nvPr/>
        </p:nvSpPr>
        <p:spPr>
          <a:xfrm>
            <a:off x="3048000" y="2981325"/>
            <a:ext cx="5619750" cy="495300"/>
          </a:xfrm>
          <a:prstGeom prst="rect">
            <a:avLst/>
          </a:prstGeom>
          <a:noFill/>
          <a:ln w="0">
            <a:noFill/>
          </a:ln>
        </p:spPr>
        <p:txBody>
          <a:bodyPr>
            <a:noAutofit/>
          </a:bodyPr>
          <a:lstStyle/>
          <a:p>
            <a:pPr>
              <a:buNone/>
              <a:defRPr sz="2175" b="1">
                <a:solidFill>
                  <a:srgbClr val="002060"/>
                </a:solidFill>
                <a:latin typeface="Arial" panose="020B0604020202020204"/>
                <a:ea typeface="Arial" panose="020B0604020202020204"/>
                <a:cs typeface="Arial" panose="020B0604020202020204"/>
              </a:defRPr>
            </a:pPr>
            <a:r>
              <a:rPr sz="2175" b="1">
                <a:solidFill>
                  <a:srgbClr val="002060"/>
                </a:solidFill>
                <a:latin typeface="Arial" panose="020B0604020202020204"/>
                <a:ea typeface="Arial" panose="020B0604020202020204"/>
                <a:cs typeface="Arial" panose="020B0604020202020204"/>
              </a:rPr>
              <a:t>2 CONNACK: broker trả lời</a:t>
            </a:r>
            <a:endParaRPr sz="2175" b="1">
              <a:solidFill>
                <a:srgbClr val="002060"/>
              </a:solidFill>
              <a:latin typeface="Arial" panose="020B0604020202020204"/>
              <a:ea typeface="Arial" panose="020B0604020202020204"/>
              <a:cs typeface="Arial" panose="020B0604020202020204"/>
            </a:endParaRPr>
          </a:p>
        </p:txBody>
      </p:sp>
      <p:sp>
        <p:nvSpPr>
          <p:cNvPr id="248" name="Mũi tên: Trái 247"/>
          <p:cNvSpPr>
            <a:spLocks noGrp="1"/>
          </p:cNvSpPr>
          <p:nvPr/>
        </p:nvSpPr>
        <p:spPr>
          <a:xfrm>
            <a:off x="3048000" y="3457575"/>
            <a:ext cx="5476875" cy="171450"/>
          </a:xfrm>
          <a:prstGeom prst="leftArrow">
            <a:avLst/>
          </a:prstGeom>
          <a:solidFill>
            <a:srgbClr val="00A95C"/>
          </a:solidFill>
          <a:ln w="0">
            <a:solidFill>
              <a:srgbClr val="00A95C"/>
            </a:solidFill>
          </a:ln>
        </p:spPr>
      </p:sp>
      <p:sp>
        <p:nvSpPr>
          <p:cNvPr id="249" name="Hình chữ nhật 248"/>
          <p:cNvSpPr>
            <a:spLocks noGrp="1"/>
          </p:cNvSpPr>
          <p:nvPr/>
        </p:nvSpPr>
        <p:spPr>
          <a:xfrm>
            <a:off x="3048000" y="3724275"/>
            <a:ext cx="5619750" cy="495300"/>
          </a:xfrm>
          <a:prstGeom prst="rect">
            <a:avLst/>
          </a:prstGeom>
          <a:noFill/>
          <a:ln w="0">
            <a:noFill/>
          </a:ln>
        </p:spPr>
        <p:txBody>
          <a:bodyPr>
            <a:noAutofit/>
          </a:bodyPr>
          <a:lstStyle/>
          <a:p>
            <a:pPr>
              <a:buNone/>
              <a:defRPr sz="2175" b="1">
                <a:solidFill>
                  <a:srgbClr val="002060"/>
                </a:solidFill>
                <a:latin typeface="Arial" panose="020B0604020202020204"/>
                <a:ea typeface="Arial" panose="020B0604020202020204"/>
                <a:cs typeface="Arial" panose="020B0604020202020204"/>
              </a:defRPr>
            </a:pPr>
            <a:r>
              <a:rPr sz="2175" b="1">
                <a:solidFill>
                  <a:srgbClr val="002060"/>
                </a:solidFill>
                <a:latin typeface="Arial" panose="020B0604020202020204"/>
                <a:ea typeface="Arial" panose="020B0604020202020204"/>
                <a:cs typeface="Arial" panose="020B0604020202020204"/>
              </a:rPr>
              <a:t>3 SUBSCRIBE: theo dõi topic</a:t>
            </a:r>
            <a:endParaRPr sz="2175" b="1">
              <a:solidFill>
                <a:srgbClr val="002060"/>
              </a:solidFill>
              <a:latin typeface="Arial" panose="020B0604020202020204"/>
              <a:ea typeface="Arial" panose="020B0604020202020204"/>
              <a:cs typeface="Arial" panose="020B0604020202020204"/>
            </a:endParaRPr>
          </a:p>
        </p:txBody>
      </p:sp>
      <p:sp>
        <p:nvSpPr>
          <p:cNvPr id="250" name="Mũi tên: Phải 249"/>
          <p:cNvSpPr>
            <a:spLocks noGrp="1"/>
          </p:cNvSpPr>
          <p:nvPr/>
        </p:nvSpPr>
        <p:spPr>
          <a:xfrm>
            <a:off x="3048000" y="4200525"/>
            <a:ext cx="5476875" cy="171450"/>
          </a:xfrm>
          <a:prstGeom prst="rightArrow">
            <a:avLst/>
          </a:prstGeom>
          <a:solidFill>
            <a:srgbClr val="00A95C"/>
          </a:solidFill>
          <a:ln w="0">
            <a:solidFill>
              <a:srgbClr val="00A95C"/>
            </a:solidFill>
          </a:ln>
        </p:spPr>
      </p:sp>
      <p:sp>
        <p:nvSpPr>
          <p:cNvPr id="251" name="Hình chữ nhật 250"/>
          <p:cNvSpPr>
            <a:spLocks noGrp="1"/>
          </p:cNvSpPr>
          <p:nvPr/>
        </p:nvSpPr>
        <p:spPr>
          <a:xfrm>
            <a:off x="3048000" y="4467225"/>
            <a:ext cx="5619750" cy="495300"/>
          </a:xfrm>
          <a:prstGeom prst="rect">
            <a:avLst/>
          </a:prstGeom>
          <a:noFill/>
          <a:ln w="0">
            <a:noFill/>
          </a:ln>
        </p:spPr>
        <p:txBody>
          <a:bodyPr>
            <a:noAutofit/>
          </a:bodyPr>
          <a:lstStyle/>
          <a:p>
            <a:pPr>
              <a:buNone/>
              <a:defRPr sz="2175" b="1">
                <a:solidFill>
                  <a:srgbClr val="002060"/>
                </a:solidFill>
                <a:latin typeface="Arial" panose="020B0604020202020204"/>
                <a:ea typeface="Arial" panose="020B0604020202020204"/>
                <a:cs typeface="Arial" panose="020B0604020202020204"/>
              </a:defRPr>
            </a:pPr>
            <a:r>
              <a:rPr sz="2175" b="1">
                <a:solidFill>
                  <a:srgbClr val="002060"/>
                </a:solidFill>
                <a:latin typeface="Arial" panose="020B0604020202020204"/>
                <a:ea typeface="Arial" panose="020B0604020202020204"/>
                <a:cs typeface="Arial" panose="020B0604020202020204"/>
              </a:rPr>
              <a:t>4 SUBACK: xác nhận đăng ký</a:t>
            </a:r>
            <a:endParaRPr sz="2175" b="1">
              <a:solidFill>
                <a:srgbClr val="002060"/>
              </a:solidFill>
              <a:latin typeface="Arial" panose="020B0604020202020204"/>
              <a:ea typeface="Arial" panose="020B0604020202020204"/>
              <a:cs typeface="Arial" panose="020B0604020202020204"/>
            </a:endParaRPr>
          </a:p>
        </p:txBody>
      </p:sp>
      <p:sp>
        <p:nvSpPr>
          <p:cNvPr id="252" name="Mũi tên: Trái 251"/>
          <p:cNvSpPr>
            <a:spLocks noGrp="1"/>
          </p:cNvSpPr>
          <p:nvPr/>
        </p:nvSpPr>
        <p:spPr>
          <a:xfrm>
            <a:off x="3048000" y="4943475"/>
            <a:ext cx="5476875" cy="171450"/>
          </a:xfrm>
          <a:prstGeom prst="leftArrow">
            <a:avLst/>
          </a:prstGeom>
          <a:solidFill>
            <a:srgbClr val="00A95C"/>
          </a:solidFill>
          <a:ln w="0">
            <a:solidFill>
              <a:srgbClr val="00A95C"/>
            </a:solidFill>
          </a:ln>
        </p:spPr>
      </p:sp>
      <p:sp>
        <p:nvSpPr>
          <p:cNvPr id="253" name="Hình chữ nhật 252"/>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12.5 Luồng hoạt động cơ bản</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EA83FA91-883A-0168-8075-96CEB9DCA3C2}"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12.5 Luồng hoạt động cơ bản</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12.5.2 Gửi bản tin qua broker</a:t>
            </a:r>
            <a:endParaRPr sz="2400" b="1">
              <a:solidFill>
                <a:srgbClr val="00A65A"/>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666750" y="2286000"/>
            <a:ext cx="2667000" cy="1095375"/>
          </a:xfrm>
          <a:prstGeom prst="rect">
            <a:avLst/>
          </a:prstGeom>
          <a:solidFill>
            <a:srgbClr val="EFF8F3"/>
          </a:solidFill>
          <a:ln w="19050">
            <a:solidFill>
              <a:srgbClr val="00A65A"/>
            </a:solidFill>
          </a:ln>
        </p:spPr>
      </p:sp>
      <p:sp>
        <p:nvSpPr>
          <p:cNvPr id="247" name="Hình chữ nhật 246"/>
          <p:cNvSpPr>
            <a:spLocks noGrp="1"/>
          </p:cNvSpPr>
          <p:nvPr/>
        </p:nvSpPr>
        <p:spPr>
          <a:xfrm>
            <a:off x="800100" y="2400300"/>
            <a:ext cx="2400300" cy="904875"/>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ESP32</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Publisher</a:t>
            </a:r>
            <a:endParaRPr sz="2250" b="1">
              <a:solidFill>
                <a:srgbClr val="002060"/>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4714875" y="2286000"/>
            <a:ext cx="2667000" cy="1095375"/>
          </a:xfrm>
          <a:prstGeom prst="rect">
            <a:avLst/>
          </a:prstGeom>
          <a:solidFill>
            <a:srgbClr val="EFF8F3"/>
          </a:solidFill>
          <a:ln w="19050">
            <a:solidFill>
              <a:srgbClr val="00A65A"/>
            </a:solidFill>
          </a:ln>
        </p:spPr>
      </p:sp>
      <p:sp>
        <p:nvSpPr>
          <p:cNvPr id="249" name="Hình chữ nhật 248"/>
          <p:cNvSpPr>
            <a:spLocks noGrp="1"/>
          </p:cNvSpPr>
          <p:nvPr/>
        </p:nvSpPr>
        <p:spPr>
          <a:xfrm>
            <a:off x="4848225" y="2400300"/>
            <a:ext cx="2400300" cy="904875"/>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Mosquitto</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Broker</a:t>
            </a:r>
            <a:endParaRPr sz="2250" b="1">
              <a:solidFill>
                <a:srgbClr val="002060"/>
              </a:solidFill>
              <a:latin typeface="Arial" panose="020B0604020202020204"/>
              <a:ea typeface="Arial" panose="020B0604020202020204"/>
              <a:cs typeface="Arial" panose="020B0604020202020204"/>
            </a:endParaRPr>
          </a:p>
        </p:txBody>
      </p:sp>
      <p:sp>
        <p:nvSpPr>
          <p:cNvPr id="250" name="Hình chữ nhật 249"/>
          <p:cNvSpPr>
            <a:spLocks noGrp="1"/>
          </p:cNvSpPr>
          <p:nvPr/>
        </p:nvSpPr>
        <p:spPr>
          <a:xfrm>
            <a:off x="8763000" y="2286000"/>
            <a:ext cx="2714625" cy="1095375"/>
          </a:xfrm>
          <a:prstGeom prst="rect">
            <a:avLst/>
          </a:prstGeom>
          <a:solidFill>
            <a:srgbClr val="EFF8F3"/>
          </a:solidFill>
          <a:ln w="19050">
            <a:solidFill>
              <a:srgbClr val="00A65A"/>
            </a:solidFill>
          </a:ln>
        </p:spPr>
      </p:sp>
      <p:sp>
        <p:nvSpPr>
          <p:cNvPr id="251" name="Hình chữ nhật 250"/>
          <p:cNvSpPr>
            <a:spLocks noGrp="1"/>
          </p:cNvSpPr>
          <p:nvPr/>
        </p:nvSpPr>
        <p:spPr>
          <a:xfrm>
            <a:off x="8896350" y="2400300"/>
            <a:ext cx="2447925" cy="904875"/>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Home Assistant</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Subscriber</a:t>
            </a:r>
            <a:endParaRPr sz="2250" b="1">
              <a:solidFill>
                <a:srgbClr val="002060"/>
              </a:solidFill>
              <a:latin typeface="Arial" panose="020B0604020202020204"/>
              <a:ea typeface="Arial" panose="020B0604020202020204"/>
              <a:cs typeface="Arial" panose="020B0604020202020204"/>
            </a:endParaRPr>
          </a:p>
        </p:txBody>
      </p:sp>
      <p:sp>
        <p:nvSpPr>
          <p:cNvPr id="252" name="Mũi tên: Phải 251"/>
          <p:cNvSpPr>
            <a:spLocks noGrp="1"/>
          </p:cNvSpPr>
          <p:nvPr/>
        </p:nvSpPr>
        <p:spPr>
          <a:xfrm>
            <a:off x="3476625" y="2714625"/>
            <a:ext cx="1095375" cy="209550"/>
          </a:xfrm>
          <a:prstGeom prst="rightArrow">
            <a:avLst/>
          </a:prstGeom>
          <a:solidFill>
            <a:srgbClr val="00A65A"/>
          </a:solidFill>
          <a:ln w="0">
            <a:noFill/>
          </a:ln>
        </p:spPr>
      </p:sp>
      <p:sp>
        <p:nvSpPr>
          <p:cNvPr id="253" name="Mũi tên: Phải 252"/>
          <p:cNvSpPr>
            <a:spLocks noGrp="1"/>
          </p:cNvSpPr>
          <p:nvPr/>
        </p:nvSpPr>
        <p:spPr>
          <a:xfrm>
            <a:off x="7524750" y="2714625"/>
            <a:ext cx="1095375" cy="209550"/>
          </a:xfrm>
          <a:prstGeom prst="rightArrow">
            <a:avLst/>
          </a:prstGeom>
          <a:solidFill>
            <a:srgbClr val="00A65A"/>
          </a:solidFill>
          <a:ln w="0">
            <a:noFill/>
          </a:ln>
        </p:spPr>
      </p:sp>
      <p:sp>
        <p:nvSpPr>
          <p:cNvPr id="254" name="Hình chữ nhật 253"/>
          <p:cNvSpPr>
            <a:spLocks noGrp="1"/>
          </p:cNvSpPr>
          <p:nvPr/>
        </p:nvSpPr>
        <p:spPr>
          <a:xfrm>
            <a:off x="3333750" y="3524250"/>
            <a:ext cx="1524000" cy="904875"/>
          </a:xfrm>
          <a:prstGeom prst="rect">
            <a:avLst/>
          </a:prstGeom>
          <a:noFill/>
          <a:ln w="0">
            <a:noFill/>
          </a:ln>
        </p:spPr>
        <p:txBody>
          <a:bodyPr>
            <a:noAutofit/>
          </a:bodyPr>
          <a:lstStyle/>
          <a:p>
            <a:pPr>
              <a:buNone/>
              <a:defRPr sz="1950" b="0">
                <a:solidFill>
                  <a:srgbClr val="002060"/>
                </a:solidFill>
                <a:latin typeface="Arial" panose="020B0604020202020204"/>
                <a:ea typeface="Arial" panose="020B0604020202020204"/>
                <a:cs typeface="Arial" panose="020B0604020202020204"/>
              </a:defRPr>
            </a:pPr>
            <a:r>
              <a:rPr sz="1950" b="0">
                <a:solidFill>
                  <a:srgbClr val="002060"/>
                </a:solidFill>
                <a:latin typeface="Arial" panose="020B0604020202020204"/>
                <a:ea typeface="Arial" panose="020B0604020202020204"/>
                <a:cs typeface="Arial" panose="020B0604020202020204"/>
              </a:rPr>
              <a:t>PUBLISH</a:t>
            </a:r>
            <a:endParaRPr sz="1950" b="0">
              <a:solidFill>
                <a:srgbClr val="002060"/>
              </a:solidFill>
              <a:latin typeface="Arial" panose="020B0604020202020204"/>
              <a:ea typeface="Arial" panose="020B0604020202020204"/>
              <a:cs typeface="Arial" panose="020B0604020202020204"/>
            </a:endParaRPr>
          </a:p>
          <a:p>
            <a:pPr>
              <a:buNone/>
              <a:defRPr sz="1950" b="0">
                <a:solidFill>
                  <a:srgbClr val="002060"/>
                </a:solidFill>
                <a:latin typeface="Arial" panose="020B0604020202020204"/>
                <a:ea typeface="Arial" panose="020B0604020202020204"/>
                <a:cs typeface="Arial" panose="020B0604020202020204"/>
              </a:defRPr>
            </a:pPr>
            <a:r>
              <a:rPr sz="1950" b="0">
                <a:solidFill>
                  <a:srgbClr val="002060"/>
                </a:solidFill>
                <a:latin typeface="Arial" panose="020B0604020202020204"/>
                <a:ea typeface="Arial" panose="020B0604020202020204"/>
                <a:cs typeface="Arial" panose="020B0604020202020204"/>
              </a:rPr>
              <a:t>Topic và JSON</a:t>
            </a:r>
            <a:endParaRPr sz="1950" b="0">
              <a:solidFill>
                <a:srgbClr val="002060"/>
              </a:solidFill>
              <a:latin typeface="Arial" panose="020B0604020202020204"/>
              <a:ea typeface="Arial" panose="020B0604020202020204"/>
              <a:cs typeface="Arial" panose="020B0604020202020204"/>
            </a:endParaRPr>
          </a:p>
        </p:txBody>
      </p:sp>
      <p:sp>
        <p:nvSpPr>
          <p:cNvPr id="255" name="Hình chữ nhật 254"/>
          <p:cNvSpPr>
            <a:spLocks noGrp="1"/>
          </p:cNvSpPr>
          <p:nvPr/>
        </p:nvSpPr>
        <p:spPr>
          <a:xfrm>
            <a:off x="7524750" y="3524250"/>
            <a:ext cx="1905000" cy="904875"/>
          </a:xfrm>
          <a:prstGeom prst="rect">
            <a:avLst/>
          </a:prstGeom>
          <a:noFill/>
          <a:ln w="0">
            <a:noFill/>
          </a:ln>
        </p:spPr>
        <p:txBody>
          <a:bodyPr>
            <a:noAutofit/>
          </a:bodyPr>
          <a:lstStyle/>
          <a:p>
            <a:pPr>
              <a:buNone/>
              <a:defRPr sz="1950" b="0">
                <a:solidFill>
                  <a:srgbClr val="002060"/>
                </a:solidFill>
                <a:latin typeface="Arial" panose="020B0604020202020204"/>
                <a:ea typeface="Arial" panose="020B0604020202020204"/>
                <a:cs typeface="Arial" panose="020B0604020202020204"/>
              </a:defRPr>
            </a:pPr>
            <a:r>
              <a:rPr sz="1950" b="0">
                <a:solidFill>
                  <a:srgbClr val="002060"/>
                </a:solidFill>
                <a:latin typeface="Arial" panose="020B0604020202020204"/>
                <a:ea typeface="Arial" panose="020B0604020202020204"/>
                <a:cs typeface="Arial" panose="020B0604020202020204"/>
              </a:rPr>
              <a:t>PUBLISH</a:t>
            </a:r>
            <a:endParaRPr sz="1950" b="0">
              <a:solidFill>
                <a:srgbClr val="002060"/>
              </a:solidFill>
              <a:latin typeface="Arial" panose="020B0604020202020204"/>
              <a:ea typeface="Arial" panose="020B0604020202020204"/>
              <a:cs typeface="Arial" panose="020B0604020202020204"/>
            </a:endParaRPr>
          </a:p>
          <a:p>
            <a:pPr>
              <a:buNone/>
              <a:defRPr sz="1950" b="0">
                <a:solidFill>
                  <a:srgbClr val="002060"/>
                </a:solidFill>
                <a:latin typeface="Arial" panose="020B0604020202020204"/>
                <a:ea typeface="Arial" panose="020B0604020202020204"/>
                <a:cs typeface="Arial" panose="020B0604020202020204"/>
              </a:defRPr>
            </a:pPr>
            <a:r>
              <a:rPr sz="1950" b="0">
                <a:solidFill>
                  <a:srgbClr val="002060"/>
                </a:solidFill>
                <a:latin typeface="Arial" panose="020B0604020202020204"/>
                <a:ea typeface="Arial" panose="020B0604020202020204"/>
                <a:cs typeface="Arial" panose="020B0604020202020204"/>
              </a:rPr>
              <a:t>Cho bên đã đăng ký</a:t>
            </a:r>
            <a:endParaRPr sz="1950" b="0">
              <a:solidFill>
                <a:srgbClr val="002060"/>
              </a:solidFill>
              <a:latin typeface="Arial" panose="020B0604020202020204"/>
              <a:ea typeface="Arial" panose="020B0604020202020204"/>
              <a:cs typeface="Arial" panose="020B0604020202020204"/>
            </a:endParaRPr>
          </a:p>
        </p:txBody>
      </p:sp>
      <p:sp>
        <p:nvSpPr>
          <p:cNvPr id="256" name="Hình chữ nhật 255"/>
          <p:cNvSpPr>
            <a:spLocks noGrp="1"/>
          </p:cNvSpPr>
          <p:nvPr/>
        </p:nvSpPr>
        <p:spPr>
          <a:xfrm>
            <a:off x="714375" y="4905375"/>
            <a:ext cx="10668000" cy="1000125"/>
          </a:xfrm>
          <a:prstGeom prst="rect">
            <a:avLst/>
          </a:prstGeom>
          <a:noFill/>
          <a:ln w="0">
            <a:noFill/>
          </a:ln>
        </p:spPr>
        <p:txBody>
          <a:bodyPr>
            <a:noAutofit/>
          </a:bodyPr>
          <a:lstStyle/>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UNSUBSCRIBE bỏ đăng ký topic, kết nối vẫn có thể giữ.</a:t>
            </a:r>
            <a:endParaRPr sz="2100" b="0">
              <a:solidFill>
                <a:srgbClr val="002060"/>
              </a:solidFill>
              <a:latin typeface="Arial" panose="020B0604020202020204"/>
              <a:ea typeface="Arial" panose="020B0604020202020204"/>
              <a:cs typeface="Arial" panose="020B0604020202020204"/>
            </a:endParaRPr>
          </a:p>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DISCONNECT thông báo client chủ động kết thúc phiên.</a:t>
            </a:r>
            <a:endParaRPr sz="2100" b="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DC9C7607-4BA3-B4DC-A00F-2E67A9FCFF7E}"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12.6.1 QoS: Quality of Service (chất lượng dịch vụ)</a:t>
            </a:r>
            <a:endParaRPr sz="2400" b="1">
              <a:solidFill>
                <a:srgbClr val="00A95C"/>
              </a:solidFill>
              <a:latin typeface="Arial" panose="020B0604020202020204"/>
              <a:ea typeface="Arial" panose="020B0604020202020204"/>
              <a:cs typeface="Arial" panose="020B0604020202020204"/>
            </a:endParaRPr>
          </a:p>
        </p:txBody>
      </p:sp>
      <p:graphicFrame>
        <p:nvGraphicFramePr>
          <p:cNvPr id="250" name="Bảng 249"/>
          <p:cNvGraphicFramePr/>
          <p:nvPr/>
        </p:nvGraphicFramePr>
        <p:xfrm>
          <a:off x="619125" y="1762125"/>
          <a:ext cx="10668000" cy="3048000"/>
        </p:xfrm>
        <a:graphic>
          <a:graphicData uri="http://schemas.openxmlformats.org/drawingml/2006/table">
            <a:tbl>
              <a:tblPr/>
              <a:tblGrid>
                <a:gridCol w="3556000"/>
                <a:gridCol w="3556000"/>
                <a:gridCol w="3556000"/>
              </a:tblGrid>
              <a:tr h="762000">
                <a:tc>
                  <a:txBody>
                    <a:bodyPr/>
                    <a:lstStyle/>
                    <a:p>
                      <a:r>
                        <a:rPr sz="2025" b="1">
                          <a:solidFill>
                            <a:srgbClr val="FFFFFF"/>
                          </a:solidFill>
                          <a:latin typeface="Arial" panose="020B0604020202020204"/>
                          <a:ea typeface="Arial" panose="020B0604020202020204"/>
                          <a:cs typeface="Arial" panose="020B0604020202020204"/>
                        </a:rPr>
                        <a:t>Mức</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Cách hoạt động</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Điều cần nhớ</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r>
              <a:tr h="762000">
                <a:tc>
                  <a:txBody>
                    <a:bodyPr/>
                    <a:lstStyle/>
                    <a:p>
                      <a:r>
                        <a:rPr sz="2025" b="0">
                          <a:solidFill>
                            <a:srgbClr val="002060"/>
                          </a:solidFill>
                          <a:latin typeface="Arial" panose="020B0604020202020204"/>
                          <a:ea typeface="Arial" panose="020B0604020202020204"/>
                          <a:cs typeface="Arial" panose="020B0604020202020204"/>
                        </a:rPr>
                        <a:t>QoS 0</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Gửi tin một lần.</a:t>
                      </a:r>
                      <a:endParaRPr sz="2025" b="0">
                        <a:solidFill>
                          <a:srgbClr val="002060"/>
                        </a:solidFill>
                        <a:latin typeface="Arial" panose="020B0604020202020204"/>
                        <a:ea typeface="Arial" panose="020B0604020202020204"/>
                        <a:cs typeface="Arial" panose="020B0604020202020204"/>
                      </a:endParaRPr>
                    </a:p>
                    <a:p>
                      <a:r>
                        <a:rPr sz="2025" b="0">
                          <a:solidFill>
                            <a:srgbClr val="002060"/>
                          </a:solidFill>
                          <a:latin typeface="Arial" panose="020B0604020202020204"/>
                          <a:ea typeface="Arial" panose="020B0604020202020204"/>
                          <a:cs typeface="Arial" panose="020B0604020202020204"/>
                        </a:rPr>
                        <a:t>Không chờ báo đã nhận.</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Có thể mất bản tin</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r h="762000">
                <a:tc>
                  <a:txBody>
                    <a:bodyPr/>
                    <a:lstStyle/>
                    <a:p>
                      <a:r>
                        <a:rPr sz="2025" b="0">
                          <a:solidFill>
                            <a:srgbClr val="002060"/>
                          </a:solidFill>
                          <a:latin typeface="Arial" panose="020B0604020202020204"/>
                          <a:ea typeface="Arial" panose="020B0604020202020204"/>
                          <a:cs typeface="Arial" panose="020B0604020202020204"/>
                        </a:rPr>
                        <a:t>QoS 1</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Gửi tin, chờ báo đã nhận.</a:t>
                      </a:r>
                      <a:endParaRPr sz="2025" b="0">
                        <a:solidFill>
                          <a:srgbClr val="002060"/>
                        </a:solidFill>
                        <a:latin typeface="Arial" panose="020B0604020202020204"/>
                        <a:ea typeface="Arial" panose="020B0604020202020204"/>
                        <a:cs typeface="Arial" panose="020B0604020202020204"/>
                      </a:endParaRPr>
                    </a:p>
                    <a:p>
                      <a:r>
                        <a:rPr sz="2025" b="0">
                          <a:solidFill>
                            <a:srgbClr val="002060"/>
                          </a:solidFill>
                          <a:latin typeface="Arial" panose="020B0604020202020204"/>
                          <a:ea typeface="Arial" panose="020B0604020202020204"/>
                          <a:cs typeface="Arial" panose="020B0604020202020204"/>
                        </a:rPr>
                        <a:t>Có thể phải gửi lại.</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Nhận ít nhất một lần.</a:t>
                      </a:r>
                      <a:endParaRPr sz="2025" b="0">
                        <a:solidFill>
                          <a:srgbClr val="002060"/>
                        </a:solidFill>
                        <a:latin typeface="Arial" panose="020B0604020202020204"/>
                        <a:ea typeface="Arial" panose="020B0604020202020204"/>
                        <a:cs typeface="Arial" panose="020B0604020202020204"/>
                      </a:endParaRPr>
                    </a:p>
                    <a:p>
                      <a:r>
                        <a:rPr sz="2025" b="0">
                          <a:solidFill>
                            <a:srgbClr val="002060"/>
                          </a:solidFill>
                          <a:latin typeface="Arial" panose="020B0604020202020204"/>
                          <a:ea typeface="Arial" panose="020B0604020202020204"/>
                          <a:cs typeface="Arial" panose="020B0604020202020204"/>
                        </a:rPr>
                        <a:t>Có thể nhận trùng.</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r>
              <a:tr h="762000">
                <a:tc>
                  <a:txBody>
                    <a:bodyPr/>
                    <a:lstStyle/>
                    <a:p>
                      <a:r>
                        <a:rPr sz="2025" b="0">
                          <a:solidFill>
                            <a:srgbClr val="002060"/>
                          </a:solidFill>
                          <a:latin typeface="Arial" panose="020B0604020202020204"/>
                          <a:ea typeface="Arial" panose="020B0604020202020204"/>
                          <a:cs typeface="Arial" panose="020B0604020202020204"/>
                        </a:rPr>
                        <a:t>QoS 2</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Hai bên trao đổi 4 bước</a:t>
                      </a:r>
                      <a:endParaRPr sz="2025" b="0">
                        <a:solidFill>
                          <a:srgbClr val="002060"/>
                        </a:solidFill>
                        <a:latin typeface="Arial" panose="020B0604020202020204"/>
                        <a:ea typeface="Arial" panose="020B0604020202020204"/>
                        <a:cs typeface="Arial" panose="020B0604020202020204"/>
                      </a:endParaRPr>
                    </a:p>
                    <a:p>
                      <a:r>
                        <a:rPr sz="2025" b="0">
                          <a:solidFill>
                            <a:srgbClr val="002060"/>
                          </a:solidFill>
                          <a:latin typeface="Arial" panose="020B0604020202020204"/>
                          <a:ea typeface="Arial" panose="020B0604020202020204"/>
                          <a:cs typeface="Arial" panose="020B0604020202020204"/>
                        </a:rPr>
                        <a:t>để chỉ giao tin một lần.</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Nhận đúng một lần</a:t>
                      </a:r>
                      <a:endParaRPr sz="2025" b="0">
                        <a:solidFill>
                          <a:srgbClr val="002060"/>
                        </a:solidFill>
                        <a:latin typeface="Arial" panose="020B0604020202020204"/>
                        <a:ea typeface="Arial" panose="020B0604020202020204"/>
                        <a:cs typeface="Arial" panose="020B0604020202020204"/>
                      </a:endParaRPr>
                    </a:p>
                    <a:p>
                      <a:r>
                        <a:rPr sz="2025" b="0">
                          <a:solidFill>
                            <a:srgbClr val="002060"/>
                          </a:solidFill>
                          <a:latin typeface="Arial" panose="020B0604020202020204"/>
                          <a:ea typeface="Arial" panose="020B0604020202020204"/>
                          <a:cs typeface="Arial" panose="020B0604020202020204"/>
                        </a:rPr>
                        <a:t>trên một chặng MQTT.</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bl>
          </a:graphicData>
        </a:graphic>
      </p:graphicFrame>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12.6 Chất lượng dịch vụ (QoS)</a:t>
            </a:r>
            <a:endParaRPr sz="3200" b="1">
              <a:solidFill>
                <a:srgbClr val="FFFFFF"/>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714375" y="5381625"/>
            <a:ext cx="10668000" cy="619125"/>
          </a:xfrm>
          <a:prstGeom prst="rect">
            <a:avLst/>
          </a:prstGeom>
          <a:noFill/>
          <a:ln w="0">
            <a:noFill/>
          </a:ln>
        </p:spPr>
        <p:txBody>
          <a:bodyPr>
            <a:noAutofit/>
          </a:bodyPr>
          <a:lstStyle/>
          <a:p>
            <a:pPr>
              <a:buNone/>
              <a:defRPr sz="2175">
                <a:solidFill>
                  <a:srgbClr val="002060"/>
                </a:solidFill>
                <a:latin typeface="Arial" panose="020B0604020202020204"/>
                <a:ea typeface="Arial" panose="020B0604020202020204"/>
                <a:cs typeface="Arial" panose="020B0604020202020204"/>
              </a:defRPr>
            </a:pPr>
            <a:r>
              <a:rPr sz="2175">
                <a:solidFill>
                  <a:srgbClr val="002060"/>
                </a:solidFill>
                <a:latin typeface="Arial" panose="020B0604020202020204"/>
                <a:ea typeface="Arial" panose="020B0604020202020204"/>
                <a:cs typeface="Arial" panose="020B0604020202020204"/>
              </a:rPr>
              <a:t>QoS cho biết mức bảo đảm giao bản tin giữa bên gửi và bên nhận.</a:t>
            </a:r>
            <a:endParaRPr sz="2175">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90F7333B-44AC-F7E9-D49D-FE92F45E0477}"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12.6 Chất lượng dịch vụ (QoS)</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12.6.2 QoS 0 và QoS 1</a:t>
            </a:r>
            <a:endParaRPr sz="2400" b="1">
              <a:solidFill>
                <a:srgbClr val="00A65A"/>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762000" y="1952625"/>
            <a:ext cx="4286250" cy="571500"/>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QoS 0</a:t>
            </a:r>
            <a:endParaRPr sz="2400" b="1">
              <a:solidFill>
                <a:srgbClr val="00A65A"/>
              </a:solidFill>
              <a:latin typeface="Arial" panose="020B0604020202020204"/>
              <a:ea typeface="Arial" panose="020B0604020202020204"/>
              <a:cs typeface="Arial" panose="020B0604020202020204"/>
            </a:endParaRPr>
          </a:p>
        </p:txBody>
      </p:sp>
      <p:sp>
        <p:nvSpPr>
          <p:cNvPr id="247" name="Hình chữ nhật 246"/>
          <p:cNvSpPr>
            <a:spLocks noGrp="1"/>
          </p:cNvSpPr>
          <p:nvPr/>
        </p:nvSpPr>
        <p:spPr>
          <a:xfrm>
            <a:off x="762000" y="2714625"/>
            <a:ext cx="1619250" cy="809625"/>
          </a:xfrm>
          <a:prstGeom prst="rect">
            <a:avLst/>
          </a:prstGeom>
          <a:solidFill>
            <a:srgbClr val="EFF8F3"/>
          </a:solidFill>
          <a:ln w="19050">
            <a:solidFill>
              <a:srgbClr val="00A65A"/>
            </a:solidFill>
          </a:ln>
        </p:spPr>
      </p:sp>
      <p:sp>
        <p:nvSpPr>
          <p:cNvPr id="248" name="Hình chữ nhật 247"/>
          <p:cNvSpPr>
            <a:spLocks noGrp="1"/>
          </p:cNvSpPr>
          <p:nvPr/>
        </p:nvSpPr>
        <p:spPr>
          <a:xfrm>
            <a:off x="895350" y="2828925"/>
            <a:ext cx="1352550" cy="619125"/>
          </a:xfrm>
          <a:prstGeom prst="rect">
            <a:avLst/>
          </a:prstGeom>
          <a:noFill/>
          <a:ln w="0">
            <a:noFill/>
          </a:ln>
        </p:spPr>
        <p:txBody>
          <a:bodyPr>
            <a:noAutofit/>
          </a:bodyPr>
          <a:lstStyle/>
          <a:p>
            <a:pPr>
              <a:buNone/>
              <a:defRPr sz="2100" b="1">
                <a:solidFill>
                  <a:srgbClr val="002060"/>
                </a:solidFill>
                <a:latin typeface="Arial" panose="020B0604020202020204"/>
                <a:ea typeface="Arial" panose="020B0604020202020204"/>
                <a:cs typeface="Arial" panose="020B0604020202020204"/>
              </a:defRPr>
            </a:pPr>
            <a:r>
              <a:rPr sz="2100" b="1">
                <a:solidFill>
                  <a:srgbClr val="002060"/>
                </a:solidFill>
                <a:latin typeface="Arial" panose="020B0604020202020204"/>
                <a:ea typeface="Arial" panose="020B0604020202020204"/>
                <a:cs typeface="Arial" panose="020B0604020202020204"/>
              </a:rPr>
              <a:t>Bên gửi</a:t>
            </a:r>
            <a:endParaRPr sz="2100" b="1">
              <a:solidFill>
                <a:srgbClr val="002060"/>
              </a:solidFill>
              <a:latin typeface="Arial" panose="020B0604020202020204"/>
              <a:ea typeface="Arial" panose="020B0604020202020204"/>
              <a:cs typeface="Arial" panose="020B0604020202020204"/>
            </a:endParaRPr>
          </a:p>
        </p:txBody>
      </p:sp>
      <p:sp>
        <p:nvSpPr>
          <p:cNvPr id="249" name="Hình chữ nhật 248"/>
          <p:cNvSpPr>
            <a:spLocks noGrp="1"/>
          </p:cNvSpPr>
          <p:nvPr/>
        </p:nvSpPr>
        <p:spPr>
          <a:xfrm>
            <a:off x="4143375" y="2714625"/>
            <a:ext cx="1714500" cy="809625"/>
          </a:xfrm>
          <a:prstGeom prst="rect">
            <a:avLst/>
          </a:prstGeom>
          <a:solidFill>
            <a:srgbClr val="EFF8F3"/>
          </a:solidFill>
          <a:ln w="19050">
            <a:solidFill>
              <a:srgbClr val="00A65A"/>
            </a:solidFill>
          </a:ln>
        </p:spPr>
      </p:sp>
      <p:sp>
        <p:nvSpPr>
          <p:cNvPr id="250" name="Hình chữ nhật 249"/>
          <p:cNvSpPr>
            <a:spLocks noGrp="1"/>
          </p:cNvSpPr>
          <p:nvPr/>
        </p:nvSpPr>
        <p:spPr>
          <a:xfrm>
            <a:off x="4276725" y="2828925"/>
            <a:ext cx="1447800" cy="619125"/>
          </a:xfrm>
          <a:prstGeom prst="rect">
            <a:avLst/>
          </a:prstGeom>
          <a:noFill/>
          <a:ln w="0">
            <a:noFill/>
          </a:ln>
        </p:spPr>
        <p:txBody>
          <a:bodyPr>
            <a:noAutofit/>
          </a:bodyPr>
          <a:lstStyle/>
          <a:p>
            <a:pPr>
              <a:buNone/>
              <a:defRPr sz="2100" b="1">
                <a:solidFill>
                  <a:srgbClr val="002060"/>
                </a:solidFill>
                <a:latin typeface="Arial" panose="020B0604020202020204"/>
                <a:ea typeface="Arial" panose="020B0604020202020204"/>
                <a:cs typeface="Arial" panose="020B0604020202020204"/>
              </a:defRPr>
            </a:pPr>
            <a:r>
              <a:rPr sz="2100" b="1">
                <a:solidFill>
                  <a:srgbClr val="002060"/>
                </a:solidFill>
                <a:latin typeface="Arial" panose="020B0604020202020204"/>
                <a:ea typeface="Arial" panose="020B0604020202020204"/>
                <a:cs typeface="Arial" panose="020B0604020202020204"/>
              </a:rPr>
              <a:t>Bên nhận</a:t>
            </a:r>
            <a:endParaRPr sz="2100" b="1">
              <a:solidFill>
                <a:srgbClr val="002060"/>
              </a:solidFill>
              <a:latin typeface="Arial" panose="020B0604020202020204"/>
              <a:ea typeface="Arial" panose="020B0604020202020204"/>
              <a:cs typeface="Arial" panose="020B0604020202020204"/>
            </a:endParaRPr>
          </a:p>
        </p:txBody>
      </p:sp>
      <p:sp>
        <p:nvSpPr>
          <p:cNvPr id="251" name="Mũi tên: Phải 250"/>
          <p:cNvSpPr>
            <a:spLocks noGrp="1"/>
          </p:cNvSpPr>
          <p:nvPr/>
        </p:nvSpPr>
        <p:spPr>
          <a:xfrm>
            <a:off x="2524125" y="3000375"/>
            <a:ext cx="1428750" cy="209550"/>
          </a:xfrm>
          <a:prstGeom prst="rightArrow">
            <a:avLst/>
          </a:prstGeom>
          <a:solidFill>
            <a:srgbClr val="00A65A"/>
          </a:solidFill>
          <a:ln w="0">
            <a:noFill/>
          </a:ln>
        </p:spPr>
      </p:sp>
      <p:sp>
        <p:nvSpPr>
          <p:cNvPr id="252" name="Hình chữ nhật 251"/>
          <p:cNvSpPr>
            <a:spLocks noGrp="1"/>
          </p:cNvSpPr>
          <p:nvPr/>
        </p:nvSpPr>
        <p:spPr>
          <a:xfrm>
            <a:off x="2571750" y="2476500"/>
            <a:ext cx="1524000" cy="428625"/>
          </a:xfrm>
          <a:prstGeom prst="rect">
            <a:avLst/>
          </a:prstGeom>
          <a:noFill/>
          <a:ln w="0">
            <a:noFill/>
          </a:ln>
        </p:spPr>
        <p:txBody>
          <a:bodyPr>
            <a:noAutofit/>
          </a:bodyPr>
          <a:lstStyle/>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PUBLISH</a:t>
            </a:r>
            <a:endParaRPr sz="1875" b="0">
              <a:solidFill>
                <a:srgbClr val="002060"/>
              </a:solidFill>
              <a:latin typeface="Arial" panose="020B0604020202020204"/>
              <a:ea typeface="Arial" panose="020B0604020202020204"/>
              <a:cs typeface="Arial" panose="020B0604020202020204"/>
            </a:endParaRPr>
          </a:p>
        </p:txBody>
      </p:sp>
      <p:sp>
        <p:nvSpPr>
          <p:cNvPr id="253" name="Hình chữ nhật 252"/>
          <p:cNvSpPr>
            <a:spLocks noGrp="1"/>
          </p:cNvSpPr>
          <p:nvPr/>
        </p:nvSpPr>
        <p:spPr>
          <a:xfrm>
            <a:off x="762000" y="3905250"/>
            <a:ext cx="4953000" cy="952500"/>
          </a:xfrm>
          <a:prstGeom prst="rect">
            <a:avLst/>
          </a:prstGeom>
          <a:noFill/>
          <a:ln w="0">
            <a:noFill/>
          </a:ln>
        </p:spPr>
        <p:txBody>
          <a:bodyPr>
            <a:noAutofit/>
          </a:bodyPr>
          <a:lstStyle/>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Không có PUBACK</a:t>
            </a:r>
            <a:endParaRPr sz="2100" b="0">
              <a:solidFill>
                <a:srgbClr val="002060"/>
              </a:solidFill>
              <a:latin typeface="Arial" panose="020B0604020202020204"/>
              <a:ea typeface="Arial" panose="020B0604020202020204"/>
              <a:cs typeface="Arial" panose="020B0604020202020204"/>
            </a:endParaRPr>
          </a:p>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Có thể mất thông điệp</a:t>
            </a:r>
            <a:endParaRPr sz="2100" b="0">
              <a:solidFill>
                <a:srgbClr val="002060"/>
              </a:solidFill>
              <a:latin typeface="Arial" panose="020B0604020202020204"/>
              <a:ea typeface="Arial" panose="020B0604020202020204"/>
              <a:cs typeface="Arial" panose="020B0604020202020204"/>
            </a:endParaRPr>
          </a:p>
        </p:txBody>
      </p:sp>
      <p:sp>
        <p:nvSpPr>
          <p:cNvPr id="254" name="Hình chữ nhật 253"/>
          <p:cNvSpPr>
            <a:spLocks noGrp="1"/>
          </p:cNvSpPr>
          <p:nvPr/>
        </p:nvSpPr>
        <p:spPr>
          <a:xfrm>
            <a:off x="6572250" y="1952625"/>
            <a:ext cx="4286250" cy="571500"/>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QoS 1</a:t>
            </a:r>
            <a:endParaRPr sz="2400" b="1">
              <a:solidFill>
                <a:srgbClr val="00A65A"/>
              </a:solidFill>
              <a:latin typeface="Arial" panose="020B0604020202020204"/>
              <a:ea typeface="Arial" panose="020B0604020202020204"/>
              <a:cs typeface="Arial" panose="020B0604020202020204"/>
            </a:endParaRPr>
          </a:p>
        </p:txBody>
      </p:sp>
      <p:sp>
        <p:nvSpPr>
          <p:cNvPr id="255" name="Hình chữ nhật 254"/>
          <p:cNvSpPr>
            <a:spLocks noGrp="1"/>
          </p:cNvSpPr>
          <p:nvPr/>
        </p:nvSpPr>
        <p:spPr>
          <a:xfrm>
            <a:off x="6572250" y="2714625"/>
            <a:ext cx="1619250" cy="809625"/>
          </a:xfrm>
          <a:prstGeom prst="rect">
            <a:avLst/>
          </a:prstGeom>
          <a:solidFill>
            <a:srgbClr val="EFF8F3"/>
          </a:solidFill>
          <a:ln w="19050">
            <a:solidFill>
              <a:srgbClr val="00A65A"/>
            </a:solidFill>
          </a:ln>
        </p:spPr>
      </p:sp>
      <p:sp>
        <p:nvSpPr>
          <p:cNvPr id="256" name="Hình chữ nhật 255"/>
          <p:cNvSpPr>
            <a:spLocks noGrp="1"/>
          </p:cNvSpPr>
          <p:nvPr/>
        </p:nvSpPr>
        <p:spPr>
          <a:xfrm>
            <a:off x="6705600" y="2828925"/>
            <a:ext cx="1352550" cy="619125"/>
          </a:xfrm>
          <a:prstGeom prst="rect">
            <a:avLst/>
          </a:prstGeom>
          <a:noFill/>
          <a:ln w="0">
            <a:noFill/>
          </a:ln>
        </p:spPr>
        <p:txBody>
          <a:bodyPr>
            <a:noAutofit/>
          </a:bodyPr>
          <a:lstStyle/>
          <a:p>
            <a:pPr>
              <a:buNone/>
              <a:defRPr sz="2100" b="1">
                <a:solidFill>
                  <a:srgbClr val="002060"/>
                </a:solidFill>
                <a:latin typeface="Arial" panose="020B0604020202020204"/>
                <a:ea typeface="Arial" panose="020B0604020202020204"/>
                <a:cs typeface="Arial" panose="020B0604020202020204"/>
              </a:defRPr>
            </a:pPr>
            <a:r>
              <a:rPr sz="2100" b="1">
                <a:solidFill>
                  <a:srgbClr val="002060"/>
                </a:solidFill>
                <a:latin typeface="Arial" panose="020B0604020202020204"/>
                <a:ea typeface="Arial" panose="020B0604020202020204"/>
                <a:cs typeface="Arial" panose="020B0604020202020204"/>
              </a:rPr>
              <a:t>Bên gửi</a:t>
            </a:r>
            <a:endParaRPr sz="2100" b="1">
              <a:solidFill>
                <a:srgbClr val="002060"/>
              </a:solidFill>
              <a:latin typeface="Arial" panose="020B0604020202020204"/>
              <a:ea typeface="Arial" panose="020B0604020202020204"/>
              <a:cs typeface="Arial" panose="020B0604020202020204"/>
            </a:endParaRPr>
          </a:p>
        </p:txBody>
      </p:sp>
      <p:sp>
        <p:nvSpPr>
          <p:cNvPr id="257" name="Hình chữ nhật 256"/>
          <p:cNvSpPr>
            <a:spLocks noGrp="1"/>
          </p:cNvSpPr>
          <p:nvPr/>
        </p:nvSpPr>
        <p:spPr>
          <a:xfrm>
            <a:off x="9858375" y="2714625"/>
            <a:ext cx="1714500" cy="809625"/>
          </a:xfrm>
          <a:prstGeom prst="rect">
            <a:avLst/>
          </a:prstGeom>
          <a:solidFill>
            <a:srgbClr val="EFF8F3"/>
          </a:solidFill>
          <a:ln w="19050">
            <a:solidFill>
              <a:srgbClr val="00A65A"/>
            </a:solidFill>
          </a:ln>
        </p:spPr>
      </p:sp>
      <p:sp>
        <p:nvSpPr>
          <p:cNvPr id="258" name="Hình chữ nhật 257"/>
          <p:cNvSpPr>
            <a:spLocks noGrp="1"/>
          </p:cNvSpPr>
          <p:nvPr/>
        </p:nvSpPr>
        <p:spPr>
          <a:xfrm>
            <a:off x="9991725" y="2828925"/>
            <a:ext cx="1447800" cy="619125"/>
          </a:xfrm>
          <a:prstGeom prst="rect">
            <a:avLst/>
          </a:prstGeom>
          <a:noFill/>
          <a:ln w="0">
            <a:noFill/>
          </a:ln>
        </p:spPr>
        <p:txBody>
          <a:bodyPr>
            <a:noAutofit/>
          </a:bodyPr>
          <a:lstStyle/>
          <a:p>
            <a:pPr>
              <a:buNone/>
              <a:defRPr sz="2100" b="1">
                <a:solidFill>
                  <a:srgbClr val="002060"/>
                </a:solidFill>
                <a:latin typeface="Arial" panose="020B0604020202020204"/>
                <a:ea typeface="Arial" panose="020B0604020202020204"/>
                <a:cs typeface="Arial" panose="020B0604020202020204"/>
              </a:defRPr>
            </a:pPr>
            <a:r>
              <a:rPr sz="2100" b="1">
                <a:solidFill>
                  <a:srgbClr val="002060"/>
                </a:solidFill>
                <a:latin typeface="Arial" panose="020B0604020202020204"/>
                <a:ea typeface="Arial" panose="020B0604020202020204"/>
                <a:cs typeface="Arial" panose="020B0604020202020204"/>
              </a:rPr>
              <a:t>Bên nhận</a:t>
            </a:r>
            <a:endParaRPr sz="2100" b="1">
              <a:solidFill>
                <a:srgbClr val="002060"/>
              </a:solidFill>
              <a:latin typeface="Arial" panose="020B0604020202020204"/>
              <a:ea typeface="Arial" panose="020B0604020202020204"/>
              <a:cs typeface="Arial" panose="020B0604020202020204"/>
            </a:endParaRPr>
          </a:p>
        </p:txBody>
      </p:sp>
      <p:sp>
        <p:nvSpPr>
          <p:cNvPr id="259" name="Mũi tên: Phải 258"/>
          <p:cNvSpPr>
            <a:spLocks noGrp="1"/>
          </p:cNvSpPr>
          <p:nvPr/>
        </p:nvSpPr>
        <p:spPr>
          <a:xfrm>
            <a:off x="8334375" y="2876550"/>
            <a:ext cx="1381125" cy="209550"/>
          </a:xfrm>
          <a:prstGeom prst="rightArrow">
            <a:avLst/>
          </a:prstGeom>
          <a:solidFill>
            <a:srgbClr val="00A65A"/>
          </a:solidFill>
          <a:ln w="0">
            <a:noFill/>
          </a:ln>
        </p:spPr>
      </p:sp>
      <p:sp>
        <p:nvSpPr>
          <p:cNvPr id="260" name="Mũi tên: Trái 259"/>
          <p:cNvSpPr>
            <a:spLocks noGrp="1"/>
          </p:cNvSpPr>
          <p:nvPr/>
        </p:nvSpPr>
        <p:spPr>
          <a:xfrm>
            <a:off x="8334375" y="3333750"/>
            <a:ext cx="1381125" cy="209550"/>
          </a:xfrm>
          <a:prstGeom prst="leftArrow">
            <a:avLst/>
          </a:prstGeom>
          <a:solidFill>
            <a:srgbClr val="00A65A"/>
          </a:solidFill>
          <a:ln w="0">
            <a:noFill/>
          </a:ln>
        </p:spPr>
      </p:sp>
      <p:sp>
        <p:nvSpPr>
          <p:cNvPr id="261" name="Hình chữ nhật 260"/>
          <p:cNvSpPr>
            <a:spLocks noGrp="1"/>
          </p:cNvSpPr>
          <p:nvPr/>
        </p:nvSpPr>
        <p:spPr>
          <a:xfrm>
            <a:off x="8334375" y="2428875"/>
            <a:ext cx="1381125" cy="428625"/>
          </a:xfrm>
          <a:prstGeom prst="rect">
            <a:avLst/>
          </a:prstGeom>
          <a:noFill/>
          <a:ln w="0">
            <a:noFill/>
          </a:ln>
        </p:spPr>
        <p:txBody>
          <a:bodyPr>
            <a:noAutofit/>
          </a:bodyPr>
          <a:lstStyle/>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PUBLISH</a:t>
            </a:r>
            <a:endParaRPr sz="1875" b="0">
              <a:solidFill>
                <a:srgbClr val="002060"/>
              </a:solidFill>
              <a:latin typeface="Arial" panose="020B0604020202020204"/>
              <a:ea typeface="Arial" panose="020B0604020202020204"/>
              <a:cs typeface="Arial" panose="020B0604020202020204"/>
            </a:endParaRPr>
          </a:p>
        </p:txBody>
      </p:sp>
      <p:sp>
        <p:nvSpPr>
          <p:cNvPr id="262" name="Hình chữ nhật 261"/>
          <p:cNvSpPr>
            <a:spLocks noGrp="1"/>
          </p:cNvSpPr>
          <p:nvPr/>
        </p:nvSpPr>
        <p:spPr>
          <a:xfrm>
            <a:off x="8334375" y="3638550"/>
            <a:ext cx="1381125" cy="428625"/>
          </a:xfrm>
          <a:prstGeom prst="rect">
            <a:avLst/>
          </a:prstGeom>
          <a:noFill/>
          <a:ln w="0">
            <a:noFill/>
          </a:ln>
        </p:spPr>
        <p:txBody>
          <a:bodyPr>
            <a:noAutofit/>
          </a:bodyPr>
          <a:lstStyle/>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PUBACK</a:t>
            </a:r>
            <a:endParaRPr sz="1875" b="0">
              <a:solidFill>
                <a:srgbClr val="002060"/>
              </a:solidFill>
              <a:latin typeface="Arial" panose="020B0604020202020204"/>
              <a:ea typeface="Arial" panose="020B0604020202020204"/>
              <a:cs typeface="Arial" panose="020B0604020202020204"/>
            </a:endParaRPr>
          </a:p>
        </p:txBody>
      </p:sp>
      <p:sp>
        <p:nvSpPr>
          <p:cNvPr id="263" name="Hình chữ nhật 262"/>
          <p:cNvSpPr>
            <a:spLocks noGrp="1"/>
          </p:cNvSpPr>
          <p:nvPr/>
        </p:nvSpPr>
        <p:spPr>
          <a:xfrm>
            <a:off x="6572250" y="4191000"/>
            <a:ext cx="4762500" cy="857250"/>
          </a:xfrm>
          <a:prstGeom prst="rect">
            <a:avLst/>
          </a:prstGeom>
          <a:noFill/>
          <a:ln w="0">
            <a:noFill/>
          </a:ln>
        </p:spPr>
        <p:txBody>
          <a:bodyPr>
            <a:noAutofit/>
          </a:bodyPr>
          <a:lstStyle/>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Có xác nhận MQTT</a:t>
            </a:r>
            <a:endParaRPr sz="2100" b="0">
              <a:solidFill>
                <a:srgbClr val="002060"/>
              </a:solidFill>
              <a:latin typeface="Arial" panose="020B0604020202020204"/>
              <a:ea typeface="Arial" panose="020B0604020202020204"/>
              <a:cs typeface="Arial" panose="020B0604020202020204"/>
            </a:endParaRPr>
          </a:p>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Có thể nhận trùng</a:t>
            </a:r>
            <a:endParaRPr sz="2100" b="0">
              <a:solidFill>
                <a:srgbClr val="002060"/>
              </a:solidFill>
              <a:latin typeface="Arial" panose="020B0604020202020204"/>
              <a:ea typeface="Arial" panose="020B0604020202020204"/>
              <a:cs typeface="Arial" panose="020B0604020202020204"/>
            </a:endParaRPr>
          </a:p>
        </p:txBody>
      </p:sp>
      <p:sp>
        <p:nvSpPr>
          <p:cNvPr id="264" name="Hình chữ nhật 263"/>
          <p:cNvSpPr>
            <a:spLocks noGrp="1"/>
          </p:cNvSpPr>
          <p:nvPr/>
        </p:nvSpPr>
        <p:spPr>
          <a:xfrm>
            <a:off x="762000" y="5429250"/>
            <a:ext cx="10572750" cy="571500"/>
          </a:xfrm>
          <a:prstGeom prst="rect">
            <a:avLst/>
          </a:prstGeom>
          <a:noFill/>
          <a:ln w="0">
            <a:noFill/>
          </a:ln>
        </p:spPr>
        <p:txBody>
          <a:bodyPr>
            <a:noAutofit/>
          </a:bodyPr>
          <a:lstStyle/>
          <a:p>
            <a:pPr>
              <a:buNone/>
              <a:defRPr sz="2025" b="1">
                <a:solidFill>
                  <a:srgbClr val="002060"/>
                </a:solidFill>
                <a:latin typeface="Arial" panose="020B0604020202020204"/>
                <a:ea typeface="Arial" panose="020B0604020202020204"/>
                <a:cs typeface="Arial" panose="020B0604020202020204"/>
              </a:defRPr>
            </a:pPr>
            <a:r>
              <a:rPr sz="2025" b="1">
                <a:solidFill>
                  <a:srgbClr val="002060"/>
                </a:solidFill>
                <a:latin typeface="Arial" panose="020B0604020202020204"/>
                <a:ea typeface="Arial" panose="020B0604020202020204"/>
                <a:cs typeface="Arial" panose="020B0604020202020204"/>
              </a:rPr>
              <a:t>TCP ACK xác nhận byte TCP. PUBACK xác nhận PUBLISH ở QoS 1.</a:t>
            </a:r>
            <a:endParaRPr sz="2025" b="1">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B1C6C81E-38B9-7560-621D-5A151A79DF9B}"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12.6.3 QoS 2 trên một chặng</a:t>
            </a:r>
            <a:endParaRPr sz="2400" b="1">
              <a:solidFill>
                <a:srgbClr val="00A95C"/>
              </a:solidFill>
              <a:latin typeface="Arial" panose="020B0604020202020204"/>
              <a:ea typeface="Arial" panose="020B0604020202020204"/>
              <a:cs typeface="Arial" panose="020B0604020202020204"/>
            </a:endParaRPr>
          </a:p>
        </p:txBody>
      </p:sp>
      <p:sp>
        <p:nvSpPr>
          <p:cNvPr id="243" name="Hình chữ nhật 242"/>
          <p:cNvSpPr>
            <a:spLocks noGrp="1"/>
          </p:cNvSpPr>
          <p:nvPr/>
        </p:nvSpPr>
        <p:spPr>
          <a:xfrm>
            <a:off x="857250" y="1762125"/>
            <a:ext cx="2762250" cy="571500"/>
          </a:xfrm>
          <a:prstGeom prst="rect">
            <a:avLst/>
          </a:prstGeom>
          <a:noFill/>
          <a:ln w="0">
            <a:noFill/>
          </a:ln>
        </p:spPr>
        <p:txBody>
          <a:bodyPr>
            <a:noAutofit/>
          </a:bodyPr>
          <a:lstStyle/>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BÊN GỬI</a:t>
            </a:r>
            <a:endParaRPr sz="2400" b="1">
              <a:solidFill>
                <a:srgbClr val="002060"/>
              </a:solidFill>
              <a:latin typeface="Arial" panose="020B0604020202020204"/>
              <a:ea typeface="Arial" panose="020B0604020202020204"/>
              <a:cs typeface="Arial" panose="020B0604020202020204"/>
            </a:endParaRPr>
          </a:p>
        </p:txBody>
      </p:sp>
      <p:sp>
        <p:nvSpPr>
          <p:cNvPr id="244" name="Hình chữ nhật 243"/>
          <p:cNvSpPr>
            <a:spLocks noGrp="1"/>
          </p:cNvSpPr>
          <p:nvPr/>
        </p:nvSpPr>
        <p:spPr>
          <a:xfrm>
            <a:off x="8715375" y="1762125"/>
            <a:ext cx="2762250" cy="571500"/>
          </a:xfrm>
          <a:prstGeom prst="rect">
            <a:avLst/>
          </a:prstGeom>
          <a:noFill/>
          <a:ln w="0">
            <a:noFill/>
          </a:ln>
        </p:spPr>
        <p:txBody>
          <a:bodyPr>
            <a:noAutofit/>
          </a:bodyPr>
          <a:lstStyle/>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BÊN NHẬN</a:t>
            </a:r>
            <a:endParaRPr sz="2400" b="1">
              <a:solidFill>
                <a:srgbClr val="002060"/>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3048000" y="2238375"/>
            <a:ext cx="5619750" cy="495300"/>
          </a:xfrm>
          <a:prstGeom prst="rect">
            <a:avLst/>
          </a:prstGeom>
          <a:noFill/>
          <a:ln w="0">
            <a:noFill/>
          </a:ln>
        </p:spPr>
        <p:txBody>
          <a:bodyPr>
            <a:noAutofit/>
          </a:bodyPr>
          <a:lstStyle/>
          <a:p>
            <a:pPr>
              <a:buNone/>
              <a:defRPr sz="2175" b="1">
                <a:solidFill>
                  <a:srgbClr val="002060"/>
                </a:solidFill>
                <a:latin typeface="Arial" panose="020B0604020202020204"/>
                <a:ea typeface="Arial" panose="020B0604020202020204"/>
                <a:cs typeface="Arial" panose="020B0604020202020204"/>
              </a:defRPr>
            </a:pPr>
            <a:r>
              <a:rPr sz="2175" b="1">
                <a:solidFill>
                  <a:srgbClr val="002060"/>
                </a:solidFill>
                <a:latin typeface="Arial" panose="020B0604020202020204"/>
                <a:ea typeface="Arial" panose="020B0604020202020204"/>
                <a:cs typeface="Arial" panose="020B0604020202020204"/>
              </a:rPr>
              <a:t>1 PUBLISH: gửi thông điệp</a:t>
            </a:r>
            <a:endParaRPr sz="2175" b="1">
              <a:solidFill>
                <a:srgbClr val="002060"/>
              </a:solidFill>
              <a:latin typeface="Arial" panose="020B0604020202020204"/>
              <a:ea typeface="Arial" panose="020B0604020202020204"/>
              <a:cs typeface="Arial" panose="020B0604020202020204"/>
            </a:endParaRPr>
          </a:p>
        </p:txBody>
      </p:sp>
      <p:sp>
        <p:nvSpPr>
          <p:cNvPr id="246" name="Mũi tên: Phải 245"/>
          <p:cNvSpPr>
            <a:spLocks noGrp="1"/>
          </p:cNvSpPr>
          <p:nvPr/>
        </p:nvSpPr>
        <p:spPr>
          <a:xfrm>
            <a:off x="3048000" y="2714625"/>
            <a:ext cx="5476875" cy="171450"/>
          </a:xfrm>
          <a:prstGeom prst="rightArrow">
            <a:avLst/>
          </a:prstGeom>
          <a:solidFill>
            <a:srgbClr val="00A95C"/>
          </a:solidFill>
          <a:ln w="0">
            <a:solidFill>
              <a:srgbClr val="00A95C"/>
            </a:solidFill>
          </a:ln>
        </p:spPr>
      </p:sp>
      <p:sp>
        <p:nvSpPr>
          <p:cNvPr id="247" name="Hình chữ nhật 246"/>
          <p:cNvSpPr>
            <a:spLocks noGrp="1"/>
          </p:cNvSpPr>
          <p:nvPr/>
        </p:nvSpPr>
        <p:spPr>
          <a:xfrm>
            <a:off x="3048000" y="2981325"/>
            <a:ext cx="5619750" cy="495300"/>
          </a:xfrm>
          <a:prstGeom prst="rect">
            <a:avLst/>
          </a:prstGeom>
          <a:noFill/>
          <a:ln w="0">
            <a:noFill/>
          </a:ln>
        </p:spPr>
        <p:txBody>
          <a:bodyPr>
            <a:noAutofit/>
          </a:bodyPr>
          <a:lstStyle/>
          <a:p>
            <a:pPr>
              <a:buNone/>
              <a:defRPr sz="2175" b="1">
                <a:solidFill>
                  <a:srgbClr val="002060"/>
                </a:solidFill>
                <a:latin typeface="Arial" panose="020B0604020202020204"/>
                <a:ea typeface="Arial" panose="020B0604020202020204"/>
                <a:cs typeface="Arial" panose="020B0604020202020204"/>
              </a:defRPr>
            </a:pPr>
            <a:r>
              <a:rPr sz="2175" b="1">
                <a:solidFill>
                  <a:srgbClr val="002060"/>
                </a:solidFill>
                <a:latin typeface="Arial" panose="020B0604020202020204"/>
                <a:ea typeface="Arial" panose="020B0604020202020204"/>
                <a:cs typeface="Arial" panose="020B0604020202020204"/>
              </a:rPr>
              <a:t>2 PUBREC: đã nhận PUBLISH</a:t>
            </a:r>
            <a:endParaRPr sz="2175" b="1">
              <a:solidFill>
                <a:srgbClr val="002060"/>
              </a:solidFill>
              <a:latin typeface="Arial" panose="020B0604020202020204"/>
              <a:ea typeface="Arial" panose="020B0604020202020204"/>
              <a:cs typeface="Arial" panose="020B0604020202020204"/>
            </a:endParaRPr>
          </a:p>
        </p:txBody>
      </p:sp>
      <p:sp>
        <p:nvSpPr>
          <p:cNvPr id="248" name="Mũi tên: Trái 247"/>
          <p:cNvSpPr>
            <a:spLocks noGrp="1"/>
          </p:cNvSpPr>
          <p:nvPr/>
        </p:nvSpPr>
        <p:spPr>
          <a:xfrm>
            <a:off x="3048000" y="3457575"/>
            <a:ext cx="5476875" cy="171450"/>
          </a:xfrm>
          <a:prstGeom prst="leftArrow">
            <a:avLst/>
          </a:prstGeom>
          <a:solidFill>
            <a:srgbClr val="00A95C"/>
          </a:solidFill>
          <a:ln w="0">
            <a:solidFill>
              <a:srgbClr val="00A95C"/>
            </a:solidFill>
          </a:ln>
        </p:spPr>
      </p:sp>
      <p:sp>
        <p:nvSpPr>
          <p:cNvPr id="249" name="Hình chữ nhật 248"/>
          <p:cNvSpPr>
            <a:spLocks noGrp="1"/>
          </p:cNvSpPr>
          <p:nvPr/>
        </p:nvSpPr>
        <p:spPr>
          <a:xfrm>
            <a:off x="3048000" y="3724275"/>
            <a:ext cx="5619750" cy="495300"/>
          </a:xfrm>
          <a:prstGeom prst="rect">
            <a:avLst/>
          </a:prstGeom>
          <a:noFill/>
          <a:ln w="0">
            <a:noFill/>
          </a:ln>
        </p:spPr>
        <p:txBody>
          <a:bodyPr>
            <a:noAutofit/>
          </a:bodyPr>
          <a:lstStyle/>
          <a:p>
            <a:pPr>
              <a:buNone/>
              <a:defRPr sz="2175" b="1">
                <a:solidFill>
                  <a:srgbClr val="002060"/>
                </a:solidFill>
                <a:latin typeface="Arial" panose="020B0604020202020204"/>
                <a:ea typeface="Arial" panose="020B0604020202020204"/>
                <a:cs typeface="Arial" panose="020B0604020202020204"/>
              </a:defRPr>
            </a:pPr>
            <a:r>
              <a:rPr sz="2175" b="1">
                <a:solidFill>
                  <a:srgbClr val="002060"/>
                </a:solidFill>
                <a:latin typeface="Arial" panose="020B0604020202020204"/>
                <a:ea typeface="Arial" panose="020B0604020202020204"/>
                <a:cs typeface="Arial" panose="020B0604020202020204"/>
              </a:rPr>
              <a:t>3 PUBREL: xác nhận đã nhận PUBREC</a:t>
            </a:r>
            <a:endParaRPr sz="2175" b="1">
              <a:solidFill>
                <a:srgbClr val="002060"/>
              </a:solidFill>
              <a:latin typeface="Arial" panose="020B0604020202020204"/>
              <a:ea typeface="Arial" panose="020B0604020202020204"/>
              <a:cs typeface="Arial" panose="020B0604020202020204"/>
            </a:endParaRPr>
          </a:p>
        </p:txBody>
      </p:sp>
      <p:sp>
        <p:nvSpPr>
          <p:cNvPr id="250" name="Mũi tên: Phải 249"/>
          <p:cNvSpPr>
            <a:spLocks noGrp="1"/>
          </p:cNvSpPr>
          <p:nvPr/>
        </p:nvSpPr>
        <p:spPr>
          <a:xfrm>
            <a:off x="3048000" y="4200525"/>
            <a:ext cx="5476875" cy="171450"/>
          </a:xfrm>
          <a:prstGeom prst="rightArrow">
            <a:avLst/>
          </a:prstGeom>
          <a:solidFill>
            <a:srgbClr val="00A95C"/>
          </a:solidFill>
          <a:ln w="0">
            <a:solidFill>
              <a:srgbClr val="00A95C"/>
            </a:solidFill>
          </a:ln>
        </p:spPr>
      </p:sp>
      <p:sp>
        <p:nvSpPr>
          <p:cNvPr id="251" name="Hình chữ nhật 250"/>
          <p:cNvSpPr>
            <a:spLocks noGrp="1"/>
          </p:cNvSpPr>
          <p:nvPr/>
        </p:nvSpPr>
        <p:spPr>
          <a:xfrm>
            <a:off x="3048000" y="4467225"/>
            <a:ext cx="5619750" cy="495300"/>
          </a:xfrm>
          <a:prstGeom prst="rect">
            <a:avLst/>
          </a:prstGeom>
          <a:noFill/>
          <a:ln w="0">
            <a:noFill/>
          </a:ln>
        </p:spPr>
        <p:txBody>
          <a:bodyPr>
            <a:noAutofit/>
          </a:bodyPr>
          <a:lstStyle/>
          <a:p>
            <a:pPr>
              <a:buNone/>
              <a:defRPr sz="2175" b="1">
                <a:solidFill>
                  <a:srgbClr val="002060"/>
                </a:solidFill>
                <a:latin typeface="Arial" panose="020B0604020202020204"/>
                <a:ea typeface="Arial" panose="020B0604020202020204"/>
                <a:cs typeface="Arial" panose="020B0604020202020204"/>
              </a:defRPr>
            </a:pPr>
            <a:r>
              <a:rPr sz="2175" b="1">
                <a:solidFill>
                  <a:srgbClr val="002060"/>
                </a:solidFill>
                <a:latin typeface="Arial" panose="020B0604020202020204"/>
                <a:ea typeface="Arial" panose="020B0604020202020204"/>
                <a:cs typeface="Arial" panose="020B0604020202020204"/>
              </a:rPr>
              <a:t>4 PUBCOMP: hoàn tất trao đổi</a:t>
            </a:r>
            <a:endParaRPr sz="2175" b="1">
              <a:solidFill>
                <a:srgbClr val="002060"/>
              </a:solidFill>
              <a:latin typeface="Arial" panose="020B0604020202020204"/>
              <a:ea typeface="Arial" panose="020B0604020202020204"/>
              <a:cs typeface="Arial" panose="020B0604020202020204"/>
            </a:endParaRPr>
          </a:p>
        </p:txBody>
      </p:sp>
      <p:sp>
        <p:nvSpPr>
          <p:cNvPr id="252" name="Mũi tên: Trái 251"/>
          <p:cNvSpPr>
            <a:spLocks noGrp="1"/>
          </p:cNvSpPr>
          <p:nvPr/>
        </p:nvSpPr>
        <p:spPr>
          <a:xfrm>
            <a:off x="3048000" y="4943475"/>
            <a:ext cx="5476875" cy="171450"/>
          </a:xfrm>
          <a:prstGeom prst="leftArrow">
            <a:avLst/>
          </a:prstGeom>
          <a:solidFill>
            <a:srgbClr val="00A95C"/>
          </a:solidFill>
          <a:ln w="0">
            <a:solidFill>
              <a:srgbClr val="00A95C"/>
            </a:solidFill>
          </a:ln>
        </p:spPr>
      </p:sp>
      <p:sp>
        <p:nvSpPr>
          <p:cNvPr id="253" name="Hình chữ nhật 252"/>
          <p:cNvSpPr>
            <a:spLocks noGrp="1"/>
          </p:cNvSpPr>
          <p:nvPr/>
        </p:nvSpPr>
        <p:spPr>
          <a:xfrm>
            <a:off x="762000" y="5810250"/>
            <a:ext cx="10668000" cy="523875"/>
          </a:xfrm>
          <a:prstGeom prst="rect">
            <a:avLst/>
          </a:prstGeom>
          <a:noFill/>
          <a:ln w="0">
            <a:noFill/>
          </a:ln>
        </p:spPr>
        <p:txBody>
          <a:bodyPr>
            <a:noAutofit/>
          </a:bodyPr>
          <a:lstStyle/>
          <a:p>
            <a:pPr>
              <a:buNone/>
              <a:defRPr sz="1950" b="0">
                <a:solidFill>
                  <a:srgbClr val="002060"/>
                </a:solidFill>
                <a:latin typeface="Arial" panose="020B0604020202020204"/>
                <a:ea typeface="Arial" panose="020B0604020202020204"/>
                <a:cs typeface="Arial" panose="020B0604020202020204"/>
              </a:defRPr>
            </a:pPr>
            <a:r>
              <a:rPr sz="1950" b="0">
                <a:solidFill>
                  <a:srgbClr val="002060"/>
                </a:solidFill>
                <a:latin typeface="Arial" panose="020B0604020202020204"/>
                <a:ea typeface="Arial" panose="020B0604020202020204"/>
                <a:cs typeface="Arial" panose="020B0604020202020204"/>
              </a:rPr>
              <a:t>QoS 2 giao đúng một lần trong một chặng MQTT; vẫn cần kiểm tra kết quả ở ứng dụng</a:t>
            </a:r>
            <a:endParaRPr sz="1950" b="0">
              <a:solidFill>
                <a:srgbClr val="002060"/>
              </a:solidFill>
              <a:latin typeface="Arial" panose="020B0604020202020204"/>
              <a:ea typeface="Arial" panose="020B0604020202020204"/>
              <a:cs typeface="Arial" panose="020B0604020202020204"/>
            </a:endParaRPr>
          </a:p>
        </p:txBody>
      </p:sp>
      <p:sp>
        <p:nvSpPr>
          <p:cNvPr id="254" name="Hình chữ nhật 25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12.6 Chất lượng dịch vụ (QoS)</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CCF91274-D221-1BB4-3BF9-836E3AD31EBE}"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12.6 Chất lượng dịch vụ (QoS)</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12.6.4 Hai chặng MQTT trong mô hình HA</a:t>
            </a:r>
            <a:endParaRPr sz="2400" b="1">
              <a:solidFill>
                <a:srgbClr val="00A65A"/>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666750" y="2667000"/>
            <a:ext cx="2428875" cy="1095375"/>
          </a:xfrm>
          <a:prstGeom prst="rect">
            <a:avLst/>
          </a:prstGeom>
          <a:solidFill>
            <a:srgbClr val="EFF8F3"/>
          </a:solidFill>
          <a:ln w="19050">
            <a:solidFill>
              <a:srgbClr val="00A65A"/>
            </a:solidFill>
          </a:ln>
        </p:spPr>
      </p:sp>
      <p:sp>
        <p:nvSpPr>
          <p:cNvPr id="247" name="Hình chữ nhật 246"/>
          <p:cNvSpPr>
            <a:spLocks noGrp="1"/>
          </p:cNvSpPr>
          <p:nvPr/>
        </p:nvSpPr>
        <p:spPr>
          <a:xfrm>
            <a:off x="800100" y="2781300"/>
            <a:ext cx="2162175" cy="904875"/>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ESP32</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Publisher</a:t>
            </a:r>
            <a:endParaRPr sz="2250" b="1">
              <a:solidFill>
                <a:srgbClr val="002060"/>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4238625" y="1952625"/>
            <a:ext cx="7191375" cy="3143250"/>
          </a:xfrm>
          <a:prstGeom prst="rect">
            <a:avLst/>
          </a:prstGeom>
          <a:solidFill>
            <a:srgbClr val="EFF8F3"/>
          </a:solidFill>
          <a:ln w="19050">
            <a:solidFill>
              <a:srgbClr val="00A65A"/>
            </a:solidFill>
          </a:ln>
        </p:spPr>
      </p:sp>
      <p:sp>
        <p:nvSpPr>
          <p:cNvPr id="249" name="Hình chữ nhật 248"/>
          <p:cNvSpPr>
            <a:spLocks noGrp="1"/>
          </p:cNvSpPr>
          <p:nvPr/>
        </p:nvSpPr>
        <p:spPr>
          <a:xfrm>
            <a:off x="4371975" y="2066925"/>
            <a:ext cx="6924675" cy="2952750"/>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Máy chạy Home Assistant</a:t>
            </a:r>
            <a:endParaRPr sz="2250" b="1">
              <a:solidFill>
                <a:srgbClr val="002060"/>
              </a:solidFill>
              <a:latin typeface="Arial" panose="020B0604020202020204"/>
              <a:ea typeface="Arial" panose="020B0604020202020204"/>
              <a:cs typeface="Arial" panose="020B0604020202020204"/>
            </a:endParaRPr>
          </a:p>
        </p:txBody>
      </p:sp>
      <p:sp>
        <p:nvSpPr>
          <p:cNvPr id="250" name="Hình chữ nhật 249"/>
          <p:cNvSpPr>
            <a:spLocks noGrp="1"/>
          </p:cNvSpPr>
          <p:nvPr/>
        </p:nvSpPr>
        <p:spPr>
          <a:xfrm>
            <a:off x="4572000" y="3048000"/>
            <a:ext cx="2571750" cy="1095375"/>
          </a:xfrm>
          <a:prstGeom prst="rect">
            <a:avLst/>
          </a:prstGeom>
          <a:solidFill>
            <a:srgbClr val="EFF8F3"/>
          </a:solidFill>
          <a:ln w="19050">
            <a:solidFill>
              <a:srgbClr val="00A65A"/>
            </a:solidFill>
          </a:ln>
        </p:spPr>
      </p:sp>
      <p:sp>
        <p:nvSpPr>
          <p:cNvPr id="251" name="Hình chữ nhật 250"/>
          <p:cNvSpPr>
            <a:spLocks noGrp="1"/>
          </p:cNvSpPr>
          <p:nvPr/>
        </p:nvSpPr>
        <p:spPr>
          <a:xfrm>
            <a:off x="4705350" y="3162300"/>
            <a:ext cx="2305050" cy="904875"/>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Mosquitto</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Broker</a:t>
            </a:r>
            <a:endParaRPr sz="2250" b="1">
              <a:solidFill>
                <a:srgbClr val="002060"/>
              </a:solidFill>
              <a:latin typeface="Arial" panose="020B0604020202020204"/>
              <a:ea typeface="Arial" panose="020B0604020202020204"/>
              <a:cs typeface="Arial" panose="020B0604020202020204"/>
            </a:endParaRPr>
          </a:p>
        </p:txBody>
      </p:sp>
      <p:sp>
        <p:nvSpPr>
          <p:cNvPr id="252" name="Hình chữ nhật 251"/>
          <p:cNvSpPr>
            <a:spLocks noGrp="1"/>
          </p:cNvSpPr>
          <p:nvPr/>
        </p:nvSpPr>
        <p:spPr>
          <a:xfrm>
            <a:off x="8382000" y="3048000"/>
            <a:ext cx="2667000" cy="1095375"/>
          </a:xfrm>
          <a:prstGeom prst="rect">
            <a:avLst/>
          </a:prstGeom>
          <a:solidFill>
            <a:srgbClr val="EFF8F3"/>
          </a:solidFill>
          <a:ln w="19050">
            <a:solidFill>
              <a:srgbClr val="00A65A"/>
            </a:solidFill>
          </a:ln>
        </p:spPr>
      </p:sp>
      <p:sp>
        <p:nvSpPr>
          <p:cNvPr id="253" name="Hình chữ nhật 252"/>
          <p:cNvSpPr>
            <a:spLocks noGrp="1"/>
          </p:cNvSpPr>
          <p:nvPr/>
        </p:nvSpPr>
        <p:spPr>
          <a:xfrm>
            <a:off x="8515350" y="3162300"/>
            <a:ext cx="2400300" cy="904875"/>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Home Assistant</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MQTT client</a:t>
            </a:r>
            <a:endParaRPr sz="2250" b="1">
              <a:solidFill>
                <a:srgbClr val="002060"/>
              </a:solidFill>
              <a:latin typeface="Arial" panose="020B0604020202020204"/>
              <a:ea typeface="Arial" panose="020B0604020202020204"/>
              <a:cs typeface="Arial" panose="020B0604020202020204"/>
            </a:endParaRPr>
          </a:p>
        </p:txBody>
      </p:sp>
      <p:sp>
        <p:nvSpPr>
          <p:cNvPr id="254" name="Mũi tên: Phải 253"/>
          <p:cNvSpPr>
            <a:spLocks noGrp="1"/>
          </p:cNvSpPr>
          <p:nvPr/>
        </p:nvSpPr>
        <p:spPr>
          <a:xfrm>
            <a:off x="3238500" y="3143250"/>
            <a:ext cx="1190625" cy="209550"/>
          </a:xfrm>
          <a:prstGeom prst="rightArrow">
            <a:avLst/>
          </a:prstGeom>
          <a:solidFill>
            <a:srgbClr val="00A65A"/>
          </a:solidFill>
          <a:ln w="0">
            <a:noFill/>
          </a:ln>
        </p:spPr>
      </p:sp>
      <p:sp>
        <p:nvSpPr>
          <p:cNvPr id="255" name="Mũi tên: Phải 254"/>
          <p:cNvSpPr>
            <a:spLocks noGrp="1"/>
          </p:cNvSpPr>
          <p:nvPr/>
        </p:nvSpPr>
        <p:spPr>
          <a:xfrm>
            <a:off x="7286625" y="3476625"/>
            <a:ext cx="952500" cy="209550"/>
          </a:xfrm>
          <a:prstGeom prst="rightArrow">
            <a:avLst/>
          </a:prstGeom>
          <a:solidFill>
            <a:srgbClr val="00A65A"/>
          </a:solidFill>
          <a:ln w="0">
            <a:noFill/>
          </a:ln>
        </p:spPr>
      </p:sp>
      <p:sp>
        <p:nvSpPr>
          <p:cNvPr id="256" name="Hình chữ nhật 255"/>
          <p:cNvSpPr>
            <a:spLocks noGrp="1"/>
          </p:cNvSpPr>
          <p:nvPr/>
        </p:nvSpPr>
        <p:spPr>
          <a:xfrm>
            <a:off x="3143250" y="4048125"/>
            <a:ext cx="1428750" cy="523875"/>
          </a:xfrm>
          <a:prstGeom prst="rect">
            <a:avLst/>
          </a:prstGeom>
          <a:noFill/>
          <a:ln w="0">
            <a:noFill/>
          </a:ln>
        </p:spPr>
        <p:txBody>
          <a:bodyPr>
            <a:noAutofit/>
          </a:bodyPr>
          <a:lstStyle/>
          <a:p>
            <a:pPr>
              <a:buNone/>
              <a:defRPr sz="1950" b="0">
                <a:solidFill>
                  <a:srgbClr val="002060"/>
                </a:solidFill>
                <a:latin typeface="Arial" panose="020B0604020202020204"/>
                <a:ea typeface="Arial" panose="020B0604020202020204"/>
                <a:cs typeface="Arial" panose="020B0604020202020204"/>
              </a:defRPr>
            </a:pPr>
            <a:r>
              <a:rPr sz="1950" b="0">
                <a:solidFill>
                  <a:srgbClr val="002060"/>
                </a:solidFill>
                <a:latin typeface="Arial" panose="020B0604020202020204"/>
                <a:ea typeface="Arial" panose="020B0604020202020204"/>
                <a:cs typeface="Arial" panose="020B0604020202020204"/>
              </a:rPr>
              <a:t>Chặng 1</a:t>
            </a:r>
            <a:endParaRPr sz="1950" b="0">
              <a:solidFill>
                <a:srgbClr val="002060"/>
              </a:solidFill>
              <a:latin typeface="Arial" panose="020B0604020202020204"/>
              <a:ea typeface="Arial" panose="020B0604020202020204"/>
              <a:cs typeface="Arial" panose="020B0604020202020204"/>
            </a:endParaRPr>
          </a:p>
        </p:txBody>
      </p:sp>
      <p:sp>
        <p:nvSpPr>
          <p:cNvPr id="257" name="Hình chữ nhật 256"/>
          <p:cNvSpPr>
            <a:spLocks noGrp="1"/>
          </p:cNvSpPr>
          <p:nvPr/>
        </p:nvSpPr>
        <p:spPr>
          <a:xfrm>
            <a:off x="7191375" y="4333875"/>
            <a:ext cx="1333500" cy="476250"/>
          </a:xfrm>
          <a:prstGeom prst="rect">
            <a:avLst/>
          </a:prstGeom>
          <a:noFill/>
          <a:ln w="0">
            <a:noFill/>
          </a:ln>
        </p:spPr>
        <p:txBody>
          <a:bodyPr>
            <a:noAutofit/>
          </a:bodyPr>
          <a:lstStyle/>
          <a:p>
            <a:pPr>
              <a:buNone/>
              <a:defRPr sz="1950" b="0">
                <a:solidFill>
                  <a:srgbClr val="002060"/>
                </a:solidFill>
                <a:latin typeface="Arial" panose="020B0604020202020204"/>
                <a:ea typeface="Arial" panose="020B0604020202020204"/>
                <a:cs typeface="Arial" panose="020B0604020202020204"/>
              </a:defRPr>
            </a:pPr>
            <a:r>
              <a:rPr sz="1950" b="0">
                <a:solidFill>
                  <a:srgbClr val="002060"/>
                </a:solidFill>
                <a:latin typeface="Arial" panose="020B0604020202020204"/>
                <a:ea typeface="Arial" panose="020B0604020202020204"/>
                <a:cs typeface="Arial" panose="020B0604020202020204"/>
              </a:rPr>
              <a:t>Chặng 2</a:t>
            </a:r>
            <a:endParaRPr sz="1950" b="0">
              <a:solidFill>
                <a:srgbClr val="002060"/>
              </a:solidFill>
              <a:latin typeface="Arial" panose="020B0604020202020204"/>
              <a:ea typeface="Arial" panose="020B0604020202020204"/>
              <a:cs typeface="Arial" panose="020B0604020202020204"/>
            </a:endParaRPr>
          </a:p>
        </p:txBody>
      </p:sp>
      <p:sp>
        <p:nvSpPr>
          <p:cNvPr id="258" name="Hình chữ nhật 257"/>
          <p:cNvSpPr>
            <a:spLocks noGrp="1"/>
          </p:cNvSpPr>
          <p:nvPr/>
        </p:nvSpPr>
        <p:spPr>
          <a:xfrm>
            <a:off x="714375" y="5286375"/>
            <a:ext cx="10763250" cy="809625"/>
          </a:xfrm>
          <a:prstGeom prst="rect">
            <a:avLst/>
          </a:prstGeom>
          <a:noFill/>
          <a:ln w="0">
            <a:noFill/>
          </a:ln>
        </p:spPr>
        <p:txBody>
          <a:bodyPr>
            <a:noAutofit/>
          </a:bodyPr>
          <a:lstStyle/>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Broker và HA có vai trò riêng dù cùng chạy trên một máy.</a:t>
            </a:r>
            <a:endParaRPr sz="2100" b="0">
              <a:solidFill>
                <a:srgbClr val="002060"/>
              </a:solidFill>
              <a:latin typeface="Arial" panose="020B0604020202020204"/>
              <a:ea typeface="Arial" panose="020B0604020202020204"/>
              <a:cs typeface="Arial" panose="020B0604020202020204"/>
            </a:endParaRPr>
          </a:p>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Mỗi chặng có QoS riêng, chịu giới hạn đầu vào và mức đăng ký.</a:t>
            </a:r>
            <a:endParaRPr sz="2100" b="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844E025A-983C-6D44-79C6-4612AACD43FC}"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12.7.1 Vì sao hệ thống IoT chọn MQTT?</a:t>
            </a:r>
            <a:endParaRPr sz="2400" b="1">
              <a:solidFill>
                <a:srgbClr val="00A95C"/>
              </a:solidFill>
              <a:latin typeface="Arial" panose="020B0604020202020204"/>
              <a:ea typeface="Arial" panose="020B0604020202020204"/>
              <a:cs typeface="Arial" panose="020B060402020202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12.7 Ứng dụng MQTT</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714375" y="1762125"/>
            <a:ext cx="10668000" cy="1762125"/>
          </a:xfrm>
          <a:prstGeom prst="rect">
            <a:avLst/>
          </a:prstGeom>
          <a:noFill/>
          <a:ln w="0">
            <a:noFill/>
          </a:ln>
        </p:spPr>
        <p:txBody>
          <a:bodyPr>
            <a:noAutofit/>
          </a:bodyPr>
          <a:lstStyle/>
          <a:p>
            <a:pPr>
              <a:buNone/>
              <a:defRPr sz="2325" b="0">
                <a:solidFill>
                  <a:srgbClr val="002060"/>
                </a:solidFill>
                <a:latin typeface="Arial" panose="020B0604020202020204"/>
                <a:ea typeface="Arial" panose="020B0604020202020204"/>
                <a:cs typeface="Arial" panose="020B0604020202020204"/>
              </a:defRPr>
            </a:pPr>
            <a:r>
              <a:rPr sz="2325" b="0">
                <a:solidFill>
                  <a:srgbClr val="002060"/>
                </a:solidFill>
                <a:latin typeface="Arial" panose="020B0604020202020204"/>
                <a:ea typeface="Arial" panose="020B0604020202020204"/>
                <a:cs typeface="Arial" panose="020B0604020202020204"/>
              </a:rPr>
              <a:t>Bản tin gọn: ESP32 gửi qua Wi-Fi với ít dữ liệu phụ</a:t>
            </a:r>
            <a:endParaRPr sz="2325" b="0">
              <a:solidFill>
                <a:srgbClr val="002060"/>
              </a:solidFill>
              <a:latin typeface="Arial" panose="020B0604020202020204"/>
              <a:ea typeface="Arial" panose="020B0604020202020204"/>
              <a:cs typeface="Arial" panose="020B0604020202020204"/>
            </a:endParaRPr>
          </a:p>
          <a:p>
            <a:pPr>
              <a:buNone/>
              <a:defRPr sz="2325" b="0">
                <a:solidFill>
                  <a:srgbClr val="002060"/>
                </a:solidFill>
                <a:latin typeface="Arial" panose="020B0604020202020204"/>
                <a:ea typeface="Arial" panose="020B0604020202020204"/>
                <a:cs typeface="Arial" panose="020B0604020202020204"/>
              </a:defRPr>
            </a:pPr>
            <a:r>
              <a:rPr sz="2325" b="0">
                <a:solidFill>
                  <a:srgbClr val="002060"/>
                </a:solidFill>
                <a:latin typeface="Arial" panose="020B0604020202020204"/>
                <a:ea typeface="Arial" panose="020B0604020202020204"/>
                <a:cs typeface="Arial" panose="020B0604020202020204"/>
              </a:rPr>
              <a:t>Một luồng đo có thể cấp cho HA và ứng dụng khác</a:t>
            </a:r>
            <a:endParaRPr sz="2325" b="0">
              <a:solidFill>
                <a:srgbClr val="002060"/>
              </a:solidFill>
              <a:latin typeface="Arial" panose="020B0604020202020204"/>
              <a:ea typeface="Arial" panose="020B0604020202020204"/>
              <a:cs typeface="Arial" panose="020B0604020202020204"/>
            </a:endParaRPr>
          </a:p>
          <a:p>
            <a:pPr>
              <a:buNone/>
              <a:defRPr sz="2325" b="0">
                <a:solidFill>
                  <a:srgbClr val="002060"/>
                </a:solidFill>
                <a:latin typeface="Arial" panose="020B0604020202020204"/>
                <a:ea typeface="Arial" panose="020B0604020202020204"/>
                <a:cs typeface="Arial" panose="020B0604020202020204"/>
              </a:defRPr>
            </a:pPr>
            <a:r>
              <a:rPr sz="2325" b="0">
                <a:solidFill>
                  <a:srgbClr val="002060"/>
                </a:solidFill>
                <a:latin typeface="Arial" panose="020B0604020202020204"/>
                <a:ea typeface="Arial" panose="020B0604020202020204"/>
                <a:cs typeface="Arial" panose="020B0604020202020204"/>
              </a:rPr>
              <a:t>ESP32 chỉ cần biết broker và topic, không cần biết từng người nhận</a:t>
            </a:r>
            <a:endParaRPr sz="2325" b="0">
              <a:solidFill>
                <a:srgbClr val="002060"/>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714375" y="3714750"/>
            <a:ext cx="10668000" cy="428625"/>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Chọn QoS theo mức độ quan trọng của dữ liệu</a:t>
            </a:r>
            <a:endParaRPr sz="2250" b="1">
              <a:solidFill>
                <a:srgbClr val="002060"/>
              </a:solidFill>
              <a:latin typeface="Arial" panose="020B0604020202020204"/>
              <a:ea typeface="Arial" panose="020B0604020202020204"/>
              <a:cs typeface="Arial" panose="020B0604020202020204"/>
            </a:endParaRPr>
          </a:p>
        </p:txBody>
      </p:sp>
      <p:sp>
        <p:nvSpPr>
          <p:cNvPr id="247" name="Hình chữ nhật 246"/>
          <p:cNvSpPr>
            <a:spLocks noGrp="1"/>
          </p:cNvSpPr>
          <p:nvPr/>
        </p:nvSpPr>
        <p:spPr>
          <a:xfrm>
            <a:off x="714375" y="4238625"/>
            <a:ext cx="10668000" cy="1285875"/>
          </a:xfrm>
          <a:prstGeom prst="rect">
            <a:avLst/>
          </a:prstGeom>
          <a:noFill/>
          <a:ln w="0">
            <a:noFill/>
          </a:ln>
        </p:spPr>
        <p:txBody>
          <a:bodyPr>
            <a:noAutofit/>
          </a:bodyPr>
          <a:lstStyle/>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Số đo cập nhật liên tục: có thể dùng QoS 0 vì mẫu mới thay mẫu cũ.</a:t>
            </a:r>
            <a:endParaRPr sz="2100" b="0">
              <a:solidFill>
                <a:srgbClr val="002060"/>
              </a:solidFill>
              <a:latin typeface="Arial" panose="020B0604020202020204"/>
              <a:ea typeface="Arial" panose="020B0604020202020204"/>
              <a:cs typeface="Arial" panose="020B0604020202020204"/>
            </a:endParaRPr>
          </a:p>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Sự kiện cần bảo đảm nhận: cân nhắc QoS 1 hoặc 2.</a:t>
            </a:r>
            <a:endParaRPr sz="2100" b="0">
              <a:solidFill>
                <a:srgbClr val="002060"/>
              </a:solidFill>
              <a:latin typeface="Arial" panose="020B0604020202020204"/>
              <a:ea typeface="Arial" panose="020B0604020202020204"/>
              <a:cs typeface="Arial" panose="020B0604020202020204"/>
            </a:endParaRPr>
          </a:p>
          <a:p>
            <a:pPr>
              <a:buNone/>
              <a:defRPr sz="2100" b="0">
                <a:solidFill>
                  <a:srgbClr val="002060"/>
                </a:solidFill>
                <a:latin typeface="Arial" panose="020B0604020202020204"/>
                <a:ea typeface="Arial" panose="020B0604020202020204"/>
                <a:cs typeface="Arial" panose="020B0604020202020204"/>
              </a:defRPr>
            </a:pPr>
            <a:r>
              <a:rPr sz="2100" b="0">
                <a:solidFill>
                  <a:srgbClr val="002060"/>
                </a:solidFill>
                <a:latin typeface="Arial" panose="020B0604020202020204"/>
                <a:ea typeface="Arial" panose="020B0604020202020204"/>
                <a:cs typeface="Arial" panose="020B0604020202020204"/>
              </a:rPr>
              <a:t>QoS cao hơn cần thêm xác nhận, tăng dữ liệu truyền và bộ nhớ.</a:t>
            </a:r>
            <a:endParaRPr sz="2100" b="0">
              <a:solidFill>
                <a:srgbClr val="002060"/>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714375" y="5667375"/>
            <a:ext cx="10668000" cy="428625"/>
          </a:xfrm>
          <a:prstGeom prst="rect">
            <a:avLst/>
          </a:prstGeom>
          <a:noFill/>
          <a:ln w="0">
            <a:noFill/>
          </a:ln>
        </p:spPr>
        <p:txBody>
          <a:bodyPr>
            <a:noAutofit/>
          </a:bodyPr>
          <a:lstStyle/>
          <a:p>
            <a:pPr>
              <a:buNone/>
              <a:defRPr sz="2175" b="0">
                <a:solidFill>
                  <a:srgbClr val="002060"/>
                </a:solidFill>
                <a:latin typeface="Arial" panose="020B0604020202020204"/>
                <a:ea typeface="Arial" panose="020B0604020202020204"/>
                <a:cs typeface="Arial" panose="020B0604020202020204"/>
              </a:defRPr>
            </a:pPr>
            <a:r>
              <a:rPr sz="2175" b="0">
                <a:solidFill>
                  <a:srgbClr val="002060"/>
                </a:solidFill>
                <a:latin typeface="Arial" panose="020B0604020202020204"/>
                <a:ea typeface="Arial" panose="020B0604020202020204"/>
                <a:cs typeface="Arial" panose="020B0604020202020204"/>
              </a:rPr>
              <a:t>Broker cần được theo dõi để hệ thống hoạt động ổn định</a:t>
            </a:r>
            <a:endParaRPr sz="2175" b="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F6DF2BE2-2DFA-1C03-677D-BDC2260D6D92}"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12.7.2 MQTT thường xuất hiện ở đâu?</a:t>
            </a:r>
            <a:endParaRPr sz="2400" b="1">
              <a:solidFill>
                <a:srgbClr val="00A95C"/>
              </a:solidFill>
              <a:latin typeface="Arial" panose="020B0604020202020204"/>
              <a:ea typeface="Arial" panose="020B0604020202020204"/>
              <a:cs typeface="Arial" panose="020B0604020202020204"/>
            </a:endParaRPr>
          </a:p>
        </p:txBody>
      </p:sp>
      <p:graphicFrame>
        <p:nvGraphicFramePr>
          <p:cNvPr id="248" name="Bảng 247"/>
          <p:cNvGraphicFramePr/>
          <p:nvPr/>
        </p:nvGraphicFramePr>
        <p:xfrm>
          <a:off x="619125" y="1762125"/>
          <a:ext cx="10668000" cy="3810000"/>
        </p:xfrm>
        <a:graphic>
          <a:graphicData uri="http://schemas.openxmlformats.org/drawingml/2006/table">
            <a:tbl>
              <a:tblPr/>
              <a:tblGrid>
                <a:gridCol w="3556000"/>
                <a:gridCol w="3556000"/>
                <a:gridCol w="3556000"/>
              </a:tblGrid>
              <a:tr h="762000">
                <a:tc>
                  <a:txBody>
                    <a:bodyPr/>
                    <a:lstStyle/>
                    <a:p>
                      <a:r>
                        <a:rPr sz="2025" b="1">
                          <a:solidFill>
                            <a:srgbClr val="FFFFFF"/>
                          </a:solidFill>
                          <a:latin typeface="Arial" panose="020B0604020202020204"/>
                          <a:ea typeface="Arial" panose="020B0604020202020204"/>
                          <a:cs typeface="Arial" panose="020B0604020202020204"/>
                        </a:rPr>
                        <a:t>Hệ thống</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Dữ liệu gửi lên</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Ví dụ cách dùng</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r>
              <a:tr h="762000">
                <a:tc>
                  <a:txBody>
                    <a:bodyPr/>
                    <a:lstStyle/>
                    <a:p>
                      <a:r>
                        <a:rPr sz="2025" b="0">
                          <a:solidFill>
                            <a:srgbClr val="002060"/>
                          </a:solidFill>
                          <a:latin typeface="Arial" panose="020B0604020202020204"/>
                          <a:ea typeface="Arial" panose="020B0604020202020204"/>
                          <a:cs typeface="Arial" panose="020B0604020202020204"/>
                        </a:rPr>
                        <a:t>BTH 12.1</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JSON nhiệt độ, độ ẩm</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HA hiển thị hai thực thể</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r h="762000">
                <a:tc>
                  <a:txBody>
                    <a:bodyPr/>
                    <a:lstStyle/>
                    <a:p>
                      <a:r>
                        <a:rPr sz="2025" b="0">
                          <a:solidFill>
                            <a:srgbClr val="002060"/>
                          </a:solidFill>
                          <a:latin typeface="Arial" panose="020B0604020202020204"/>
                          <a:ea typeface="Arial" panose="020B0604020202020204"/>
                          <a:cs typeface="Arial" panose="020B0604020202020204"/>
                        </a:rPr>
                        <a:t>Nhà thông minh</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Nhiệt độ, trạng thái đèn</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Theo dõi và điều khiển</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r>
              <a:tr h="762000">
                <a:tc>
                  <a:txBody>
                    <a:bodyPr/>
                    <a:lstStyle/>
                    <a:p>
                      <a:r>
                        <a:rPr sz="2025" b="0">
                          <a:solidFill>
                            <a:srgbClr val="002060"/>
                          </a:solidFill>
                          <a:latin typeface="Arial" panose="020B0604020202020204"/>
                          <a:ea typeface="Arial" panose="020B0604020202020204"/>
                          <a:cs typeface="Arial" panose="020B0604020202020204"/>
                        </a:rPr>
                        <a:t>Nông nghiệp</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Độ ẩm đất</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Theo dõi tưới cây</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r h="762000">
                <a:tc>
                  <a:txBody>
                    <a:bodyPr/>
                    <a:lstStyle/>
                    <a:p>
                      <a:r>
                        <a:rPr sz="2025" b="0">
                          <a:solidFill>
                            <a:srgbClr val="002060"/>
                          </a:solidFill>
                          <a:latin typeface="Arial" panose="020B0604020202020204"/>
                          <a:ea typeface="Arial" panose="020B0604020202020204"/>
                          <a:cs typeface="Arial" panose="020B0604020202020204"/>
                        </a:rPr>
                        <a:t>Nhà máy</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Trạng thái máy</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Gửi cảnh báo vận hành</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r>
            </a:tbl>
          </a:graphicData>
        </a:graphic>
      </p:graphicFrame>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12.7 Ứng dụng MQTT</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0BB18BA8-60F4-C50D-CD9B-1BB87D3E8506}"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12.7.3 Các thành phần trong BTH 12.1</a:t>
            </a:r>
            <a:endParaRPr sz="2400" b="1">
              <a:solidFill>
                <a:srgbClr val="00A95C"/>
              </a:solidFill>
              <a:latin typeface="Arial" panose="020B0604020202020204"/>
              <a:ea typeface="Arial" panose="020B0604020202020204"/>
              <a:cs typeface="Arial" panose="020B0604020202020204"/>
            </a:endParaRPr>
          </a:p>
        </p:txBody>
      </p:sp>
      <p:graphicFrame>
        <p:nvGraphicFramePr>
          <p:cNvPr id="248" name="Bảng 247"/>
          <p:cNvGraphicFramePr/>
          <p:nvPr/>
        </p:nvGraphicFramePr>
        <p:xfrm>
          <a:off x="619125" y="1762125"/>
          <a:ext cx="10668000" cy="3810000"/>
        </p:xfrm>
        <a:graphic>
          <a:graphicData uri="http://schemas.openxmlformats.org/drawingml/2006/table">
            <a:tbl>
              <a:tblPr/>
              <a:tblGrid>
                <a:gridCol w="3556000"/>
                <a:gridCol w="3556000"/>
                <a:gridCol w="3556000"/>
              </a:tblGrid>
              <a:tr h="762000">
                <a:tc>
                  <a:txBody>
                    <a:bodyPr/>
                    <a:lstStyle/>
                    <a:p>
                      <a:r>
                        <a:rPr sz="2025" b="1">
                          <a:solidFill>
                            <a:srgbClr val="FFFFFF"/>
                          </a:solidFill>
                          <a:latin typeface="Arial" panose="020B0604020202020204"/>
                          <a:ea typeface="Arial" panose="020B0604020202020204"/>
                          <a:cs typeface="Arial" panose="020B0604020202020204"/>
                        </a:rPr>
                        <a:t>Thành phần</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Ở đâu?</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Việc cần làm</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r>
              <a:tr h="762000">
                <a:tc>
                  <a:txBody>
                    <a:bodyPr/>
                    <a:lstStyle/>
                    <a:p>
                      <a:r>
                        <a:rPr sz="2025" b="0">
                          <a:solidFill>
                            <a:srgbClr val="002060"/>
                          </a:solidFill>
                          <a:latin typeface="Arial" panose="020B0604020202020204"/>
                          <a:ea typeface="Arial" panose="020B0604020202020204"/>
                          <a:cs typeface="Arial" panose="020B0604020202020204"/>
                        </a:rPr>
                        <a:t>ESP32-S3</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Cùng mạng với broker</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Tạo JSON; publish theo topic</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r h="762000">
                <a:tc>
                  <a:txBody>
                    <a:bodyPr/>
                    <a:lstStyle/>
                    <a:p>
                      <a:r>
                        <a:rPr sz="2025" b="0">
                          <a:solidFill>
                            <a:srgbClr val="002060"/>
                          </a:solidFill>
                          <a:latin typeface="Arial" panose="020B0604020202020204"/>
                          <a:ea typeface="Arial" panose="020B0604020202020204"/>
                          <a:cs typeface="Arial" panose="020B0604020202020204"/>
                        </a:rPr>
                        <a:t>Mosquitto</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Máy Home Assistant</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Xác thực và chuyển bản tin</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r>
              <a:tr h="762000">
                <a:tc>
                  <a:txBody>
                    <a:bodyPr/>
                    <a:lstStyle/>
                    <a:p>
                      <a:r>
                        <a:rPr sz="2025" b="0">
                          <a:solidFill>
                            <a:srgbClr val="002060"/>
                          </a:solidFill>
                          <a:latin typeface="Arial" panose="020B0604020202020204"/>
                          <a:ea typeface="Arial" panose="020B0604020202020204"/>
                          <a:cs typeface="Arial" panose="020B0604020202020204"/>
                        </a:rPr>
                        <a:t>Home Assistant</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Ứng dụng trên máy HA</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Đọc temp, hum; hiển thị</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r h="762000">
                <a:tc>
                  <a:txBody>
                    <a:bodyPr/>
                    <a:lstStyle/>
                    <a:p>
                      <a:r>
                        <a:rPr sz="2025" b="0">
                          <a:solidFill>
                            <a:srgbClr val="002060"/>
                          </a:solidFill>
                          <a:latin typeface="Arial" panose="020B0604020202020204"/>
                          <a:ea typeface="Arial" panose="020B0604020202020204"/>
                          <a:cs typeface="Arial" panose="020B0604020202020204"/>
                        </a:rPr>
                        <a:t>Wireshark</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Máy bắt lưu lượng</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Xem IP, TCP và gói MQTT</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r>
            </a:tbl>
          </a:graphicData>
        </a:graphic>
      </p:graphicFrame>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12.7 Ứng dụng MQTT</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A4E99CEF-AF55-BA3C-ADF8-4E52E186DD8F}"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12.7.4 Khó khăn và cách xử lý</a:t>
            </a:r>
            <a:endParaRPr sz="2400" b="1">
              <a:solidFill>
                <a:srgbClr val="00A95C"/>
              </a:solidFill>
              <a:latin typeface="Arial" panose="020B0604020202020204"/>
              <a:ea typeface="Arial" panose="020B0604020202020204"/>
              <a:cs typeface="Arial" panose="020B0604020202020204"/>
            </a:endParaRPr>
          </a:p>
        </p:txBody>
      </p:sp>
      <p:graphicFrame>
        <p:nvGraphicFramePr>
          <p:cNvPr id="248" name="Bảng 247"/>
          <p:cNvGraphicFramePr/>
          <p:nvPr/>
        </p:nvGraphicFramePr>
        <p:xfrm>
          <a:off x="619125" y="1762125"/>
          <a:ext cx="10668000" cy="4191000"/>
        </p:xfrm>
        <a:graphic>
          <a:graphicData uri="http://schemas.openxmlformats.org/drawingml/2006/table">
            <a:tbl>
              <a:tblPr/>
              <a:tblGrid>
                <a:gridCol w="5334000"/>
                <a:gridCol w="5334000"/>
              </a:tblGrid>
              <a:tr h="698500">
                <a:tc>
                  <a:txBody>
                    <a:bodyPr/>
                    <a:lstStyle/>
                    <a:p>
                      <a:r>
                        <a:rPr sz="2025" b="1">
                          <a:solidFill>
                            <a:srgbClr val="FFFFFF"/>
                          </a:solidFill>
                          <a:latin typeface="Arial" panose="020B0604020202020204"/>
                          <a:ea typeface="Arial" panose="020B0604020202020204"/>
                          <a:cs typeface="Arial" panose="020B0604020202020204"/>
                        </a:rPr>
                        <a:t>Khó khăn</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Cách kiểm tra / xử lý</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r>
              <a:tr h="698500">
                <a:tc>
                  <a:txBody>
                    <a:bodyPr/>
                    <a:lstStyle/>
                    <a:p>
                      <a:r>
                        <a:rPr sz="2025" b="0">
                          <a:solidFill>
                            <a:srgbClr val="002060"/>
                          </a:solidFill>
                          <a:latin typeface="Arial" panose="020B0604020202020204"/>
                          <a:ea typeface="Arial" panose="020B0604020202020204"/>
                          <a:cs typeface="Arial" panose="020B0604020202020204"/>
                        </a:rPr>
                        <a:t>ESP32 mất Wi-Fi</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Kiểm tra SSID, nguồn; kết nối lại</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r h="698500">
                <a:tc>
                  <a:txBody>
                    <a:bodyPr/>
                    <a:lstStyle/>
                    <a:p>
                      <a:r>
                        <a:rPr sz="2025" b="0">
                          <a:solidFill>
                            <a:srgbClr val="002060"/>
                          </a:solidFill>
                          <a:latin typeface="Arial" panose="020B0604020202020204"/>
                          <a:ea typeface="Arial" panose="020B0604020202020204"/>
                          <a:cs typeface="Arial" panose="020B0604020202020204"/>
                        </a:rPr>
                        <a:t>Không vào được broker</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Kiểm tra IP, cổng 1883, tài khoản</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r>
              <a:tr h="698500">
                <a:tc>
                  <a:txBody>
                    <a:bodyPr/>
                    <a:lstStyle/>
                    <a:p>
                      <a:r>
                        <a:rPr sz="2025" b="0">
                          <a:solidFill>
                            <a:srgbClr val="002060"/>
                          </a:solidFill>
                          <a:latin typeface="Arial" panose="020B0604020202020204"/>
                          <a:ea typeface="Arial" panose="020B0604020202020204"/>
                          <a:cs typeface="Arial" panose="020B0604020202020204"/>
                        </a:rPr>
                        <a:t>HA không hiện giá trị</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Đối chiếu topic và hai khóa temp/hum</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r h="698500">
                <a:tc>
                  <a:txBody>
                    <a:bodyPr/>
                    <a:lstStyle/>
                    <a:p>
                      <a:r>
                        <a:rPr sz="2025" b="0">
                          <a:solidFill>
                            <a:srgbClr val="002060"/>
                          </a:solidFill>
                          <a:latin typeface="Arial" panose="020B0604020202020204"/>
                          <a:ea typeface="Arial" panose="020B0604020202020204"/>
                          <a:cs typeface="Arial" panose="020B0604020202020204"/>
                        </a:rPr>
                        <a:t>Không thấy PUBLISH</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Lọc đúng cổng, chọn đúng giao diện bắt</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r>
              <a:tr h="698500">
                <a:tc>
                  <a:txBody>
                    <a:bodyPr/>
                    <a:lstStyle/>
                    <a:p>
                      <a:r>
                        <a:rPr sz="2025" b="0">
                          <a:solidFill>
                            <a:srgbClr val="002060"/>
                          </a:solidFill>
                          <a:latin typeface="Arial" panose="020B0604020202020204"/>
                          <a:ea typeface="Arial" panose="020B0604020202020204"/>
                          <a:cs typeface="Arial" panose="020B0604020202020204"/>
                        </a:rPr>
                        <a:t>Dữ liệu chưa được mã hóa</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Dùng TLS để bảo vệ đường truyền</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bl>
          </a:graphicData>
        </a:graphic>
      </p:graphicFrame>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12.7 Ứng dụng MQTT</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4A59AF09-D197-0193-A7DE-FAAF0B691058}"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12.8.1 Chuẩn bị đường đi dữ liệu</a:t>
            </a:r>
            <a:endParaRPr sz="2400" b="1">
              <a:solidFill>
                <a:srgbClr val="00A95C"/>
              </a:solidFill>
              <a:latin typeface="Arial" panose="020B0604020202020204"/>
              <a:ea typeface="Arial" panose="020B0604020202020204"/>
              <a:cs typeface="Arial" panose="020B0604020202020204"/>
            </a:endParaRPr>
          </a:p>
        </p:txBody>
      </p:sp>
      <p:sp>
        <p:nvSpPr>
          <p:cNvPr id="243" name="Hình chữ nhật 242"/>
          <p:cNvSpPr>
            <a:spLocks noGrp="1"/>
          </p:cNvSpPr>
          <p:nvPr/>
        </p:nvSpPr>
        <p:spPr>
          <a:xfrm>
            <a:off x="619125" y="1762125"/>
            <a:ext cx="10668000" cy="4238625"/>
          </a:xfrm>
          <a:prstGeom prst="rect">
            <a:avLst/>
          </a:prstGeom>
          <a:noFill/>
          <a:ln w="0">
            <a:noFill/>
          </a:ln>
        </p:spPr>
        <p:txBody>
          <a:bodyPr>
            <a:noAutofit/>
          </a:bodyPr>
          <a:lstStyle/>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ESP32-S3 đã nạp chương trình Arduino gửi MQTT</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Mosquitto broker đang chạy trong Home Assistant</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ESP32 và Home Assistant cùng mạng; kiểm tra IP broker</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HA có tài khoản MQTT và hai thực thể nhiệt độ, độ ẩm</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Wireshark sẵn sàng bắt lưu lượng TCP cổng 1883</a:t>
            </a:r>
            <a:endParaRPr sz="2400" b="0">
              <a:solidFill>
                <a:srgbClr val="002060"/>
              </a:solidFill>
              <a:latin typeface="Arial" panose="020B0604020202020204"/>
              <a:ea typeface="Arial" panose="020B0604020202020204"/>
              <a:cs typeface="Arial" panose="020B060402020202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12.8 Demo bài thực hành 12.1</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F3AE1AE4-D79E-94D6-E825-3FC6C21A77D2}"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12.8.2 ESP32 gửi JSON mô phỏng</a:t>
            </a:r>
            <a:endParaRPr sz="2400" b="1">
              <a:solidFill>
                <a:srgbClr val="00A95C"/>
              </a:solidFill>
              <a:latin typeface="Arial" panose="020B0604020202020204"/>
              <a:ea typeface="Arial" panose="020B0604020202020204"/>
              <a:cs typeface="Arial" panose="020B0604020202020204"/>
            </a:endParaRPr>
          </a:p>
        </p:txBody>
      </p:sp>
      <p:sp>
        <p:nvSpPr>
          <p:cNvPr id="243" name="Hình chữ nhật 242"/>
          <p:cNvSpPr>
            <a:spLocks noGrp="1"/>
          </p:cNvSpPr>
          <p:nvPr/>
        </p:nvSpPr>
        <p:spPr>
          <a:xfrm>
            <a:off x="619125" y="1809750"/>
            <a:ext cx="10668000" cy="3952875"/>
          </a:xfrm>
          <a:prstGeom prst="rect">
            <a:avLst/>
          </a:prstGeom>
          <a:noFill/>
          <a:ln w="0">
            <a:noFill/>
          </a:ln>
        </p:spPr>
        <p:txBody>
          <a:bodyPr>
            <a:noAutofit/>
          </a:bodyPr>
          <a:lstStyle/>
          <a:p>
            <a:pPr>
              <a:buNone/>
              <a:defRPr sz="2025" b="0">
                <a:solidFill>
                  <a:srgbClr val="002060"/>
                </a:solidFill>
                <a:latin typeface="Arial" panose="020B0604020202020204"/>
                <a:ea typeface="Arial" panose="020B0604020202020204"/>
                <a:cs typeface="Arial" panose="020B0604020202020204"/>
              </a:defRPr>
            </a:pPr>
            <a:r>
              <a:rPr sz="2025" b="0">
                <a:solidFill>
                  <a:srgbClr val="002060"/>
                </a:solidFill>
                <a:latin typeface="Arial" panose="020B0604020202020204"/>
                <a:ea typeface="Arial" panose="020B0604020202020204"/>
                <a:cs typeface="Arial" panose="020B0604020202020204"/>
              </a:rPr>
              <a:t>ESP32 kết nối Wi-Fi → Mosquitto trên Home Assistant</a:t>
            </a:r>
            <a:endParaRPr sz="2025" b="0">
              <a:solidFill>
                <a:srgbClr val="002060"/>
              </a:solidFill>
              <a:latin typeface="Arial" panose="020B0604020202020204"/>
              <a:ea typeface="Arial" panose="020B0604020202020204"/>
              <a:cs typeface="Arial" panose="020B0604020202020204"/>
            </a:endParaRPr>
          </a:p>
          <a:p>
            <a:endParaRPr sz="2025" b="0">
              <a:solidFill>
                <a:srgbClr val="002060"/>
              </a:solidFill>
              <a:latin typeface="Arial" panose="020B0604020202020204"/>
              <a:ea typeface="Arial" panose="020B0604020202020204"/>
              <a:cs typeface="Arial" panose="020B0604020202020204"/>
            </a:endParaRPr>
          </a:p>
          <a:p>
            <a:pPr>
              <a:buNone/>
              <a:defRPr sz="2025" b="0">
                <a:solidFill>
                  <a:srgbClr val="002060"/>
                </a:solidFill>
                <a:latin typeface="Arial" panose="020B0604020202020204"/>
                <a:ea typeface="Arial" panose="020B0604020202020204"/>
                <a:cs typeface="Arial" panose="020B0604020202020204"/>
              </a:defRPr>
            </a:pPr>
            <a:r>
              <a:rPr sz="2025" b="0">
                <a:solidFill>
                  <a:srgbClr val="002060"/>
                </a:solidFill>
                <a:latin typeface="Arial" panose="020B0604020202020204"/>
                <a:ea typeface="Arial" panose="020B0604020202020204"/>
                <a:cs typeface="Arial" panose="020B0604020202020204"/>
              </a:rPr>
              <a:t>Topic: iot/lab1/10124332/sensor</a:t>
            </a:r>
            <a:endParaRPr sz="2025" b="0">
              <a:solidFill>
                <a:srgbClr val="002060"/>
              </a:solidFill>
              <a:latin typeface="Arial" panose="020B0604020202020204"/>
              <a:ea typeface="Arial" panose="020B0604020202020204"/>
              <a:cs typeface="Arial" panose="020B0604020202020204"/>
            </a:endParaRPr>
          </a:p>
          <a:p>
            <a:endParaRPr sz="2025" b="0">
              <a:solidFill>
                <a:srgbClr val="002060"/>
              </a:solidFill>
              <a:latin typeface="Arial" panose="020B0604020202020204"/>
              <a:ea typeface="Arial" panose="020B0604020202020204"/>
              <a:cs typeface="Arial" panose="020B0604020202020204"/>
            </a:endParaRPr>
          </a:p>
          <a:p>
            <a:pPr>
              <a:buNone/>
              <a:defRPr sz="2025" b="0">
                <a:solidFill>
                  <a:srgbClr val="002060"/>
                </a:solidFill>
                <a:latin typeface="Arial" panose="020B0604020202020204"/>
                <a:ea typeface="Arial" panose="020B0604020202020204"/>
                <a:cs typeface="Arial" panose="020B0604020202020204"/>
              </a:defRPr>
            </a:pPr>
            <a:r>
              <a:rPr sz="2025" b="0">
                <a:solidFill>
                  <a:srgbClr val="002060"/>
                </a:solidFill>
                <a:latin typeface="Arial" panose="020B0604020202020204"/>
                <a:ea typeface="Arial" panose="020B0604020202020204"/>
                <a:cs typeface="Arial" panose="020B0604020202020204"/>
              </a:rPr>
              <a:t>Payload ví dụ: {"temp":30.5,"hum":75.7}</a:t>
            </a:r>
            <a:endParaRPr sz="2025" b="0">
              <a:solidFill>
                <a:srgbClr val="002060"/>
              </a:solidFill>
              <a:latin typeface="Arial" panose="020B0604020202020204"/>
              <a:ea typeface="Arial" panose="020B0604020202020204"/>
              <a:cs typeface="Arial" panose="020B0604020202020204"/>
            </a:endParaRPr>
          </a:p>
          <a:p>
            <a:endParaRPr sz="2025" b="0">
              <a:solidFill>
                <a:srgbClr val="002060"/>
              </a:solidFill>
              <a:latin typeface="Arial" panose="020B0604020202020204"/>
              <a:ea typeface="Arial" panose="020B0604020202020204"/>
              <a:cs typeface="Arial" panose="020B0604020202020204"/>
            </a:endParaRPr>
          </a:p>
          <a:p>
            <a:pPr>
              <a:buNone/>
              <a:defRPr sz="2025" b="0">
                <a:solidFill>
                  <a:srgbClr val="002060"/>
                </a:solidFill>
                <a:latin typeface="Arial" panose="020B0604020202020204"/>
                <a:ea typeface="Arial" panose="020B0604020202020204"/>
                <a:cs typeface="Arial" panose="020B0604020202020204"/>
              </a:defRPr>
            </a:pPr>
            <a:r>
              <a:rPr sz="2025" b="0">
                <a:solidFill>
                  <a:srgbClr val="002060"/>
                </a:solidFill>
                <a:latin typeface="Arial" panose="020B0604020202020204"/>
                <a:ea typeface="Arial" panose="020B0604020202020204"/>
                <a:cs typeface="Arial" panose="020B0604020202020204"/>
              </a:rPr>
              <a:t>Chương trình tạo mẫu ngẫu nhiên và publish khoảng mỗi 5 giây</a:t>
            </a:r>
            <a:endParaRPr sz="2025" b="0">
              <a:solidFill>
                <a:srgbClr val="002060"/>
              </a:solidFill>
              <a:latin typeface="Arial" panose="020B0604020202020204"/>
              <a:ea typeface="Arial" panose="020B0604020202020204"/>
              <a:cs typeface="Arial" panose="020B0604020202020204"/>
            </a:endParaRPr>
          </a:p>
          <a:p>
            <a:endParaRPr sz="2025" b="0">
              <a:solidFill>
                <a:srgbClr val="002060"/>
              </a:solidFill>
              <a:latin typeface="Arial" panose="020B0604020202020204"/>
              <a:ea typeface="Arial" panose="020B0604020202020204"/>
              <a:cs typeface="Arial" panose="020B0604020202020204"/>
            </a:endParaRPr>
          </a:p>
          <a:p>
            <a:pPr>
              <a:buNone/>
              <a:defRPr sz="2025" b="0">
                <a:solidFill>
                  <a:srgbClr val="002060"/>
                </a:solidFill>
                <a:latin typeface="Arial" panose="020B0604020202020204"/>
                <a:ea typeface="Arial" panose="020B0604020202020204"/>
                <a:cs typeface="Arial" panose="020B0604020202020204"/>
              </a:defRPr>
            </a:pPr>
            <a:r>
              <a:rPr sz="2025" b="0">
                <a:solidFill>
                  <a:srgbClr val="002060"/>
                </a:solidFill>
                <a:latin typeface="Arial" panose="020B0604020202020204"/>
                <a:ea typeface="Arial" panose="020B0604020202020204"/>
                <a:cs typeface="Arial" panose="020B0604020202020204"/>
              </a:rPr>
              <a:t>Broker của buổi thực hành: 172.20.10.5:1883</a:t>
            </a:r>
            <a:endParaRPr sz="2025" b="0">
              <a:solidFill>
                <a:srgbClr val="002060"/>
              </a:solidFill>
              <a:latin typeface="Arial" panose="020B0604020202020204"/>
              <a:ea typeface="Arial" panose="020B0604020202020204"/>
              <a:cs typeface="Arial" panose="020B0604020202020204"/>
            </a:endParaRPr>
          </a:p>
        </p:txBody>
      </p:sp>
      <p:sp>
        <p:nvSpPr>
          <p:cNvPr id="244" name="Hình chữ nhật 243"/>
          <p:cNvSpPr>
            <a:spLocks noGrp="1"/>
          </p:cNvSpPr>
          <p:nvPr/>
        </p:nvSpPr>
        <p:spPr>
          <a:xfrm>
            <a:off x="619125" y="5857875"/>
            <a:ext cx="10572750" cy="381000"/>
          </a:xfrm>
          <a:prstGeom prst="rect">
            <a:avLst/>
          </a:prstGeom>
          <a:noFill/>
          <a:ln w="0">
            <a:noFill/>
          </a:ln>
        </p:spPr>
        <p:txBody>
          <a:bodyPr>
            <a:noAutofit/>
          </a:bodyPr>
          <a:lstStyle/>
          <a:p>
            <a:pPr>
              <a:buNone/>
              <a:defRPr sz="1950" b="1">
                <a:solidFill>
                  <a:srgbClr val="002060"/>
                </a:solidFill>
                <a:latin typeface="Arial" panose="020B0604020202020204"/>
                <a:ea typeface="Arial" panose="020B0604020202020204"/>
                <a:cs typeface="Arial" panose="020B0604020202020204"/>
              </a:defRPr>
            </a:pPr>
            <a:r>
              <a:rPr sz="1950" b="1">
                <a:solidFill>
                  <a:srgbClr val="002060"/>
                </a:solidFill>
                <a:latin typeface="Arial" panose="020B0604020202020204"/>
                <a:ea typeface="Arial" panose="020B0604020202020204"/>
                <a:cs typeface="Arial" panose="020B0604020202020204"/>
              </a:rPr>
              <a:t>BTH 12.1 dùng dữ liệu mô phỏng, không cần cảm biến vật lý.</a:t>
            </a:r>
            <a:endParaRPr sz="1950" b="1">
              <a:solidFill>
                <a:srgbClr val="002060"/>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12.8 Demo bài thực hành 12.1</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5AB55966-FA28-BC73-EA9E-53DF014DF033}"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5" name="Hình chữ nhật 244"/>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12.8 Demo bài thực hành 12.1</a:t>
            </a:r>
            <a:endParaRPr sz="3200" b="1">
              <a:solidFill>
                <a:srgbClr val="FFFFFF"/>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12.8.3 Một JSON cập nhật hai thực thể</a:t>
            </a:r>
            <a:endParaRPr sz="2400" b="1">
              <a:solidFill>
                <a:srgbClr val="00A65A"/>
              </a:solidFill>
              <a:latin typeface="Arial" panose="020B0604020202020204"/>
              <a:ea typeface="Arial" panose="020B0604020202020204"/>
              <a:cs typeface="Arial" panose="020B0604020202020204"/>
            </a:endParaRPr>
          </a:p>
        </p:txBody>
      </p:sp>
      <p:sp>
        <p:nvSpPr>
          <p:cNvPr id="247" name="Hình chữ nhật 246"/>
          <p:cNvSpPr>
            <a:spLocks noGrp="1"/>
          </p:cNvSpPr>
          <p:nvPr/>
        </p:nvSpPr>
        <p:spPr>
          <a:xfrm>
            <a:off x="1143000" y="1952625"/>
            <a:ext cx="9810750" cy="1095375"/>
          </a:xfrm>
          <a:prstGeom prst="rect">
            <a:avLst/>
          </a:prstGeom>
          <a:solidFill>
            <a:srgbClr val="EFF8F3"/>
          </a:solidFill>
          <a:ln w="19050">
            <a:solidFill>
              <a:srgbClr val="00A65A"/>
            </a:solidFill>
          </a:ln>
        </p:spPr>
      </p:sp>
      <p:sp>
        <p:nvSpPr>
          <p:cNvPr id="248" name="Hình chữ nhật 247"/>
          <p:cNvSpPr>
            <a:spLocks noGrp="1"/>
          </p:cNvSpPr>
          <p:nvPr/>
        </p:nvSpPr>
        <p:spPr>
          <a:xfrm>
            <a:off x="1276350" y="2066925"/>
            <a:ext cx="9544050" cy="904875"/>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Topic: iot/lab1/10124332/sensor</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Payload: {"temp":34,"hum":78.8}</a:t>
            </a:r>
            <a:endParaRPr sz="2250" b="1">
              <a:solidFill>
                <a:srgbClr val="002060"/>
              </a:solidFill>
              <a:latin typeface="Arial" panose="020B0604020202020204"/>
              <a:ea typeface="Arial" panose="020B0604020202020204"/>
              <a:cs typeface="Arial" panose="020B0604020202020204"/>
            </a:endParaRPr>
          </a:p>
        </p:txBody>
      </p:sp>
      <p:sp>
        <p:nvSpPr>
          <p:cNvPr id="249" name="Hình chữ nhật 248"/>
          <p:cNvSpPr>
            <a:spLocks noGrp="1"/>
          </p:cNvSpPr>
          <p:nvPr/>
        </p:nvSpPr>
        <p:spPr>
          <a:xfrm>
            <a:off x="1143000" y="3762375"/>
            <a:ext cx="4286250" cy="1333500"/>
          </a:xfrm>
          <a:prstGeom prst="rect">
            <a:avLst/>
          </a:prstGeom>
          <a:solidFill>
            <a:srgbClr val="EFF8F3"/>
          </a:solidFill>
          <a:ln w="19050">
            <a:solidFill>
              <a:srgbClr val="00A65A"/>
            </a:solidFill>
          </a:ln>
        </p:spPr>
      </p:sp>
      <p:sp>
        <p:nvSpPr>
          <p:cNvPr id="250" name="Hình chữ nhật 249"/>
          <p:cNvSpPr>
            <a:spLocks noGrp="1"/>
          </p:cNvSpPr>
          <p:nvPr/>
        </p:nvSpPr>
        <p:spPr>
          <a:xfrm>
            <a:off x="1276350" y="3876675"/>
            <a:ext cx="4019550" cy="1143000"/>
          </a:xfrm>
          <a:prstGeom prst="rect">
            <a:avLst/>
          </a:prstGeom>
          <a:noFill/>
          <a:ln w="0">
            <a:noFill/>
          </a:ln>
        </p:spPr>
        <p:txBody>
          <a:bodyPr>
            <a:noAutofit/>
          </a:bodyPr>
          <a:lstStyle/>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value_json.temp</a:t>
            </a:r>
            <a:endParaRPr sz="2400" b="1">
              <a:solidFill>
                <a:srgbClr val="002060"/>
              </a:solidFill>
              <a:latin typeface="Arial" panose="020B0604020202020204"/>
              <a:ea typeface="Arial" panose="020B0604020202020204"/>
              <a:cs typeface="Arial" panose="020B0604020202020204"/>
            </a:endParaRPr>
          </a:p>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Nhiệt độ: 34 °C</a:t>
            </a:r>
            <a:endParaRPr sz="2400" b="1">
              <a:solidFill>
                <a:srgbClr val="002060"/>
              </a:solidFill>
              <a:latin typeface="Arial" panose="020B0604020202020204"/>
              <a:ea typeface="Arial" panose="020B0604020202020204"/>
              <a:cs typeface="Arial" panose="020B0604020202020204"/>
            </a:endParaRPr>
          </a:p>
        </p:txBody>
      </p:sp>
      <p:sp>
        <p:nvSpPr>
          <p:cNvPr id="251" name="Hình chữ nhật 250"/>
          <p:cNvSpPr>
            <a:spLocks noGrp="1"/>
          </p:cNvSpPr>
          <p:nvPr/>
        </p:nvSpPr>
        <p:spPr>
          <a:xfrm>
            <a:off x="6667500" y="3762375"/>
            <a:ext cx="4286250" cy="1333500"/>
          </a:xfrm>
          <a:prstGeom prst="rect">
            <a:avLst/>
          </a:prstGeom>
          <a:solidFill>
            <a:srgbClr val="EFF8F3"/>
          </a:solidFill>
          <a:ln w="19050">
            <a:solidFill>
              <a:srgbClr val="00A65A"/>
            </a:solidFill>
          </a:ln>
        </p:spPr>
      </p:sp>
      <p:sp>
        <p:nvSpPr>
          <p:cNvPr id="252" name="Hình chữ nhật 251"/>
          <p:cNvSpPr>
            <a:spLocks noGrp="1"/>
          </p:cNvSpPr>
          <p:nvPr/>
        </p:nvSpPr>
        <p:spPr>
          <a:xfrm>
            <a:off x="6800850" y="3876675"/>
            <a:ext cx="4019550" cy="1143000"/>
          </a:xfrm>
          <a:prstGeom prst="rect">
            <a:avLst/>
          </a:prstGeom>
          <a:noFill/>
          <a:ln w="0">
            <a:noFill/>
          </a:ln>
        </p:spPr>
        <p:txBody>
          <a:bodyPr>
            <a:noAutofit/>
          </a:bodyPr>
          <a:lstStyle/>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value_json.hum</a:t>
            </a:r>
            <a:endParaRPr sz="2400" b="1">
              <a:solidFill>
                <a:srgbClr val="002060"/>
              </a:solidFill>
              <a:latin typeface="Arial" panose="020B0604020202020204"/>
              <a:ea typeface="Arial" panose="020B0604020202020204"/>
              <a:cs typeface="Arial" panose="020B0604020202020204"/>
            </a:endParaRPr>
          </a:p>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Độ ẩm: 78,8 %</a:t>
            </a:r>
            <a:endParaRPr sz="2400" b="1">
              <a:solidFill>
                <a:srgbClr val="002060"/>
              </a:solidFill>
              <a:latin typeface="Arial" panose="020B0604020202020204"/>
              <a:ea typeface="Arial" panose="020B0604020202020204"/>
              <a:cs typeface="Arial" panose="020B0604020202020204"/>
            </a:endParaRPr>
          </a:p>
        </p:txBody>
      </p:sp>
      <p:sp>
        <p:nvSpPr>
          <p:cNvPr id="253" name="Hình chữ nhật 252"/>
          <p:cNvSpPr>
            <a:spLocks noGrp="1"/>
          </p:cNvSpPr>
          <p:nvPr/>
        </p:nvSpPr>
        <p:spPr>
          <a:xfrm>
            <a:off x="857250" y="5572125"/>
            <a:ext cx="10477500" cy="619125"/>
          </a:xfrm>
          <a:prstGeom prst="rect">
            <a:avLst/>
          </a:prstGeom>
          <a:noFill/>
          <a:ln w="0">
            <a:noFill/>
          </a:ln>
        </p:spPr>
        <p:txBody>
          <a:bodyPr>
            <a:noAutofit/>
          </a:bodyPr>
          <a:lstStyle/>
          <a:p>
            <a:pPr>
              <a:buNone/>
              <a:defRPr sz="2100" b="1">
                <a:solidFill>
                  <a:srgbClr val="002060"/>
                </a:solidFill>
                <a:latin typeface="Arial" panose="020B0604020202020204"/>
                <a:ea typeface="Arial" panose="020B0604020202020204"/>
                <a:cs typeface="Arial" panose="020B0604020202020204"/>
              </a:defRPr>
            </a:pPr>
            <a:r>
              <a:rPr sz="2100" b="1">
                <a:solidFill>
                  <a:srgbClr val="002060"/>
                </a:solidFill>
                <a:latin typeface="Arial" panose="020B0604020202020204"/>
                <a:ea typeface="Arial" panose="020B0604020202020204"/>
                <a:cs typeface="Arial" panose="020B0604020202020204"/>
              </a:rPr>
              <a:t>Hai MQTT sensor cùng nghe một topic và lấy hai khóa khác nhau.</a:t>
            </a:r>
            <a:endParaRPr sz="2100" b="1">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02F15020-66A7-620A-7B7A-C05C4312DEAE}"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12.9 Phân tích bài thực hành 12.1</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12.9.1 Đọc PUBLISH 49484 trong Wireshark</a:t>
            </a:r>
            <a:endParaRPr sz="2400" b="1">
              <a:solidFill>
                <a:srgbClr val="00A65A"/>
              </a:solidFill>
              <a:latin typeface="Arial" panose="020B0604020202020204"/>
              <a:ea typeface="Arial" panose="020B0604020202020204"/>
              <a:cs typeface="Arial" panose="020B0604020202020204"/>
            </a:endParaRPr>
          </a:p>
        </p:txBody>
      </p:sp>
      <p:pic>
        <p:nvPicPr>
          <p:cNvPr id="254" name="Hình ảnh 253"/>
          <p:cNvPicPr>
            <a:picLocks noChangeAspect="1"/>
          </p:cNvPicPr>
          <p:nvPr/>
        </p:nvPicPr>
        <p:blipFill>
          <a:blip r:embed="rId1"/>
          <a:srcRect t="58970" r="50260" b="23588"/>
          <a:stretch>
            <a:fillRect/>
          </a:stretch>
        </p:blipFill>
        <p:spPr>
          <a:xfrm>
            <a:off x="714375" y="1857375"/>
            <a:ext cx="10668000" cy="2381250"/>
          </a:xfrm>
          <a:prstGeom prst="rect">
            <a:avLst/>
          </a:prstGeom>
        </p:spPr>
      </p:pic>
      <p:sp>
        <p:nvSpPr>
          <p:cNvPr id="247" name="Hình chữ nhật 246"/>
          <p:cNvSpPr>
            <a:spLocks noGrp="1"/>
          </p:cNvSpPr>
          <p:nvPr/>
        </p:nvSpPr>
        <p:spPr>
          <a:xfrm>
            <a:off x="714375" y="4476750"/>
            <a:ext cx="10668000" cy="428625"/>
          </a:xfrm>
          <a:prstGeom prst="rect">
            <a:avLst/>
          </a:prstGeom>
          <a:noFill/>
          <a:ln w="0">
            <a:noFill/>
          </a:ln>
        </p:spPr>
        <p:txBody>
          <a:bodyPr>
            <a:noAutofit/>
          </a:bodyPr>
          <a:lstStyle/>
          <a:p>
            <a:pPr>
              <a:buNone/>
              <a:defRPr sz="2175" b="1">
                <a:solidFill>
                  <a:srgbClr val="002060"/>
                </a:solidFill>
                <a:latin typeface="Arial" panose="020B0604020202020204"/>
                <a:ea typeface="Arial" panose="020B0604020202020204"/>
                <a:cs typeface="Arial" panose="020B0604020202020204"/>
              </a:defRPr>
            </a:pPr>
            <a:r>
              <a:rPr sz="2175" b="1">
                <a:solidFill>
                  <a:srgbClr val="002060"/>
                </a:solidFill>
                <a:latin typeface="Arial" panose="020B0604020202020204"/>
                <a:ea typeface="Arial" panose="020B0604020202020204"/>
                <a:cs typeface="Arial" panose="020B0604020202020204"/>
              </a:rPr>
              <a:t>QoS: MQTT &gt; Header Flags &gt; QoS Level = 0 (dòng tô đỏ)</a:t>
            </a:r>
            <a:endParaRPr sz="2175" b="1">
              <a:solidFill>
                <a:srgbClr val="002060"/>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714375" y="5000625"/>
            <a:ext cx="10668000" cy="809625"/>
          </a:xfrm>
          <a:prstGeom prst="rect">
            <a:avLst/>
          </a:prstGeom>
          <a:noFill/>
          <a:ln w="0">
            <a:noFill/>
          </a:ln>
        </p:spPr>
        <p:txBody>
          <a:bodyPr>
            <a:noAutofit/>
          </a:bodyPr>
          <a:lstStyle/>
          <a:p>
            <a:pPr>
              <a:buNone/>
              <a:defRPr sz="2175" b="0">
                <a:solidFill>
                  <a:srgbClr val="002060"/>
                </a:solidFill>
                <a:latin typeface="Arial" panose="020B0604020202020204"/>
                <a:ea typeface="Arial" panose="020B0604020202020204"/>
                <a:cs typeface="Arial" panose="020B0604020202020204"/>
              </a:defRPr>
            </a:pPr>
            <a:r>
              <a:rPr sz="2175" b="0">
                <a:solidFill>
                  <a:srgbClr val="002060"/>
                </a:solidFill>
                <a:latin typeface="Arial" panose="020B0604020202020204"/>
                <a:ea typeface="Arial" panose="020B0604020202020204"/>
                <a:cs typeface="Arial" panose="020B0604020202020204"/>
              </a:rPr>
              <a:t>Topic: iot/lab1/10124332/sensor</a:t>
            </a:r>
            <a:endParaRPr sz="2175" b="0">
              <a:solidFill>
                <a:srgbClr val="002060"/>
              </a:solidFill>
              <a:latin typeface="Arial" panose="020B0604020202020204"/>
              <a:ea typeface="Arial" panose="020B0604020202020204"/>
              <a:cs typeface="Arial" panose="020B0604020202020204"/>
            </a:endParaRPr>
          </a:p>
          <a:p>
            <a:pPr>
              <a:buNone/>
              <a:defRPr sz="2175" b="0">
                <a:solidFill>
                  <a:srgbClr val="002060"/>
                </a:solidFill>
                <a:latin typeface="Arial" panose="020B0604020202020204"/>
                <a:ea typeface="Arial" panose="020B0604020202020204"/>
                <a:cs typeface="Arial" panose="020B0604020202020204"/>
              </a:defRPr>
            </a:pPr>
            <a:r>
              <a:rPr sz="2175" b="0">
                <a:solidFill>
                  <a:srgbClr val="002060"/>
                </a:solidFill>
                <a:latin typeface="Arial" panose="020B0604020202020204"/>
                <a:ea typeface="Arial" panose="020B0604020202020204"/>
                <a:cs typeface="Arial" panose="020B0604020202020204"/>
              </a:rPr>
              <a:t>Payload JSON: {"temp":34,"hum":78.8}</a:t>
            </a:r>
            <a:endParaRPr sz="2175" b="0">
              <a:solidFill>
                <a:srgbClr val="002060"/>
              </a:solidFill>
              <a:latin typeface="Arial" panose="020B0604020202020204"/>
              <a:ea typeface="Arial" panose="020B0604020202020204"/>
              <a:cs typeface="Arial" panose="020B0604020202020204"/>
            </a:endParaRPr>
          </a:p>
        </p:txBody>
      </p:sp>
      <p:sp>
        <p:nvSpPr>
          <p:cNvPr id="249" name="Hình chữ nhật 248"/>
          <p:cNvSpPr>
            <a:spLocks noGrp="1"/>
          </p:cNvSpPr>
          <p:nvPr/>
        </p:nvSpPr>
        <p:spPr>
          <a:xfrm>
            <a:off x="714375" y="5905500"/>
            <a:ext cx="10668000" cy="333375"/>
          </a:xfrm>
          <a:prstGeom prst="rect">
            <a:avLst/>
          </a:prstGeom>
          <a:noFill/>
          <a:ln w="0">
            <a:noFill/>
          </a:ln>
        </p:spPr>
        <p:txBody>
          <a:bodyPr>
            <a:noAutofit/>
          </a:bodyPr>
          <a:lstStyle/>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Header 0x30: PUBLISH, DUP = 0, QoS = 0, Retain = 0</a:t>
            </a:r>
            <a:endParaRPr sz="1875" b="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68AD4375-9F50-F53A-6F9F-DD8473067C05}"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12.9.2 Nhận biết các loại gói MQTT</a:t>
            </a:r>
            <a:endParaRPr sz="2400" b="1">
              <a:solidFill>
                <a:srgbClr val="00A95C"/>
              </a:solidFill>
              <a:latin typeface="Arial" panose="020B0604020202020204"/>
              <a:ea typeface="Arial" panose="020B0604020202020204"/>
              <a:cs typeface="Arial" panose="020B0604020202020204"/>
            </a:endParaRPr>
          </a:p>
        </p:txBody>
      </p:sp>
      <p:sp>
        <p:nvSpPr>
          <p:cNvPr id="243" name="Hình chữ nhật 242"/>
          <p:cNvSpPr>
            <a:spLocks noGrp="1"/>
          </p:cNvSpPr>
          <p:nvPr/>
        </p:nvSpPr>
        <p:spPr>
          <a:xfrm>
            <a:off x="619125" y="1762125"/>
            <a:ext cx="10668000" cy="4238625"/>
          </a:xfrm>
          <a:prstGeom prst="rect">
            <a:avLst/>
          </a:prstGeom>
          <a:noFill/>
          <a:ln w="0">
            <a:noFill/>
          </a:ln>
        </p:spPr>
        <p:txBody>
          <a:bodyPr>
            <a:noAutofit/>
          </a:bodyPr>
          <a:lstStyle/>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Kết nối mới: CONNECT gửi yêu cầu, CONNACK trả lời</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Mỗi lần gửi dữ liệu: tìm PUBLISH cùng topic, payload</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PINGREQ/PINGRESP kiểm tra kết nối đang hoạt động</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DISCONNECT chỉ có khi client chủ động rời kết nối</a:t>
            </a:r>
            <a:endParaRPr sz="2400" b="0">
              <a:solidFill>
                <a:srgbClr val="002060"/>
              </a:solidFill>
              <a:latin typeface="Arial" panose="020B0604020202020204"/>
              <a:ea typeface="Arial" panose="020B0604020202020204"/>
              <a:cs typeface="Arial" panose="020B0604020202020204"/>
            </a:endParaRPr>
          </a:p>
          <a:p>
            <a:pPr marL="228600" indent="-114300">
              <a:spcAft>
                <a:spcPts val="1400"/>
              </a:spcAft>
              <a:buChar char="•"/>
              <a:defRPr sz="2400" b="0">
                <a:solidFill>
                  <a:srgbClr val="002060"/>
                </a:solidFill>
                <a:latin typeface="Arial" panose="020B0604020202020204"/>
                <a:ea typeface="Arial" panose="020B0604020202020204"/>
                <a:cs typeface="Arial" panose="020B0604020202020204"/>
              </a:defRPr>
            </a:pPr>
            <a:r>
              <a:rPr sz="2400" b="0">
                <a:solidFill>
                  <a:srgbClr val="002060"/>
                </a:solidFill>
                <a:latin typeface="Arial" panose="020B0604020202020204"/>
                <a:ea typeface="Arial" panose="020B0604020202020204"/>
                <a:cs typeface="Arial" panose="020B0604020202020204"/>
              </a:rPr>
              <a:t>TCP ACK xác nhận byte TCP. PUBACK xác nhận PUBLISH QoS 1.</a:t>
            </a:r>
            <a:endParaRPr sz="2400" b="0">
              <a:solidFill>
                <a:srgbClr val="002060"/>
              </a:solidFill>
              <a:latin typeface="Arial" panose="020B0604020202020204"/>
              <a:ea typeface="Arial" panose="020B0604020202020204"/>
              <a:cs typeface="Arial" panose="020B060402020202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12.9 Phân tích bài thực hành 12.1</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41680313-6E64-04FF-399A-57B7CADE95A9}"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12.9.3 Đọc cùng một gói ở bốn lớp TCP/IP</a:t>
            </a:r>
            <a:endParaRPr sz="2400" b="1">
              <a:solidFill>
                <a:srgbClr val="00A95C"/>
              </a:solidFill>
              <a:latin typeface="Arial" panose="020B0604020202020204"/>
              <a:ea typeface="Arial" panose="020B0604020202020204"/>
              <a:cs typeface="Arial" panose="020B0604020202020204"/>
            </a:endParaRPr>
          </a:p>
        </p:txBody>
      </p:sp>
      <p:graphicFrame>
        <p:nvGraphicFramePr>
          <p:cNvPr id="248" name="Bảng 247"/>
          <p:cNvGraphicFramePr/>
          <p:nvPr/>
        </p:nvGraphicFramePr>
        <p:xfrm>
          <a:off x="619125" y="1762125"/>
          <a:ext cx="10668000" cy="3810000"/>
        </p:xfrm>
        <a:graphic>
          <a:graphicData uri="http://schemas.openxmlformats.org/drawingml/2006/table">
            <a:tbl>
              <a:tblPr/>
              <a:tblGrid>
                <a:gridCol w="3556000"/>
                <a:gridCol w="3556000"/>
                <a:gridCol w="3556000"/>
              </a:tblGrid>
              <a:tr h="762000">
                <a:tc>
                  <a:txBody>
                    <a:bodyPr/>
                    <a:lstStyle/>
                    <a:p>
                      <a:r>
                        <a:rPr sz="2025" b="1">
                          <a:solidFill>
                            <a:srgbClr val="FFFFFF"/>
                          </a:solidFill>
                          <a:latin typeface="Arial" panose="020B0604020202020204"/>
                          <a:ea typeface="Arial" panose="020B0604020202020204"/>
                          <a:cs typeface="Arial" panose="020B0604020202020204"/>
                        </a:rPr>
                        <a:t>Lớp</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Trường cần đọc</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Trong ví dụ BTH 12.1</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r>
              <a:tr h="762000">
                <a:tc>
                  <a:txBody>
                    <a:bodyPr/>
                    <a:lstStyle/>
                    <a:p>
                      <a:r>
                        <a:rPr sz="2025" b="0">
                          <a:solidFill>
                            <a:srgbClr val="002060"/>
                          </a:solidFill>
                          <a:latin typeface="Arial" panose="020B0604020202020204"/>
                          <a:ea typeface="Arial" panose="020B0604020202020204"/>
                          <a:cs typeface="Arial" panose="020B0604020202020204"/>
                        </a:rPr>
                        <a:t>Liên kết</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Source/Destination MAC</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Đường truyền Wi-Fi/Ethernet</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r h="762000">
                <a:tc>
                  <a:txBody>
                    <a:bodyPr/>
                    <a:lstStyle/>
                    <a:p>
                      <a:r>
                        <a:rPr sz="2025" b="0">
                          <a:solidFill>
                            <a:srgbClr val="002060"/>
                          </a:solidFill>
                          <a:latin typeface="Arial" panose="020B0604020202020204"/>
                          <a:ea typeface="Arial" panose="020B0604020202020204"/>
                          <a:cs typeface="Arial" panose="020B0604020202020204"/>
                        </a:rPr>
                        <a:t>IP</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Source/Destination IP</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172.20.10.2 →</a:t>
                      </a:r>
                      <a:endParaRPr sz="2025" b="0">
                        <a:solidFill>
                          <a:srgbClr val="002060"/>
                        </a:solidFill>
                        <a:latin typeface="Arial" panose="020B0604020202020204"/>
                        <a:ea typeface="Arial" panose="020B0604020202020204"/>
                        <a:cs typeface="Arial" panose="020B0604020202020204"/>
                      </a:endParaRPr>
                    </a:p>
                    <a:p>
                      <a:r>
                        <a:rPr sz="2025" b="0">
                          <a:solidFill>
                            <a:srgbClr val="002060"/>
                          </a:solidFill>
                          <a:latin typeface="Arial" panose="020B0604020202020204"/>
                          <a:ea typeface="Arial" panose="020B0604020202020204"/>
                          <a:cs typeface="Arial" panose="020B0604020202020204"/>
                        </a:rPr>
                        <a:t>172.20.10.5</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r>
              <a:tr h="762000">
                <a:tc>
                  <a:txBody>
                    <a:bodyPr/>
                    <a:lstStyle/>
                    <a:p>
                      <a:r>
                        <a:rPr sz="2025" b="0">
                          <a:solidFill>
                            <a:srgbClr val="002060"/>
                          </a:solidFill>
                          <a:latin typeface="Arial" panose="020B0604020202020204"/>
                          <a:ea typeface="Arial" panose="020B0604020202020204"/>
                          <a:cs typeface="Arial" panose="020B0604020202020204"/>
                        </a:rPr>
                        <a:t>TCP</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Source/Destination port</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Cổng ESP → cổng broker 1883</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r h="762000">
                <a:tc>
                  <a:txBody>
                    <a:bodyPr/>
                    <a:lstStyle/>
                    <a:p>
                      <a:r>
                        <a:rPr sz="2100">
                          <a:solidFill>
                            <a:srgbClr val="002060"/>
                          </a:solidFill>
                        </a:rPr>
                        <a:t>MQTT</a:t>
                      </a:r>
                      <a:endParaRPr sz="2100">
                        <a:solidFill>
                          <a:srgbClr val="002060"/>
                        </a:solidFill>
                      </a:endParaRPr>
                    </a:p>
                  </a:txBody>
                  <a:tcPr>
                    <a:solidFill>
                      <a:srgbClr val="FFFFFF"/>
                    </a:solidFill>
                  </a:tcPr>
                </a:tc>
                <a:tc>
                  <a:txBody>
                    <a:bodyPr/>
                    <a:lstStyle/>
                    <a:p>
                      <a:r>
                        <a:rPr sz="2100">
                          <a:solidFill>
                            <a:srgbClr val="002060"/>
                          </a:solidFill>
                        </a:rPr>
                        <a:t>Loại gói, topic, payload</a:t>
                      </a:r>
                      <a:endParaRPr sz="2100">
                        <a:solidFill>
                          <a:srgbClr val="002060"/>
                        </a:solidFill>
                      </a:endParaRPr>
                    </a:p>
                  </a:txBody>
                  <a:tcPr>
                    <a:solidFill>
                      <a:srgbClr val="FFFFFF"/>
                    </a:solidFill>
                  </a:tcPr>
                </a:tc>
                <a:tc>
                  <a:txBody>
                    <a:bodyPr/>
                    <a:lstStyle/>
                    <a:p>
                      <a:r>
                        <a:rPr sz="2100">
                          <a:solidFill>
                            <a:srgbClr val="002060"/>
                          </a:solidFill>
                        </a:rPr>
                        <a:t>PUBLISH; JSON temp và hum</a:t>
                      </a:r>
                      <a:endParaRPr sz="2100">
                        <a:solidFill>
                          <a:srgbClr val="002060"/>
                        </a:solidFill>
                      </a:endParaRPr>
                    </a:p>
                  </a:txBody>
                  <a:tcPr>
                    <a:solidFill>
                      <a:srgbClr val="FFFFFF"/>
                    </a:solidFill>
                  </a:tcPr>
                </a:tc>
              </a:tr>
            </a:tbl>
          </a:graphicData>
        </a:graphic>
      </p:graphicFrame>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12.9 Phân tích bài thực hành 12.1</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5FEBBBCE-9E16-527A-0EE3-E5839422D847}"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12.9 Phân tích bài thực hành 12.1</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defRPr sz="2400" b="0">
                <a:solidFill>
                  <a:srgbClr val="00A65A"/>
                </a:solidFill>
                <a:latin typeface="Arial" panose="020B0604020202020204"/>
                <a:ea typeface="Arial" panose="020B0604020202020204"/>
                <a:cs typeface="Arial" panose="020B0604020202020204"/>
              </a:defRPr>
            </a:pPr>
            <a:r>
              <a:rPr sz="2400" b="0">
                <a:solidFill>
                  <a:srgbClr val="00A65A"/>
                </a:solidFill>
                <a:latin typeface="Arial" panose="020B0604020202020204"/>
                <a:ea typeface="Arial" panose="020B0604020202020204"/>
                <a:cs typeface="Arial" panose="020B0604020202020204"/>
              </a:rPr>
              <a:t>12.9.4 Chỉ trực tiếp các lớp và trường trên Wireshark</a:t>
            </a:r>
            <a:endParaRPr sz="2400" b="0">
              <a:solidFill>
                <a:srgbClr val="00A65A"/>
              </a:solidFill>
              <a:latin typeface="Arial" panose="020B0604020202020204"/>
              <a:ea typeface="Arial" panose="020B0604020202020204"/>
              <a:cs typeface="Arial" panose="020B0604020202020204"/>
            </a:endParaRPr>
          </a:p>
        </p:txBody>
      </p:sp>
      <p:pic>
        <p:nvPicPr>
          <p:cNvPr id="261" name="Hình ảnh 260"/>
          <p:cNvPicPr>
            <a:picLocks noChangeAspect="1"/>
          </p:cNvPicPr>
          <p:nvPr/>
        </p:nvPicPr>
        <p:blipFill>
          <a:blip r:embed="rId1"/>
          <a:srcRect t="53405" r="50260" b="41196"/>
          <a:stretch>
            <a:fillRect/>
          </a:stretch>
        </p:blipFill>
        <p:spPr>
          <a:xfrm>
            <a:off x="952500" y="1809750"/>
            <a:ext cx="10382250" cy="704850"/>
          </a:xfrm>
          <a:prstGeom prst="rect">
            <a:avLst/>
          </a:prstGeom>
        </p:spPr>
      </p:pic>
      <p:sp>
        <p:nvSpPr>
          <p:cNvPr id="247" name="Hình chữ nhật 246"/>
          <p:cNvSpPr>
            <a:spLocks noGrp="1"/>
          </p:cNvSpPr>
          <p:nvPr/>
        </p:nvSpPr>
        <p:spPr>
          <a:xfrm>
            <a:off x="619125" y="1790700"/>
            <a:ext cx="285750" cy="266700"/>
          </a:xfrm>
          <a:prstGeom prst="rect">
            <a:avLst/>
          </a:prstGeom>
          <a:noFill/>
          <a:ln w="0">
            <a:noFill/>
          </a:ln>
        </p:spPr>
        <p:txBody>
          <a:bodyPr>
            <a:noAutofit/>
          </a:bodyPr>
          <a:lstStyle/>
          <a:p>
            <a:pPr>
              <a:defRPr sz="1650" b="1">
                <a:solidFill>
                  <a:srgbClr val="00A65A"/>
                </a:solidFill>
                <a:latin typeface="Arial" panose="020B0604020202020204"/>
                <a:ea typeface="Arial" panose="020B0604020202020204"/>
                <a:cs typeface="Arial" panose="020B0604020202020204"/>
              </a:defRPr>
            </a:pPr>
            <a:r>
              <a:rPr sz="1650" b="1">
                <a:solidFill>
                  <a:srgbClr val="00A65A"/>
                </a:solidFill>
                <a:latin typeface="Arial" panose="020B0604020202020204"/>
                <a:ea typeface="Arial" panose="020B0604020202020204"/>
                <a:cs typeface="Arial" panose="020B0604020202020204"/>
              </a:rPr>
              <a:t>1</a:t>
            </a:r>
            <a:endParaRPr sz="1650" b="1">
              <a:solidFill>
                <a:srgbClr val="00A65A"/>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619125" y="2009775"/>
            <a:ext cx="285750" cy="266700"/>
          </a:xfrm>
          <a:prstGeom prst="rect">
            <a:avLst/>
          </a:prstGeom>
          <a:noFill/>
          <a:ln w="0">
            <a:noFill/>
          </a:ln>
        </p:spPr>
        <p:txBody>
          <a:bodyPr>
            <a:noAutofit/>
          </a:bodyPr>
          <a:lstStyle/>
          <a:p>
            <a:pPr>
              <a:defRPr sz="1650" b="1">
                <a:solidFill>
                  <a:srgbClr val="00A65A"/>
                </a:solidFill>
                <a:latin typeface="Arial" panose="020B0604020202020204"/>
                <a:ea typeface="Arial" panose="020B0604020202020204"/>
                <a:cs typeface="Arial" panose="020B0604020202020204"/>
              </a:defRPr>
            </a:pPr>
            <a:r>
              <a:rPr sz="1650" b="1">
                <a:solidFill>
                  <a:srgbClr val="00A65A"/>
                </a:solidFill>
                <a:latin typeface="Arial" panose="020B0604020202020204"/>
                <a:ea typeface="Arial" panose="020B0604020202020204"/>
                <a:cs typeface="Arial" panose="020B0604020202020204"/>
              </a:rPr>
              <a:t>2</a:t>
            </a:r>
            <a:endParaRPr sz="1650" b="1">
              <a:solidFill>
                <a:srgbClr val="00A65A"/>
              </a:solidFill>
              <a:latin typeface="Arial" panose="020B0604020202020204"/>
              <a:ea typeface="Arial" panose="020B0604020202020204"/>
              <a:cs typeface="Arial" panose="020B0604020202020204"/>
            </a:endParaRPr>
          </a:p>
        </p:txBody>
      </p:sp>
      <p:sp>
        <p:nvSpPr>
          <p:cNvPr id="249" name="Hình chữ nhật 248"/>
          <p:cNvSpPr>
            <a:spLocks noGrp="1"/>
          </p:cNvSpPr>
          <p:nvPr/>
        </p:nvSpPr>
        <p:spPr>
          <a:xfrm>
            <a:off x="619125" y="2228850"/>
            <a:ext cx="285750" cy="266700"/>
          </a:xfrm>
          <a:prstGeom prst="rect">
            <a:avLst/>
          </a:prstGeom>
          <a:noFill/>
          <a:ln w="0">
            <a:noFill/>
          </a:ln>
        </p:spPr>
        <p:txBody>
          <a:bodyPr>
            <a:noAutofit/>
          </a:bodyPr>
          <a:lstStyle/>
          <a:p>
            <a:pPr>
              <a:defRPr sz="1650" b="1">
                <a:solidFill>
                  <a:srgbClr val="00A65A"/>
                </a:solidFill>
                <a:latin typeface="Arial" panose="020B0604020202020204"/>
                <a:ea typeface="Arial" panose="020B0604020202020204"/>
                <a:cs typeface="Arial" panose="020B0604020202020204"/>
              </a:defRPr>
            </a:pPr>
            <a:r>
              <a:rPr sz="1650" b="1">
                <a:solidFill>
                  <a:srgbClr val="00A65A"/>
                </a:solidFill>
                <a:latin typeface="Arial" panose="020B0604020202020204"/>
                <a:ea typeface="Arial" panose="020B0604020202020204"/>
                <a:cs typeface="Arial" panose="020B0604020202020204"/>
              </a:rPr>
              <a:t>3</a:t>
            </a:r>
            <a:endParaRPr sz="1650" b="1">
              <a:solidFill>
                <a:srgbClr val="00A65A"/>
              </a:solidFill>
              <a:latin typeface="Arial" panose="020B0604020202020204"/>
              <a:ea typeface="Arial" panose="020B0604020202020204"/>
              <a:cs typeface="Arial" panose="020B0604020202020204"/>
            </a:endParaRPr>
          </a:p>
        </p:txBody>
      </p:sp>
      <p:sp>
        <p:nvSpPr>
          <p:cNvPr id="250" name="Hình chữ nhật 249"/>
          <p:cNvSpPr>
            <a:spLocks noGrp="1"/>
          </p:cNvSpPr>
          <p:nvPr/>
        </p:nvSpPr>
        <p:spPr>
          <a:xfrm>
            <a:off x="714375" y="2667000"/>
            <a:ext cx="3476625" cy="762000"/>
          </a:xfrm>
          <a:prstGeom prst="rect">
            <a:avLst/>
          </a:prstGeom>
          <a:noFill/>
          <a:ln w="0">
            <a:noFill/>
          </a:ln>
        </p:spPr>
        <p:txBody>
          <a:bodyPr>
            <a:noAutofit/>
          </a:bodyPr>
          <a:lstStyle/>
          <a:p>
            <a:pPr>
              <a:defRPr sz="1650" b="0">
                <a:solidFill>
                  <a:srgbClr val="002060"/>
                </a:solidFill>
                <a:latin typeface="Arial" panose="020B0604020202020204"/>
                <a:ea typeface="Arial" panose="020B0604020202020204"/>
                <a:cs typeface="Arial" panose="020B0604020202020204"/>
              </a:defRPr>
            </a:pPr>
            <a:r>
              <a:rPr sz="1650" b="0">
                <a:solidFill>
                  <a:srgbClr val="002060"/>
                </a:solidFill>
                <a:latin typeface="Arial" panose="020B0604020202020204"/>
                <a:ea typeface="Arial" panose="020B0604020202020204"/>
                <a:cs typeface="Arial" panose="020B0604020202020204"/>
              </a:rPr>
              <a:t>① Liên kết: Ethernet II</a:t>
            </a:r>
            <a:endParaRPr sz="1650" b="0">
              <a:solidFill>
                <a:srgbClr val="002060"/>
              </a:solidFill>
              <a:latin typeface="Arial" panose="020B0604020202020204"/>
              <a:ea typeface="Arial" panose="020B0604020202020204"/>
              <a:cs typeface="Arial" panose="020B0604020202020204"/>
            </a:endParaRPr>
          </a:p>
          <a:p>
            <a:pPr>
              <a:defRPr sz="1650" b="0">
                <a:solidFill>
                  <a:srgbClr val="002060"/>
                </a:solidFill>
                <a:latin typeface="Arial" panose="020B0604020202020204"/>
                <a:ea typeface="Arial" panose="020B0604020202020204"/>
                <a:cs typeface="Arial" panose="020B0604020202020204"/>
              </a:defRPr>
            </a:pPr>
            <a:r>
              <a:rPr sz="1650" b="0">
                <a:solidFill>
                  <a:srgbClr val="002060"/>
                </a:solidFill>
                <a:latin typeface="Arial" panose="020B0604020202020204"/>
                <a:ea typeface="Arial" panose="020B0604020202020204"/>
                <a:cs typeface="Arial" panose="020B0604020202020204"/>
              </a:rPr>
              <a:t>Src / Dst = MAC nguồn / đích</a:t>
            </a:r>
            <a:endParaRPr sz="1650" b="0">
              <a:solidFill>
                <a:srgbClr val="002060"/>
              </a:solidFill>
              <a:latin typeface="Arial" panose="020B0604020202020204"/>
              <a:ea typeface="Arial" panose="020B0604020202020204"/>
              <a:cs typeface="Arial" panose="020B0604020202020204"/>
            </a:endParaRPr>
          </a:p>
        </p:txBody>
      </p:sp>
      <p:sp>
        <p:nvSpPr>
          <p:cNvPr id="251" name="Hình chữ nhật 250"/>
          <p:cNvSpPr>
            <a:spLocks noGrp="1"/>
          </p:cNvSpPr>
          <p:nvPr/>
        </p:nvSpPr>
        <p:spPr>
          <a:xfrm>
            <a:off x="4286250" y="2667000"/>
            <a:ext cx="3714750" cy="762000"/>
          </a:xfrm>
          <a:prstGeom prst="rect">
            <a:avLst/>
          </a:prstGeom>
          <a:noFill/>
          <a:ln w="0">
            <a:noFill/>
          </a:ln>
        </p:spPr>
        <p:txBody>
          <a:bodyPr>
            <a:noAutofit/>
          </a:bodyPr>
          <a:lstStyle/>
          <a:p>
            <a:pPr>
              <a:defRPr sz="1650" b="0">
                <a:solidFill>
                  <a:srgbClr val="002060"/>
                </a:solidFill>
                <a:latin typeface="Arial" panose="020B0604020202020204"/>
                <a:ea typeface="Arial" panose="020B0604020202020204"/>
                <a:cs typeface="Arial" panose="020B0604020202020204"/>
              </a:defRPr>
            </a:pPr>
            <a:r>
              <a:rPr sz="1650" b="0">
                <a:solidFill>
                  <a:srgbClr val="002060"/>
                </a:solidFill>
                <a:latin typeface="Arial" panose="020B0604020202020204"/>
                <a:ea typeface="Arial" panose="020B0604020202020204"/>
                <a:cs typeface="Arial" panose="020B0604020202020204"/>
              </a:rPr>
              <a:t>② Internet: IPv4</a:t>
            </a:r>
            <a:endParaRPr sz="1650" b="0">
              <a:solidFill>
                <a:srgbClr val="002060"/>
              </a:solidFill>
              <a:latin typeface="Arial" panose="020B0604020202020204"/>
              <a:ea typeface="Arial" panose="020B0604020202020204"/>
              <a:cs typeface="Arial" panose="020B0604020202020204"/>
            </a:endParaRPr>
          </a:p>
          <a:p>
            <a:pPr>
              <a:defRPr sz="1650" b="0">
                <a:solidFill>
                  <a:srgbClr val="002060"/>
                </a:solidFill>
                <a:latin typeface="Arial" panose="020B0604020202020204"/>
                <a:ea typeface="Arial" panose="020B0604020202020204"/>
                <a:cs typeface="Arial" panose="020B0604020202020204"/>
              </a:defRPr>
            </a:pPr>
            <a:r>
              <a:rPr sz="1650" b="0">
                <a:solidFill>
                  <a:srgbClr val="002060"/>
                </a:solidFill>
                <a:latin typeface="Arial" panose="020B0604020202020204"/>
                <a:ea typeface="Arial" panose="020B0604020202020204"/>
                <a:cs typeface="Arial" panose="020B0604020202020204"/>
              </a:rPr>
              <a:t>IP: 172.20.10.2 → 172.20.10.5</a:t>
            </a:r>
            <a:endParaRPr sz="1650" b="0">
              <a:solidFill>
                <a:srgbClr val="002060"/>
              </a:solidFill>
              <a:latin typeface="Arial" panose="020B0604020202020204"/>
              <a:ea typeface="Arial" panose="020B0604020202020204"/>
              <a:cs typeface="Arial" panose="020B0604020202020204"/>
            </a:endParaRPr>
          </a:p>
        </p:txBody>
      </p:sp>
      <p:sp>
        <p:nvSpPr>
          <p:cNvPr id="252" name="Hình chữ nhật 251"/>
          <p:cNvSpPr>
            <a:spLocks noGrp="1"/>
          </p:cNvSpPr>
          <p:nvPr/>
        </p:nvSpPr>
        <p:spPr>
          <a:xfrm>
            <a:off x="8096250" y="2667000"/>
            <a:ext cx="3333750" cy="952500"/>
          </a:xfrm>
          <a:prstGeom prst="rect">
            <a:avLst/>
          </a:prstGeom>
          <a:noFill/>
          <a:ln w="0">
            <a:noFill/>
          </a:ln>
        </p:spPr>
        <p:txBody>
          <a:bodyPr>
            <a:noAutofit/>
          </a:bodyPr>
          <a:lstStyle/>
          <a:p>
            <a:pPr>
              <a:defRPr sz="1650" b="0">
                <a:solidFill>
                  <a:srgbClr val="002060"/>
                </a:solidFill>
                <a:latin typeface="Arial" panose="020B0604020202020204"/>
                <a:ea typeface="Arial" panose="020B0604020202020204"/>
                <a:cs typeface="Arial" panose="020B0604020202020204"/>
              </a:defRPr>
            </a:pPr>
            <a:r>
              <a:rPr sz="1650" b="0">
                <a:solidFill>
                  <a:srgbClr val="002060"/>
                </a:solidFill>
                <a:latin typeface="Arial" panose="020B0604020202020204"/>
                <a:ea typeface="Arial" panose="020B0604020202020204"/>
                <a:cs typeface="Arial" panose="020B0604020202020204"/>
              </a:rPr>
              <a:t>③ Giao vận: TCP</a:t>
            </a:r>
            <a:endParaRPr sz="1650" b="0">
              <a:solidFill>
                <a:srgbClr val="002060"/>
              </a:solidFill>
              <a:latin typeface="Arial" panose="020B0604020202020204"/>
              <a:ea typeface="Arial" panose="020B0604020202020204"/>
              <a:cs typeface="Arial" panose="020B0604020202020204"/>
            </a:endParaRPr>
          </a:p>
          <a:p>
            <a:pPr>
              <a:defRPr sz="1650" b="0">
                <a:solidFill>
                  <a:srgbClr val="002060"/>
                </a:solidFill>
                <a:latin typeface="Arial" panose="020B0604020202020204"/>
                <a:ea typeface="Arial" panose="020B0604020202020204"/>
                <a:cs typeface="Arial" panose="020B0604020202020204"/>
              </a:defRPr>
            </a:pPr>
            <a:r>
              <a:rPr sz="1650" b="0">
                <a:solidFill>
                  <a:srgbClr val="002060"/>
                </a:solidFill>
                <a:latin typeface="Arial" panose="020B0604020202020204"/>
                <a:ea typeface="Arial" panose="020B0604020202020204"/>
                <a:cs typeface="Arial" panose="020B0604020202020204"/>
              </a:rPr>
              <a:t>Cổng: 53335 → 1883</a:t>
            </a:r>
            <a:endParaRPr sz="1650" b="0">
              <a:solidFill>
                <a:srgbClr val="002060"/>
              </a:solidFill>
              <a:latin typeface="Arial" panose="020B0604020202020204"/>
              <a:ea typeface="Arial" panose="020B0604020202020204"/>
              <a:cs typeface="Arial" panose="020B0604020202020204"/>
            </a:endParaRPr>
          </a:p>
          <a:p>
            <a:pPr>
              <a:defRPr sz="1650" b="0">
                <a:solidFill>
                  <a:srgbClr val="002060"/>
                </a:solidFill>
                <a:latin typeface="Arial" panose="020B0604020202020204"/>
                <a:ea typeface="Arial" panose="020B0604020202020204"/>
                <a:cs typeface="Arial" panose="020B0604020202020204"/>
              </a:defRPr>
            </a:pPr>
            <a:r>
              <a:rPr sz="1650" b="0">
                <a:solidFill>
                  <a:srgbClr val="002060"/>
                </a:solidFill>
                <a:latin typeface="Arial" panose="020B0604020202020204"/>
                <a:ea typeface="Arial" panose="020B0604020202020204"/>
                <a:cs typeface="Arial" panose="020B0604020202020204"/>
              </a:rPr>
              <a:t>Seq = 790; Ack = 13</a:t>
            </a:r>
            <a:endParaRPr sz="1650" b="0">
              <a:solidFill>
                <a:srgbClr val="002060"/>
              </a:solidFill>
              <a:latin typeface="Arial" panose="020B0604020202020204"/>
              <a:ea typeface="Arial" panose="020B0604020202020204"/>
              <a:cs typeface="Arial" panose="020B0604020202020204"/>
            </a:endParaRPr>
          </a:p>
        </p:txBody>
      </p:sp>
      <p:sp>
        <p:nvSpPr>
          <p:cNvPr id="253" name="Hình chữ nhật 252"/>
          <p:cNvSpPr>
            <a:spLocks noGrp="1"/>
          </p:cNvSpPr>
          <p:nvPr/>
        </p:nvSpPr>
        <p:spPr>
          <a:xfrm>
            <a:off x="714375" y="3619500"/>
            <a:ext cx="10668000" cy="361950"/>
          </a:xfrm>
          <a:prstGeom prst="rect">
            <a:avLst/>
          </a:prstGeom>
          <a:noFill/>
          <a:ln w="0">
            <a:noFill/>
          </a:ln>
        </p:spPr>
        <p:txBody>
          <a:bodyPr>
            <a:noAutofit/>
          </a:bodyPr>
          <a:lstStyle/>
          <a:p>
            <a:pPr>
              <a:defRPr sz="1875" b="1">
                <a:solidFill>
                  <a:srgbClr val="00A65A"/>
                </a:solidFill>
                <a:latin typeface="Arial" panose="020B0604020202020204"/>
                <a:ea typeface="Arial" panose="020B0604020202020204"/>
                <a:cs typeface="Arial" panose="020B0604020202020204"/>
              </a:defRPr>
            </a:pPr>
            <a:r>
              <a:rPr sz="1875" b="1">
                <a:solidFill>
                  <a:srgbClr val="00A65A"/>
                </a:solidFill>
                <a:latin typeface="Arial" panose="020B0604020202020204"/>
                <a:ea typeface="Arial" panose="020B0604020202020204"/>
                <a:cs typeface="Arial" panose="020B0604020202020204"/>
              </a:rPr>
              <a:t>④ Ứng dụng: MQTT — mở cây để đọc bản tin PUBLISH</a:t>
            </a:r>
            <a:endParaRPr sz="1875" b="1">
              <a:solidFill>
                <a:srgbClr val="00A65A"/>
              </a:solidFill>
              <a:latin typeface="Arial" panose="020B0604020202020204"/>
              <a:ea typeface="Arial" panose="020B0604020202020204"/>
              <a:cs typeface="Arial" panose="020B0604020202020204"/>
            </a:endParaRPr>
          </a:p>
        </p:txBody>
      </p:sp>
      <p:pic>
        <p:nvPicPr>
          <p:cNvPr id="269" name="Hình ảnh 268"/>
          <p:cNvPicPr>
            <a:picLocks noChangeAspect="1"/>
          </p:cNvPicPr>
          <p:nvPr/>
        </p:nvPicPr>
        <p:blipFill>
          <a:blip r:embed="rId1"/>
          <a:srcRect t="58472" r="50260" b="24169"/>
          <a:stretch>
            <a:fillRect/>
          </a:stretch>
        </p:blipFill>
        <p:spPr>
          <a:xfrm>
            <a:off x="714375" y="4086225"/>
            <a:ext cx="7286625" cy="1600200"/>
          </a:xfrm>
          <a:prstGeom prst="rect">
            <a:avLst/>
          </a:prstGeom>
        </p:spPr>
      </p:pic>
      <p:sp>
        <p:nvSpPr>
          <p:cNvPr id="255" name="Hình chữ nhật 254"/>
          <p:cNvSpPr>
            <a:spLocks noGrp="1"/>
          </p:cNvSpPr>
          <p:nvPr/>
        </p:nvSpPr>
        <p:spPr>
          <a:xfrm>
            <a:off x="8143875" y="4048125"/>
            <a:ext cx="3286125" cy="1047750"/>
          </a:xfrm>
          <a:prstGeom prst="rect">
            <a:avLst/>
          </a:prstGeom>
          <a:noFill/>
          <a:ln w="0">
            <a:noFill/>
          </a:ln>
        </p:spPr>
        <p:txBody>
          <a:bodyPr>
            <a:noAutofit/>
          </a:bodyPr>
          <a:lstStyle/>
          <a:p>
            <a:pPr>
              <a:defRPr sz="1575" b="0">
                <a:solidFill>
                  <a:srgbClr val="002060"/>
                </a:solidFill>
                <a:latin typeface="Arial" panose="020B0604020202020204"/>
                <a:ea typeface="Arial" panose="020B0604020202020204"/>
                <a:cs typeface="Arial" panose="020B0604020202020204"/>
              </a:defRPr>
            </a:pPr>
            <a:r>
              <a:rPr sz="1575" b="0">
                <a:solidFill>
                  <a:srgbClr val="002060"/>
                </a:solidFill>
                <a:latin typeface="Arial" panose="020B0604020202020204"/>
                <a:ea typeface="Arial" panose="020B0604020202020204"/>
                <a:cs typeface="Arial" panose="020B0604020202020204"/>
              </a:rPr>
              <a:t>Header Flags → QoS Level: 0</a:t>
            </a:r>
            <a:endParaRPr sz="1575" b="0">
              <a:solidFill>
                <a:srgbClr val="002060"/>
              </a:solidFill>
              <a:latin typeface="Arial" panose="020B0604020202020204"/>
              <a:ea typeface="Arial" panose="020B0604020202020204"/>
              <a:cs typeface="Arial" panose="020B0604020202020204"/>
            </a:endParaRPr>
          </a:p>
          <a:p>
            <a:pPr>
              <a:defRPr sz="1575" b="0">
                <a:solidFill>
                  <a:srgbClr val="002060"/>
                </a:solidFill>
                <a:latin typeface="Arial" panose="020B0604020202020204"/>
                <a:ea typeface="Arial" panose="020B0604020202020204"/>
                <a:cs typeface="Arial" panose="020B0604020202020204"/>
              </a:defRPr>
            </a:pPr>
            <a:r>
              <a:rPr sz="1575" b="0">
                <a:solidFill>
                  <a:srgbClr val="002060"/>
                </a:solidFill>
                <a:latin typeface="Arial" panose="020B0604020202020204"/>
                <a:ea typeface="Arial" panose="020B0604020202020204"/>
                <a:cs typeface="Arial" panose="020B0604020202020204"/>
              </a:rPr>
              <a:t>Topic: địa chỉ chủ đề nhận tin</a:t>
            </a:r>
            <a:endParaRPr sz="1575" b="0">
              <a:solidFill>
                <a:srgbClr val="002060"/>
              </a:solidFill>
              <a:latin typeface="Arial" panose="020B0604020202020204"/>
              <a:ea typeface="Arial" panose="020B0604020202020204"/>
              <a:cs typeface="Arial" panose="020B0604020202020204"/>
            </a:endParaRPr>
          </a:p>
          <a:p>
            <a:pPr>
              <a:defRPr sz="1575" b="0">
                <a:solidFill>
                  <a:srgbClr val="002060"/>
                </a:solidFill>
                <a:latin typeface="Arial" panose="020B0604020202020204"/>
                <a:ea typeface="Arial" panose="020B0604020202020204"/>
                <a:cs typeface="Arial" panose="020B0604020202020204"/>
              </a:defRPr>
            </a:pPr>
            <a:r>
              <a:rPr sz="1575" b="0">
                <a:solidFill>
                  <a:srgbClr val="002060"/>
                </a:solidFill>
                <a:latin typeface="Arial" panose="020B0604020202020204"/>
                <a:ea typeface="Arial" panose="020B0604020202020204"/>
                <a:cs typeface="Arial" panose="020B0604020202020204"/>
              </a:rPr>
              <a:t>Message: nội dung (payload)</a:t>
            </a:r>
            <a:endParaRPr sz="1575" b="0">
              <a:solidFill>
                <a:srgbClr val="002060"/>
              </a:solidFill>
              <a:latin typeface="Arial" panose="020B0604020202020204"/>
              <a:ea typeface="Arial" panose="020B0604020202020204"/>
              <a:cs typeface="Arial" panose="020B0604020202020204"/>
            </a:endParaRPr>
          </a:p>
        </p:txBody>
      </p:sp>
      <p:sp>
        <p:nvSpPr>
          <p:cNvPr id="256" name="Hình chữ nhật 255"/>
          <p:cNvSpPr>
            <a:spLocks noGrp="1"/>
          </p:cNvSpPr>
          <p:nvPr/>
        </p:nvSpPr>
        <p:spPr>
          <a:xfrm>
            <a:off x="8143875" y="5133975"/>
            <a:ext cx="3286125" cy="666750"/>
          </a:xfrm>
          <a:prstGeom prst="rect">
            <a:avLst/>
          </a:prstGeom>
          <a:noFill/>
          <a:ln w="0">
            <a:noFill/>
          </a:ln>
        </p:spPr>
        <p:txBody>
          <a:bodyPr>
            <a:noAutofit/>
          </a:bodyPr>
          <a:lstStyle/>
          <a:p>
            <a:pPr>
              <a:defRPr sz="1575" b="0">
                <a:solidFill>
                  <a:srgbClr val="002060"/>
                </a:solidFill>
                <a:latin typeface="Arial" panose="020B0604020202020204"/>
                <a:ea typeface="Arial" panose="020B0604020202020204"/>
                <a:cs typeface="Arial" panose="020B0604020202020204"/>
              </a:defRPr>
            </a:pPr>
            <a:r>
              <a:rPr sz="1575" b="0">
                <a:solidFill>
                  <a:srgbClr val="002060"/>
                </a:solidFill>
                <a:latin typeface="Arial" panose="020B0604020202020204"/>
                <a:ea typeface="Arial" panose="020B0604020202020204"/>
                <a:cs typeface="Arial" panose="020B0604020202020204"/>
              </a:rPr>
              <a:t>Giải mã Message → JSON:</a:t>
            </a:r>
            <a:endParaRPr sz="1575" b="0">
              <a:solidFill>
                <a:srgbClr val="002060"/>
              </a:solidFill>
              <a:latin typeface="Arial" panose="020B0604020202020204"/>
              <a:ea typeface="Arial" panose="020B0604020202020204"/>
              <a:cs typeface="Arial" panose="020B0604020202020204"/>
            </a:endParaRPr>
          </a:p>
          <a:p>
            <a:pPr>
              <a:defRPr sz="1575" b="0">
                <a:solidFill>
                  <a:srgbClr val="002060"/>
                </a:solidFill>
                <a:latin typeface="Arial" panose="020B0604020202020204"/>
                <a:ea typeface="Arial" panose="020B0604020202020204"/>
                <a:cs typeface="Arial" panose="020B0604020202020204"/>
              </a:defRPr>
            </a:pPr>
            <a:r>
              <a:rPr sz="1575" b="0">
                <a:solidFill>
                  <a:srgbClr val="002060"/>
                </a:solidFill>
                <a:latin typeface="Arial" panose="020B0604020202020204"/>
                <a:ea typeface="Arial" panose="020B0604020202020204"/>
                <a:cs typeface="Arial" panose="020B0604020202020204"/>
              </a:rPr>
              <a:t>{"temp":34,"hum":78.8}</a:t>
            </a:r>
            <a:endParaRPr sz="1575" b="0">
              <a:solidFill>
                <a:srgbClr val="002060"/>
              </a:solidFill>
              <a:latin typeface="Arial" panose="020B0604020202020204"/>
              <a:ea typeface="Arial" panose="020B0604020202020204"/>
              <a:cs typeface="Arial" panose="020B0604020202020204"/>
            </a:endParaRPr>
          </a:p>
        </p:txBody>
      </p:sp>
      <p:sp>
        <p:nvSpPr>
          <p:cNvPr id="257" name="Hình chữ nhật 256"/>
          <p:cNvSpPr>
            <a:spLocks noGrp="1"/>
          </p:cNvSpPr>
          <p:nvPr/>
        </p:nvSpPr>
        <p:spPr>
          <a:xfrm>
            <a:off x="714375" y="5867400"/>
            <a:ext cx="10668000" cy="361950"/>
          </a:xfrm>
          <a:prstGeom prst="rect">
            <a:avLst/>
          </a:prstGeom>
          <a:noFill/>
          <a:ln w="0">
            <a:noFill/>
          </a:ln>
        </p:spPr>
        <p:txBody>
          <a:bodyPr>
            <a:noAutofit/>
          </a:bodyPr>
          <a:lstStyle/>
          <a:p>
            <a:pPr>
              <a:defRPr sz="1425" b="0">
                <a:solidFill>
                  <a:srgbClr val="002060"/>
                </a:solidFill>
                <a:latin typeface="Arial" panose="020B0604020202020204"/>
                <a:ea typeface="Arial" panose="020B0604020202020204"/>
                <a:cs typeface="Arial" panose="020B0604020202020204"/>
              </a:defRPr>
            </a:pPr>
            <a:r>
              <a:rPr sz="1425" b="0">
                <a:solidFill>
                  <a:srgbClr val="002060"/>
                </a:solidFill>
                <a:latin typeface="Arial" panose="020B0604020202020204"/>
                <a:ea typeface="Arial" panose="020B0604020202020204"/>
                <a:cs typeface="Arial" panose="020B0604020202020204"/>
              </a:rPr>
              <a:t>Ảnh gói 49484: đọc từ lớp ngoài vào trong. Dòng Frame chỉ là thông tin bản bắt, không phải một lớp TCP/IP.</a:t>
            </a:r>
            <a:endParaRPr sz="1425" b="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D172A7C5-A0CC-7B36-F236-345181E6AD72}"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12.9 Phân tích bài thực hành 12.1</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12.9.5 CONNECT và CONNACK</a:t>
            </a:r>
            <a:endParaRPr sz="2400" b="1">
              <a:solidFill>
                <a:srgbClr val="00A65A"/>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714375" y="2000250"/>
            <a:ext cx="3524250" cy="1047750"/>
          </a:xfrm>
          <a:prstGeom prst="rect">
            <a:avLst/>
          </a:prstGeom>
          <a:solidFill>
            <a:srgbClr val="EFF8F3"/>
          </a:solidFill>
          <a:ln w="19050">
            <a:solidFill>
              <a:srgbClr val="00A65A"/>
            </a:solidFill>
          </a:ln>
        </p:spPr>
      </p:sp>
      <p:sp>
        <p:nvSpPr>
          <p:cNvPr id="247" name="Hình chữ nhật 246"/>
          <p:cNvSpPr>
            <a:spLocks noGrp="1"/>
          </p:cNvSpPr>
          <p:nvPr/>
        </p:nvSpPr>
        <p:spPr>
          <a:xfrm>
            <a:off x="847725" y="2114550"/>
            <a:ext cx="3257550" cy="857250"/>
          </a:xfrm>
          <a:prstGeom prst="rect">
            <a:avLst/>
          </a:prstGeom>
          <a:noFill/>
          <a:ln w="0">
            <a:noFill/>
          </a:ln>
        </p:spPr>
        <p:txBody>
          <a:bodyPr>
            <a:noAutofit/>
          </a:bodyPr>
          <a:lstStyle/>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ESP32</a:t>
            </a:r>
            <a:endParaRPr sz="2400" b="1">
              <a:solidFill>
                <a:srgbClr val="002060"/>
              </a:solidFill>
              <a:latin typeface="Arial" panose="020B0604020202020204"/>
              <a:ea typeface="Arial" panose="020B0604020202020204"/>
              <a:cs typeface="Arial" panose="020B0604020202020204"/>
            </a:endParaRPr>
          </a:p>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172.20.10.2:53335</a:t>
            </a:r>
            <a:endParaRPr sz="2400" b="1">
              <a:solidFill>
                <a:srgbClr val="002060"/>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7858125" y="2000250"/>
            <a:ext cx="3619500" cy="1047750"/>
          </a:xfrm>
          <a:prstGeom prst="rect">
            <a:avLst/>
          </a:prstGeom>
          <a:solidFill>
            <a:srgbClr val="EFF8F3"/>
          </a:solidFill>
          <a:ln w="19050">
            <a:solidFill>
              <a:srgbClr val="00A65A"/>
            </a:solidFill>
          </a:ln>
        </p:spPr>
      </p:sp>
      <p:sp>
        <p:nvSpPr>
          <p:cNvPr id="249" name="Hình chữ nhật 248"/>
          <p:cNvSpPr>
            <a:spLocks noGrp="1"/>
          </p:cNvSpPr>
          <p:nvPr/>
        </p:nvSpPr>
        <p:spPr>
          <a:xfrm>
            <a:off x="7991475" y="2114550"/>
            <a:ext cx="3352800" cy="857250"/>
          </a:xfrm>
          <a:prstGeom prst="rect">
            <a:avLst/>
          </a:prstGeom>
          <a:noFill/>
          <a:ln w="0">
            <a:noFill/>
          </a:ln>
        </p:spPr>
        <p:txBody>
          <a:bodyPr>
            <a:noAutofit/>
          </a:bodyPr>
          <a:lstStyle/>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Mosquitto</a:t>
            </a:r>
            <a:endParaRPr sz="2400" b="1">
              <a:solidFill>
                <a:srgbClr val="002060"/>
              </a:solidFill>
              <a:latin typeface="Arial" panose="020B0604020202020204"/>
              <a:ea typeface="Arial" panose="020B0604020202020204"/>
              <a:cs typeface="Arial" panose="020B0604020202020204"/>
            </a:endParaRPr>
          </a:p>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172.20.10.5:1883</a:t>
            </a:r>
            <a:endParaRPr sz="2400" b="1">
              <a:solidFill>
                <a:srgbClr val="002060"/>
              </a:solidFill>
              <a:latin typeface="Arial" panose="020B0604020202020204"/>
              <a:ea typeface="Arial" panose="020B0604020202020204"/>
              <a:cs typeface="Arial" panose="020B0604020202020204"/>
            </a:endParaRPr>
          </a:p>
        </p:txBody>
      </p:sp>
      <p:sp>
        <p:nvSpPr>
          <p:cNvPr id="250" name="Mũi tên: Phải 249"/>
          <p:cNvSpPr>
            <a:spLocks noGrp="1"/>
          </p:cNvSpPr>
          <p:nvPr/>
        </p:nvSpPr>
        <p:spPr>
          <a:xfrm>
            <a:off x="4429125" y="2238375"/>
            <a:ext cx="3143250" cy="209550"/>
          </a:xfrm>
          <a:prstGeom prst="rightArrow">
            <a:avLst/>
          </a:prstGeom>
          <a:solidFill>
            <a:srgbClr val="00A65A"/>
          </a:solidFill>
          <a:ln w="0">
            <a:noFill/>
          </a:ln>
        </p:spPr>
      </p:sp>
      <p:sp>
        <p:nvSpPr>
          <p:cNvPr id="251" name="Hình chữ nhật 250"/>
          <p:cNvSpPr>
            <a:spLocks noGrp="1"/>
          </p:cNvSpPr>
          <p:nvPr/>
        </p:nvSpPr>
        <p:spPr>
          <a:xfrm>
            <a:off x="4476750" y="1809750"/>
            <a:ext cx="3143250" cy="428625"/>
          </a:xfrm>
          <a:prstGeom prst="rect">
            <a:avLst/>
          </a:prstGeom>
          <a:noFill/>
          <a:ln w="0">
            <a:noFill/>
          </a:ln>
        </p:spPr>
        <p:txBody>
          <a:bodyPr>
            <a:noAutofit/>
          </a:bodyPr>
          <a:lstStyle/>
          <a:p>
            <a:pPr algn="ctr">
              <a:buNone/>
              <a:defRPr sz="2100" b="1">
                <a:solidFill>
                  <a:srgbClr val="002060"/>
                </a:solidFill>
                <a:latin typeface="Arial" panose="020B0604020202020204"/>
                <a:ea typeface="Arial" panose="020B0604020202020204"/>
                <a:cs typeface="Arial" panose="020B0604020202020204"/>
              </a:defRPr>
            </a:pPr>
            <a:r>
              <a:rPr sz="2100" b="1" dirty="0">
                <a:solidFill>
                  <a:srgbClr val="002060"/>
                </a:solidFill>
                <a:latin typeface="Arial" panose="020B0604020202020204"/>
                <a:ea typeface="Arial" panose="020B0604020202020204"/>
                <a:cs typeface="Arial" panose="020B0604020202020204"/>
              </a:rPr>
              <a:t>CONNECT</a:t>
            </a:r>
            <a:endParaRPr sz="2100" b="1" dirty="0">
              <a:solidFill>
                <a:srgbClr val="002060"/>
              </a:solidFill>
              <a:latin typeface="Arial" panose="020B0604020202020204"/>
              <a:ea typeface="Arial" panose="020B0604020202020204"/>
              <a:cs typeface="Arial" panose="020B0604020202020204"/>
            </a:endParaRPr>
          </a:p>
        </p:txBody>
      </p:sp>
      <p:sp>
        <p:nvSpPr>
          <p:cNvPr id="252" name="Mũi tên: Trái 251"/>
          <p:cNvSpPr>
            <a:spLocks noGrp="1"/>
          </p:cNvSpPr>
          <p:nvPr/>
        </p:nvSpPr>
        <p:spPr>
          <a:xfrm>
            <a:off x="4429125" y="3286125"/>
            <a:ext cx="3143250" cy="209550"/>
          </a:xfrm>
          <a:prstGeom prst="leftArrow">
            <a:avLst/>
          </a:prstGeom>
          <a:solidFill>
            <a:srgbClr val="00A65A"/>
          </a:solidFill>
          <a:ln w="0">
            <a:noFill/>
          </a:ln>
        </p:spPr>
      </p:sp>
      <p:sp>
        <p:nvSpPr>
          <p:cNvPr id="253" name="Hình chữ nhật 252"/>
          <p:cNvSpPr>
            <a:spLocks noGrp="1"/>
          </p:cNvSpPr>
          <p:nvPr/>
        </p:nvSpPr>
        <p:spPr>
          <a:xfrm>
            <a:off x="4476750" y="3667125"/>
            <a:ext cx="3238500" cy="476250"/>
          </a:xfrm>
          <a:prstGeom prst="rect">
            <a:avLst/>
          </a:prstGeom>
          <a:noFill/>
          <a:ln w="0">
            <a:noFill/>
          </a:ln>
        </p:spPr>
        <p:txBody>
          <a:bodyPr>
            <a:noAutofit/>
          </a:bodyPr>
          <a:lstStyle/>
          <a:p>
            <a:pPr algn="ctr">
              <a:buNone/>
              <a:defRPr sz="2100" b="1">
                <a:solidFill>
                  <a:srgbClr val="002060"/>
                </a:solidFill>
                <a:latin typeface="Arial" panose="020B0604020202020204"/>
                <a:ea typeface="Arial" panose="020B0604020202020204"/>
                <a:cs typeface="Arial" panose="020B0604020202020204"/>
              </a:defRPr>
            </a:pPr>
            <a:r>
              <a:rPr sz="2100" b="1" dirty="0">
                <a:solidFill>
                  <a:srgbClr val="002060"/>
                </a:solidFill>
                <a:latin typeface="Arial" panose="020B0604020202020204"/>
                <a:ea typeface="Arial" panose="020B0604020202020204"/>
                <a:cs typeface="Arial" panose="020B0604020202020204"/>
              </a:rPr>
              <a:t>CONNACK</a:t>
            </a:r>
            <a:endParaRPr sz="2100" b="1" dirty="0">
              <a:solidFill>
                <a:srgbClr val="002060"/>
              </a:solidFill>
              <a:latin typeface="Arial" panose="020B0604020202020204"/>
              <a:ea typeface="Arial" panose="020B0604020202020204"/>
              <a:cs typeface="Arial" panose="020B0604020202020204"/>
            </a:endParaRPr>
          </a:p>
        </p:txBody>
      </p:sp>
      <p:sp>
        <p:nvSpPr>
          <p:cNvPr id="254" name="Hình chữ nhật 253"/>
          <p:cNvSpPr>
            <a:spLocks noGrp="1"/>
          </p:cNvSpPr>
          <p:nvPr/>
        </p:nvSpPr>
        <p:spPr>
          <a:xfrm>
            <a:off x="762000" y="4429125"/>
            <a:ext cx="10668000" cy="1381125"/>
          </a:xfrm>
          <a:prstGeom prst="rect">
            <a:avLst/>
          </a:prstGeom>
          <a:noFill/>
          <a:ln w="0">
            <a:noFill/>
          </a:ln>
        </p:spPr>
        <p:txBody>
          <a:bodyPr>
            <a:noAutofit/>
          </a:bodyPr>
          <a:lstStyle/>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CONNECT: Client ID ESP32_Lab1-10124332</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MQTT 3.1.1, Keep Alive = 15 giây</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CONNACK: Connection Accepted (0)</a:t>
            </a:r>
            <a:endParaRPr sz="2250" b="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66C3428B-053E-6B4E-39FF-75B44F3F33F6}"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12.9 Phân tích bài thực hành 12.1</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12.9.6 TCP Seq và Ack đếm byte</a:t>
            </a:r>
            <a:endParaRPr sz="2400" b="1">
              <a:solidFill>
                <a:srgbClr val="00A65A"/>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714375" y="2286000"/>
            <a:ext cx="4762500" cy="1666875"/>
          </a:xfrm>
          <a:prstGeom prst="rect">
            <a:avLst/>
          </a:prstGeom>
          <a:solidFill>
            <a:srgbClr val="EFF8F3"/>
          </a:solidFill>
          <a:ln w="19050">
            <a:solidFill>
              <a:srgbClr val="00A65A"/>
            </a:solidFill>
          </a:ln>
        </p:spPr>
      </p:sp>
      <p:sp>
        <p:nvSpPr>
          <p:cNvPr id="247" name="Hình chữ nhật 246"/>
          <p:cNvSpPr>
            <a:spLocks noGrp="1"/>
          </p:cNvSpPr>
          <p:nvPr/>
        </p:nvSpPr>
        <p:spPr>
          <a:xfrm>
            <a:off x="847725" y="2400300"/>
            <a:ext cx="4495800" cy="1476375"/>
          </a:xfrm>
          <a:prstGeom prst="rect">
            <a:avLst/>
          </a:prstGeom>
          <a:noFill/>
          <a:ln w="0">
            <a:noFill/>
          </a:ln>
        </p:spPr>
        <p:txBody>
          <a:bodyPr>
            <a:noAutofit/>
          </a:bodyPr>
          <a:lstStyle/>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CONNECT 30361</a:t>
            </a:r>
            <a:endParaRPr sz="2400" b="1">
              <a:solidFill>
                <a:srgbClr val="002060"/>
              </a:solidFill>
              <a:latin typeface="Arial" panose="020B0604020202020204"/>
              <a:ea typeface="Arial" panose="020B0604020202020204"/>
              <a:cs typeface="Arial" panose="020B0604020202020204"/>
            </a:endParaRPr>
          </a:p>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Seq = 1, Ack = 1</a:t>
            </a:r>
            <a:endParaRPr sz="2400" b="1">
              <a:solidFill>
                <a:srgbClr val="002060"/>
              </a:solidFill>
              <a:latin typeface="Arial" panose="020B0604020202020204"/>
              <a:ea typeface="Arial" panose="020B0604020202020204"/>
              <a:cs typeface="Arial" panose="020B0604020202020204"/>
            </a:endParaRPr>
          </a:p>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TCP payload = 55 byte</a:t>
            </a:r>
            <a:endParaRPr sz="2400" b="1">
              <a:solidFill>
                <a:srgbClr val="002060"/>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6524625" y="2286000"/>
            <a:ext cx="4953000" cy="1666875"/>
          </a:xfrm>
          <a:prstGeom prst="rect">
            <a:avLst/>
          </a:prstGeom>
          <a:solidFill>
            <a:srgbClr val="EFF8F3"/>
          </a:solidFill>
          <a:ln w="19050">
            <a:solidFill>
              <a:srgbClr val="00A65A"/>
            </a:solidFill>
          </a:ln>
        </p:spPr>
      </p:sp>
      <p:sp>
        <p:nvSpPr>
          <p:cNvPr id="249" name="Hình chữ nhật 248"/>
          <p:cNvSpPr>
            <a:spLocks noGrp="1"/>
          </p:cNvSpPr>
          <p:nvPr/>
        </p:nvSpPr>
        <p:spPr>
          <a:xfrm>
            <a:off x="6657975" y="2400300"/>
            <a:ext cx="4686300" cy="1476375"/>
          </a:xfrm>
          <a:prstGeom prst="rect">
            <a:avLst/>
          </a:prstGeom>
          <a:noFill/>
          <a:ln w="0">
            <a:noFill/>
          </a:ln>
        </p:spPr>
        <p:txBody>
          <a:bodyPr>
            <a:noAutofit/>
          </a:bodyPr>
          <a:lstStyle/>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CONNACK 30364</a:t>
            </a:r>
            <a:endParaRPr sz="2400" b="1">
              <a:solidFill>
                <a:srgbClr val="002060"/>
              </a:solidFill>
              <a:latin typeface="Arial" panose="020B0604020202020204"/>
              <a:ea typeface="Arial" panose="020B0604020202020204"/>
              <a:cs typeface="Arial" panose="020B0604020202020204"/>
            </a:endParaRPr>
          </a:p>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Seq = 1, Ack = 56</a:t>
            </a:r>
            <a:endParaRPr sz="2400" b="1">
              <a:solidFill>
                <a:srgbClr val="002060"/>
              </a:solidFill>
              <a:latin typeface="Arial" panose="020B0604020202020204"/>
              <a:ea typeface="Arial" panose="020B0604020202020204"/>
              <a:cs typeface="Arial" panose="020B0604020202020204"/>
            </a:endParaRPr>
          </a:p>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TCP payload = 4 byte</a:t>
            </a:r>
            <a:endParaRPr sz="2400" b="1">
              <a:solidFill>
                <a:srgbClr val="002060"/>
              </a:solidFill>
              <a:latin typeface="Arial" panose="020B0604020202020204"/>
              <a:ea typeface="Arial" panose="020B0604020202020204"/>
              <a:cs typeface="Arial" panose="020B0604020202020204"/>
            </a:endParaRPr>
          </a:p>
        </p:txBody>
      </p:sp>
      <p:sp>
        <p:nvSpPr>
          <p:cNvPr id="250" name="Mũi tên: Phải 249"/>
          <p:cNvSpPr>
            <a:spLocks noGrp="1"/>
          </p:cNvSpPr>
          <p:nvPr/>
        </p:nvSpPr>
        <p:spPr>
          <a:xfrm>
            <a:off x="5619750" y="2952750"/>
            <a:ext cx="762000" cy="209550"/>
          </a:xfrm>
          <a:prstGeom prst="rightArrow">
            <a:avLst/>
          </a:prstGeom>
          <a:solidFill>
            <a:srgbClr val="00A65A"/>
          </a:solidFill>
          <a:ln w="0">
            <a:noFill/>
          </a:ln>
        </p:spPr>
      </p:sp>
      <p:sp>
        <p:nvSpPr>
          <p:cNvPr id="251" name="Hình chữ nhật 250"/>
          <p:cNvSpPr>
            <a:spLocks noGrp="1"/>
          </p:cNvSpPr>
          <p:nvPr/>
        </p:nvSpPr>
        <p:spPr>
          <a:xfrm>
            <a:off x="762000" y="4429125"/>
            <a:ext cx="10668000" cy="1428750"/>
          </a:xfrm>
          <a:prstGeom prst="rect">
            <a:avLst/>
          </a:prstGeom>
          <a:noFill/>
          <a:ln w="0">
            <a:noFill/>
          </a:ln>
        </p:spPr>
        <p:txBody>
          <a:bodyPr>
            <a:noAutofit/>
          </a:bodyPr>
          <a:lstStyle/>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1 + 55 = 56: broker chờ byte tiếp theo số 56.</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Wireshark đang hiển thị số Seq/Ack tương đối.</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TCP ACK xác nhận byte, khác xác nhận ở MQTT.</a:t>
            </a:r>
            <a:endParaRPr sz="2250" b="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59F9B2FD-F323-2D0A-D581-D6E61055F9A8}"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12.9 Phân tích bài thực hành 12.1</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12.9.7 Keep Alive và hai gói Ping</a:t>
            </a:r>
            <a:endParaRPr sz="2400" b="1">
              <a:solidFill>
                <a:srgbClr val="00A65A"/>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714375" y="1952625"/>
            <a:ext cx="4953000" cy="1047750"/>
          </a:xfrm>
          <a:prstGeom prst="rect">
            <a:avLst/>
          </a:prstGeom>
          <a:solidFill>
            <a:srgbClr val="EFF8F3"/>
          </a:solidFill>
          <a:ln w="19050">
            <a:solidFill>
              <a:srgbClr val="00A65A"/>
            </a:solidFill>
          </a:ln>
        </p:spPr>
      </p:sp>
      <p:sp>
        <p:nvSpPr>
          <p:cNvPr id="247" name="Hình chữ nhật 246"/>
          <p:cNvSpPr>
            <a:spLocks noGrp="1"/>
          </p:cNvSpPr>
          <p:nvPr/>
        </p:nvSpPr>
        <p:spPr>
          <a:xfrm>
            <a:off x="847725" y="2066925"/>
            <a:ext cx="4686300" cy="857250"/>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PINGREQ</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ESP32 hỏi broker còn phản hồi?</a:t>
            </a:r>
            <a:endParaRPr sz="2250" b="1">
              <a:solidFill>
                <a:srgbClr val="002060"/>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6334125" y="1952625"/>
            <a:ext cx="5143500" cy="1047750"/>
          </a:xfrm>
          <a:prstGeom prst="rect">
            <a:avLst/>
          </a:prstGeom>
          <a:solidFill>
            <a:srgbClr val="EFF8F3"/>
          </a:solidFill>
          <a:ln w="19050">
            <a:solidFill>
              <a:srgbClr val="00A65A"/>
            </a:solidFill>
          </a:ln>
        </p:spPr>
      </p:sp>
      <p:sp>
        <p:nvSpPr>
          <p:cNvPr id="249" name="Hình chữ nhật 248"/>
          <p:cNvSpPr>
            <a:spLocks noGrp="1"/>
          </p:cNvSpPr>
          <p:nvPr/>
        </p:nvSpPr>
        <p:spPr>
          <a:xfrm>
            <a:off x="6467475" y="2066925"/>
            <a:ext cx="4876800" cy="857250"/>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PINGRESP</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Broker trả lời trên cùng kết nối</a:t>
            </a:r>
            <a:endParaRPr sz="2250" b="1">
              <a:solidFill>
                <a:srgbClr val="002060"/>
              </a:solidFill>
              <a:latin typeface="Arial" panose="020B0604020202020204"/>
              <a:ea typeface="Arial" panose="020B0604020202020204"/>
              <a:cs typeface="Arial" panose="020B0604020202020204"/>
            </a:endParaRPr>
          </a:p>
        </p:txBody>
      </p:sp>
      <p:sp>
        <p:nvSpPr>
          <p:cNvPr id="250" name="Hình chữ nhật 249"/>
          <p:cNvSpPr>
            <a:spLocks noGrp="1"/>
          </p:cNvSpPr>
          <p:nvPr/>
        </p:nvSpPr>
        <p:spPr>
          <a:xfrm>
            <a:off x="762000" y="3333750"/>
            <a:ext cx="10668000" cy="1285875"/>
          </a:xfrm>
          <a:prstGeom prst="rect">
            <a:avLst/>
          </a:prstGeom>
          <a:noFill/>
          <a:ln w="0">
            <a:noFill/>
          </a:ln>
        </p:spPr>
        <p:txBody>
          <a:bodyPr>
            <a:noAutofit/>
          </a:bodyPr>
          <a:lstStyle/>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CONNECT: Keep Alive = 15 giây</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PINGREQ 47089: 265,149664 s</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PINGREQ 49779: 280,3027379 s</a:t>
            </a:r>
            <a:endParaRPr sz="2250" b="0">
              <a:solidFill>
                <a:srgbClr val="002060"/>
              </a:solidFill>
              <a:latin typeface="Arial" panose="020B0604020202020204"/>
              <a:ea typeface="Arial" panose="020B0604020202020204"/>
              <a:cs typeface="Arial" panose="020B0604020202020204"/>
            </a:endParaRPr>
          </a:p>
        </p:txBody>
      </p:sp>
      <p:sp>
        <p:nvSpPr>
          <p:cNvPr id="251" name="Hình chữ nhật 250"/>
          <p:cNvSpPr>
            <a:spLocks noGrp="1"/>
          </p:cNvSpPr>
          <p:nvPr/>
        </p:nvSpPr>
        <p:spPr>
          <a:xfrm>
            <a:off x="762000" y="4762500"/>
            <a:ext cx="10668000" cy="571500"/>
          </a:xfrm>
          <a:prstGeom prst="rect">
            <a:avLst/>
          </a:prstGeom>
          <a:noFill/>
          <a:ln w="0">
            <a:noFill/>
          </a:ln>
        </p:spPr>
        <p:txBody>
          <a:bodyPr>
            <a:noAutofit/>
          </a:bodyPr>
          <a:lstStyle/>
          <a:p>
            <a:pPr>
              <a:buNone/>
              <a:defRPr sz="2550" b="1">
                <a:solidFill>
                  <a:srgbClr val="00A65A"/>
                </a:solidFill>
                <a:latin typeface="Arial" panose="020B0604020202020204"/>
                <a:ea typeface="Arial" panose="020B0604020202020204"/>
                <a:cs typeface="Arial" panose="020B0604020202020204"/>
              </a:defRPr>
            </a:pPr>
            <a:r>
              <a:rPr sz="2550" b="1">
                <a:solidFill>
                  <a:srgbClr val="00A65A"/>
                </a:solidFill>
                <a:latin typeface="Arial" panose="020B0604020202020204"/>
                <a:ea typeface="Arial" panose="020B0604020202020204"/>
                <a:cs typeface="Arial" panose="020B0604020202020204"/>
              </a:rPr>
              <a:t>Khoảng cách quan sát: 15,1530739 giây</a:t>
            </a:r>
            <a:endParaRPr sz="2550" b="1">
              <a:solidFill>
                <a:srgbClr val="00A65A"/>
              </a:solidFill>
              <a:latin typeface="Arial" panose="020B0604020202020204"/>
              <a:ea typeface="Arial" panose="020B0604020202020204"/>
              <a:cs typeface="Arial" panose="020B0604020202020204"/>
            </a:endParaRPr>
          </a:p>
        </p:txBody>
      </p:sp>
      <p:sp>
        <p:nvSpPr>
          <p:cNvPr id="252" name="Hình chữ nhật 251"/>
          <p:cNvSpPr>
            <a:spLocks noGrp="1"/>
          </p:cNvSpPr>
          <p:nvPr/>
        </p:nvSpPr>
        <p:spPr>
          <a:xfrm>
            <a:off x="762000" y="5524500"/>
            <a:ext cx="10668000" cy="714375"/>
          </a:xfrm>
          <a:prstGeom prst="rect">
            <a:avLst/>
          </a:prstGeom>
          <a:noFill/>
          <a:ln w="0">
            <a:noFill/>
          </a:ln>
        </p:spPr>
        <p:txBody>
          <a:bodyPr>
            <a:noAutofit/>
          </a:bodyPr>
          <a:lstStyle/>
          <a:p>
            <a:pPr>
              <a:buNone/>
              <a:defRPr sz="1950" b="0">
                <a:solidFill>
                  <a:srgbClr val="002060"/>
                </a:solidFill>
                <a:latin typeface="Arial" panose="020B0604020202020204"/>
                <a:ea typeface="Arial" panose="020B0604020202020204"/>
                <a:cs typeface="Arial" panose="020B0604020202020204"/>
              </a:defRPr>
            </a:pPr>
            <a:r>
              <a:rPr sz="1950" b="0">
                <a:solidFill>
                  <a:srgbClr val="002060"/>
                </a:solidFill>
                <a:latin typeface="Arial" panose="020B0604020202020204"/>
                <a:ea typeface="Arial" panose="020B0604020202020204"/>
                <a:cs typeface="Arial" panose="020B0604020202020204"/>
              </a:rPr>
              <a:t>Broker ngắt kết nối nếu không nhận gói MQTT từ client</a:t>
            </a:r>
            <a:endParaRPr sz="1950" b="0">
              <a:solidFill>
                <a:srgbClr val="002060"/>
              </a:solidFill>
              <a:latin typeface="Arial" panose="020B0604020202020204"/>
              <a:ea typeface="Arial" panose="020B0604020202020204"/>
              <a:cs typeface="Arial" panose="020B0604020202020204"/>
            </a:endParaRPr>
          </a:p>
          <a:p>
            <a:pPr>
              <a:buNone/>
              <a:defRPr sz="1950" b="0">
                <a:solidFill>
                  <a:srgbClr val="002060"/>
                </a:solidFill>
                <a:latin typeface="Arial" panose="020B0604020202020204"/>
                <a:ea typeface="Arial" panose="020B0604020202020204"/>
                <a:cs typeface="Arial" panose="020B0604020202020204"/>
              </a:defRPr>
            </a:pPr>
            <a:r>
              <a:rPr sz="1950" b="0">
                <a:solidFill>
                  <a:srgbClr val="002060"/>
                </a:solidFill>
                <a:latin typeface="Arial" panose="020B0604020202020204"/>
                <a:ea typeface="Arial" panose="020B0604020202020204"/>
                <a:cs typeface="Arial" panose="020B0604020202020204"/>
              </a:rPr>
              <a:t>trong 1,5 lần Keep Alive: 15 × 1,5 = 22,5 giây.</a:t>
            </a:r>
            <a:endParaRPr sz="1950" b="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D6C2EC43-E3B9-C9B0-67FF-5447EB7F3925}"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12.9 Phân tích bài thực hành 12.1</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12.9.8 Bảo mật trong bản bắt gói</a:t>
            </a:r>
            <a:endParaRPr sz="2400" b="1">
              <a:solidFill>
                <a:srgbClr val="00A65A"/>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714375" y="1952625"/>
            <a:ext cx="10668000" cy="1047750"/>
          </a:xfrm>
          <a:prstGeom prst="rect">
            <a:avLst/>
          </a:prstGeom>
          <a:solidFill>
            <a:srgbClr val="EFF8F3"/>
          </a:solidFill>
          <a:ln w="19050">
            <a:solidFill>
              <a:srgbClr val="00A65A"/>
            </a:solidFill>
          </a:ln>
        </p:spPr>
      </p:sp>
      <p:sp>
        <p:nvSpPr>
          <p:cNvPr id="247" name="Hình chữ nhật 246"/>
          <p:cNvSpPr>
            <a:spLocks noGrp="1"/>
          </p:cNvSpPr>
          <p:nvPr/>
        </p:nvSpPr>
        <p:spPr>
          <a:xfrm>
            <a:off x="847725" y="2066925"/>
            <a:ext cx="10401300" cy="857250"/>
          </a:xfrm>
          <a:prstGeom prst="rect">
            <a:avLst/>
          </a:prstGeom>
          <a:noFill/>
          <a:ln w="0">
            <a:noFill/>
          </a:ln>
        </p:spPr>
        <p:txBody>
          <a:bodyPr>
            <a:noAutofit/>
          </a:bodyPr>
          <a:lstStyle/>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Quan sát trên cổng 1883</a:t>
            </a:r>
            <a:endParaRPr sz="2400" b="1">
              <a:solidFill>
                <a:srgbClr val="002060"/>
              </a:solidFill>
              <a:latin typeface="Arial" panose="020B0604020202020204"/>
              <a:ea typeface="Arial" panose="020B0604020202020204"/>
              <a:cs typeface="Arial" panose="020B0604020202020204"/>
            </a:endParaRPr>
          </a:p>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Wireshark đọc được tài khoản và JSON</a:t>
            </a:r>
            <a:endParaRPr sz="2400" b="1">
              <a:solidFill>
                <a:srgbClr val="002060"/>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762000" y="3381375"/>
            <a:ext cx="10668000" cy="1047750"/>
          </a:xfrm>
          <a:prstGeom prst="rect">
            <a:avLst/>
          </a:prstGeom>
          <a:noFill/>
          <a:ln w="0">
            <a:noFill/>
          </a:ln>
        </p:spPr>
        <p:txBody>
          <a:bodyPr>
            <a:noAutofit/>
          </a:bodyPr>
          <a:lstStyle/>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Username/password trong CONNECT đang truyền bản rõ.</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Payload JSON là định dạng dữ liệu, không phải mã hóa.</a:t>
            </a:r>
            <a:endParaRPr sz="2250" b="0">
              <a:solidFill>
                <a:srgbClr val="002060"/>
              </a:solidFill>
              <a:latin typeface="Arial" panose="020B0604020202020204"/>
              <a:ea typeface="Arial" panose="020B0604020202020204"/>
              <a:cs typeface="Arial" panose="020B0604020202020204"/>
            </a:endParaRPr>
          </a:p>
        </p:txBody>
      </p:sp>
      <p:sp>
        <p:nvSpPr>
          <p:cNvPr id="249" name="Hình chữ nhật 248"/>
          <p:cNvSpPr>
            <a:spLocks noGrp="1"/>
          </p:cNvSpPr>
          <p:nvPr/>
        </p:nvSpPr>
        <p:spPr>
          <a:xfrm>
            <a:off x="714375" y="4714875"/>
            <a:ext cx="10668000" cy="1143000"/>
          </a:xfrm>
          <a:prstGeom prst="rect">
            <a:avLst/>
          </a:prstGeom>
          <a:solidFill>
            <a:srgbClr val="EFF8F3"/>
          </a:solidFill>
          <a:ln w="19050">
            <a:solidFill>
              <a:srgbClr val="00A65A"/>
            </a:solidFill>
          </a:ln>
        </p:spPr>
      </p:sp>
      <p:sp>
        <p:nvSpPr>
          <p:cNvPr id="250" name="Hình chữ nhật 249"/>
          <p:cNvSpPr>
            <a:spLocks noGrp="1"/>
          </p:cNvSpPr>
          <p:nvPr/>
        </p:nvSpPr>
        <p:spPr>
          <a:xfrm>
            <a:off x="847725" y="4829175"/>
            <a:ext cx="10401300" cy="952500"/>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Giải pháp: MQTT qua TLS</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Cấu hình TLS hai phía và kiểm tra chứng chỉ broker</a:t>
            </a:r>
            <a:endParaRPr sz="2250" b="1">
              <a:solidFill>
                <a:srgbClr val="002060"/>
              </a:solidFill>
              <a:latin typeface="Arial" panose="020B0604020202020204"/>
              <a:ea typeface="Arial" panose="020B0604020202020204"/>
              <a:cs typeface="Arial" panose="020B0604020202020204"/>
            </a:endParaRPr>
          </a:p>
        </p:txBody>
      </p:sp>
      <p:sp>
        <p:nvSpPr>
          <p:cNvPr id="251" name="Hình chữ nhật 250"/>
          <p:cNvSpPr>
            <a:spLocks noGrp="1"/>
          </p:cNvSpPr>
          <p:nvPr/>
        </p:nvSpPr>
        <p:spPr>
          <a:xfrm>
            <a:off x="762000" y="5953125"/>
            <a:ext cx="10668000" cy="428625"/>
          </a:xfrm>
          <a:prstGeom prst="rect">
            <a:avLst/>
          </a:prstGeom>
          <a:noFill/>
          <a:ln w="0">
            <a:noFill/>
          </a:ln>
        </p:spPr>
        <p:txBody>
          <a:bodyPr>
            <a:noAutofit/>
          </a:bodyPr>
          <a:lstStyle/>
          <a:p>
            <a:pPr>
              <a:buNone/>
              <a:defRPr sz="1875" b="0">
                <a:solidFill>
                  <a:srgbClr val="002060"/>
                </a:solidFill>
                <a:latin typeface="Arial" panose="020B0604020202020204"/>
                <a:ea typeface="Arial" panose="020B0604020202020204"/>
                <a:cs typeface="Arial" panose="020B0604020202020204"/>
              </a:defRPr>
            </a:pPr>
            <a:r>
              <a:rPr sz="1875" b="0">
                <a:solidFill>
                  <a:srgbClr val="002060"/>
                </a:solidFill>
                <a:latin typeface="Arial" panose="020B0604020202020204"/>
                <a:ea typeface="Arial" panose="020B0604020202020204"/>
                <a:cs typeface="Arial" panose="020B0604020202020204"/>
              </a:rPr>
              <a:t>TLS thường dùng 8883. Đổi cổng đơn thuần không tạo mã hóa.</a:t>
            </a:r>
            <a:endParaRPr sz="1875" b="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4A4FA566-8B12-6DD2-DDB5-FA6393938FB6}"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12.9 Phân tích bài thực hành 12.1</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12.9.9 DISCONNECT kết thúc phiên MQTT</a:t>
            </a:r>
            <a:endParaRPr sz="2400" b="1">
              <a:solidFill>
                <a:srgbClr val="00A65A"/>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714375" y="2095500"/>
            <a:ext cx="4476750" cy="1238250"/>
          </a:xfrm>
          <a:prstGeom prst="rect">
            <a:avLst/>
          </a:prstGeom>
          <a:solidFill>
            <a:srgbClr val="EFF8F3"/>
          </a:solidFill>
          <a:ln w="19050">
            <a:solidFill>
              <a:srgbClr val="00A65A"/>
            </a:solidFill>
          </a:ln>
        </p:spPr>
      </p:sp>
      <p:sp>
        <p:nvSpPr>
          <p:cNvPr id="247" name="Hình chữ nhật 246"/>
          <p:cNvSpPr>
            <a:spLocks noGrp="1"/>
          </p:cNvSpPr>
          <p:nvPr/>
        </p:nvSpPr>
        <p:spPr>
          <a:xfrm>
            <a:off x="847725" y="2209800"/>
            <a:ext cx="4210050" cy="1047750"/>
          </a:xfrm>
          <a:prstGeom prst="rect">
            <a:avLst/>
          </a:prstGeom>
          <a:noFill/>
          <a:ln w="0">
            <a:noFill/>
          </a:ln>
        </p:spPr>
        <p:txBody>
          <a:bodyPr>
            <a:noAutofit/>
          </a:bodyPr>
          <a:lstStyle/>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Client</a:t>
            </a:r>
            <a:endParaRPr sz="2400" b="1">
              <a:solidFill>
                <a:srgbClr val="002060"/>
              </a:solidFill>
              <a:latin typeface="Arial" panose="020B0604020202020204"/>
              <a:ea typeface="Arial" panose="020B0604020202020204"/>
              <a:cs typeface="Arial" panose="020B0604020202020204"/>
            </a:endParaRPr>
          </a:p>
          <a:p>
            <a:pPr>
              <a:buNone/>
              <a:defRPr sz="2400" b="1">
                <a:solidFill>
                  <a:srgbClr val="002060"/>
                </a:solidFill>
                <a:latin typeface="Arial" panose="020B0604020202020204"/>
                <a:ea typeface="Arial" panose="020B0604020202020204"/>
                <a:cs typeface="Arial" panose="020B0604020202020204"/>
              </a:defRPr>
            </a:pPr>
            <a:r>
              <a:rPr sz="2400" b="1">
                <a:solidFill>
                  <a:srgbClr val="002060"/>
                </a:solidFill>
                <a:latin typeface="Arial" panose="020B0604020202020204"/>
                <a:ea typeface="Arial" panose="020B0604020202020204"/>
                <a:cs typeface="Arial" panose="020B0604020202020204"/>
              </a:rPr>
              <a:t>Chủ động gửi DISCONNECT</a:t>
            </a:r>
            <a:endParaRPr sz="2400" b="1">
              <a:solidFill>
                <a:srgbClr val="002060"/>
              </a:solidFill>
              <a:latin typeface="Arial" panose="020B0604020202020204"/>
              <a:ea typeface="Arial" panose="020B0604020202020204"/>
              <a:cs typeface="Arial" panose="020B0604020202020204"/>
            </a:endParaRPr>
          </a:p>
        </p:txBody>
      </p:sp>
      <p:sp>
        <p:nvSpPr>
          <p:cNvPr id="248" name="Hình chữ nhật 247"/>
          <p:cNvSpPr>
            <a:spLocks noGrp="1"/>
          </p:cNvSpPr>
          <p:nvPr/>
        </p:nvSpPr>
        <p:spPr>
          <a:xfrm>
            <a:off x="7000875" y="2095500"/>
            <a:ext cx="4476750" cy="1238250"/>
          </a:xfrm>
          <a:prstGeom prst="rect">
            <a:avLst/>
          </a:prstGeom>
          <a:solidFill>
            <a:srgbClr val="EFF8F3"/>
          </a:solidFill>
          <a:ln w="19050">
            <a:solidFill>
              <a:srgbClr val="00A65A"/>
            </a:solidFill>
          </a:ln>
        </p:spPr>
      </p:sp>
      <p:sp>
        <p:nvSpPr>
          <p:cNvPr id="249" name="Hình chữ nhật 248"/>
          <p:cNvSpPr>
            <a:spLocks noGrp="1"/>
          </p:cNvSpPr>
          <p:nvPr/>
        </p:nvSpPr>
        <p:spPr>
          <a:xfrm>
            <a:off x="7134225" y="2209800"/>
            <a:ext cx="4210050" cy="1047750"/>
          </a:xfrm>
          <a:prstGeom prst="rect">
            <a:avLst/>
          </a:prstGeom>
          <a:noFill/>
          <a:ln w="0">
            <a:noFill/>
          </a:ln>
        </p:spPr>
        <p:txBody>
          <a:bodyPr>
            <a:noAutofit/>
          </a:bodyPr>
          <a:lstStyle/>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Broker</a:t>
            </a:r>
            <a:endParaRPr sz="2250" b="1">
              <a:solidFill>
                <a:srgbClr val="002060"/>
              </a:solidFill>
              <a:latin typeface="Arial" panose="020B0604020202020204"/>
              <a:ea typeface="Arial" panose="020B0604020202020204"/>
              <a:cs typeface="Arial" panose="020B0604020202020204"/>
            </a:endParaRPr>
          </a:p>
          <a:p>
            <a:pPr>
              <a:buNone/>
              <a:defRPr sz="2250" b="1">
                <a:solidFill>
                  <a:srgbClr val="002060"/>
                </a:solidFill>
                <a:latin typeface="Arial" panose="020B0604020202020204"/>
                <a:ea typeface="Arial" panose="020B0604020202020204"/>
                <a:cs typeface="Arial" panose="020B0604020202020204"/>
              </a:defRPr>
            </a:pPr>
            <a:r>
              <a:rPr sz="2250" b="1">
                <a:solidFill>
                  <a:srgbClr val="002060"/>
                </a:solidFill>
                <a:latin typeface="Arial" panose="020B0604020202020204"/>
                <a:ea typeface="Arial" panose="020B0604020202020204"/>
                <a:cs typeface="Arial" panose="020B0604020202020204"/>
              </a:rPr>
              <a:t>Kết thúc kết nối với client</a:t>
            </a:r>
            <a:endParaRPr sz="2250" b="1">
              <a:solidFill>
                <a:srgbClr val="002060"/>
              </a:solidFill>
              <a:latin typeface="Arial" panose="020B0604020202020204"/>
              <a:ea typeface="Arial" panose="020B0604020202020204"/>
              <a:cs typeface="Arial" panose="020B0604020202020204"/>
            </a:endParaRPr>
          </a:p>
        </p:txBody>
      </p:sp>
      <p:sp>
        <p:nvSpPr>
          <p:cNvPr id="250" name="Mũi tên: Phải 249"/>
          <p:cNvSpPr>
            <a:spLocks noGrp="1"/>
          </p:cNvSpPr>
          <p:nvPr/>
        </p:nvSpPr>
        <p:spPr>
          <a:xfrm>
            <a:off x="5381625" y="2619375"/>
            <a:ext cx="1428750" cy="209550"/>
          </a:xfrm>
          <a:prstGeom prst="rightArrow">
            <a:avLst/>
          </a:prstGeom>
          <a:solidFill>
            <a:srgbClr val="00A65A"/>
          </a:solidFill>
          <a:ln w="0">
            <a:noFill/>
          </a:ln>
        </p:spPr>
      </p:sp>
      <p:sp>
        <p:nvSpPr>
          <p:cNvPr id="251" name="Hình chữ nhật 250"/>
          <p:cNvSpPr>
            <a:spLocks noGrp="1"/>
          </p:cNvSpPr>
          <p:nvPr/>
        </p:nvSpPr>
        <p:spPr>
          <a:xfrm>
            <a:off x="762000" y="3810000"/>
            <a:ext cx="10668000" cy="1476375"/>
          </a:xfrm>
          <a:prstGeom prst="rect">
            <a:avLst/>
          </a:prstGeom>
          <a:noFill/>
          <a:ln w="0">
            <a:noFill/>
          </a:ln>
        </p:spPr>
        <p:txBody>
          <a:bodyPr>
            <a:noAutofit/>
          </a:bodyPr>
          <a:lstStyle/>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DISCONNECT là thông báo client chủ động rời phiên MQTT.</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Client gửi thông báo trước khi đóng kết nối.</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Muốn vào lại, client thiết lập kết nối MQTT mới.</a:t>
            </a:r>
            <a:endParaRPr sz="2250" b="0">
              <a:solidFill>
                <a:srgbClr val="002060"/>
              </a:solidFill>
              <a:latin typeface="Arial" panose="020B0604020202020204"/>
              <a:ea typeface="Arial" panose="020B0604020202020204"/>
              <a:cs typeface="Arial" panose="020B0604020202020204"/>
            </a:endParaRPr>
          </a:p>
        </p:txBody>
      </p:sp>
      <p:sp>
        <p:nvSpPr>
          <p:cNvPr id="252" name="Hình chữ nhật 251"/>
          <p:cNvSpPr>
            <a:spLocks noGrp="1"/>
          </p:cNvSpPr>
          <p:nvPr/>
        </p:nvSpPr>
        <p:spPr>
          <a:xfrm>
            <a:off x="762000" y="5619750"/>
            <a:ext cx="10668000" cy="619125"/>
          </a:xfrm>
          <a:prstGeom prst="rect">
            <a:avLst/>
          </a:prstGeom>
          <a:noFill/>
          <a:ln w="0">
            <a:noFill/>
          </a:ln>
        </p:spPr>
        <p:txBody>
          <a:bodyPr>
            <a:noAutofit/>
          </a:bodyPr>
          <a:lstStyle/>
          <a:p>
            <a:pPr>
              <a:buNone/>
              <a:defRPr sz="2100" b="1">
                <a:solidFill>
                  <a:srgbClr val="002060"/>
                </a:solidFill>
                <a:latin typeface="Arial" panose="020B0604020202020204"/>
                <a:ea typeface="Arial" panose="020B0604020202020204"/>
                <a:cs typeface="Arial" panose="020B0604020202020204"/>
              </a:defRPr>
            </a:pPr>
            <a:r>
              <a:rPr sz="2100" b="1">
                <a:solidFill>
                  <a:srgbClr val="002060"/>
                </a:solidFill>
                <a:latin typeface="Arial" panose="020B0604020202020204"/>
                <a:ea typeface="Arial" panose="020B0604020202020204"/>
                <a:cs typeface="Arial" panose="020B0604020202020204"/>
              </a:rPr>
              <a:t>Bộ lọc nhận diện: mqtt.msgtype == 14</a:t>
            </a:r>
            <a:endParaRPr sz="2100" b="1">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E39A338D-B192-3127-EB9A-53A2665A0BB7}"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12.9 Phân tích bài thực hành 12.1</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619125" y="1000125"/>
            <a:ext cx="10668000" cy="619125"/>
          </a:xfrm>
          <a:prstGeom prst="rect">
            <a:avLst/>
          </a:prstGeom>
          <a:noFill/>
          <a:ln w="0">
            <a:noFill/>
          </a:ln>
        </p:spPr>
        <p:txBody>
          <a:bodyPr>
            <a:noAutofit/>
          </a:bodyPr>
          <a:lstStyle/>
          <a:p>
            <a:pPr>
              <a:buNone/>
              <a:defRPr sz="2400" b="1">
                <a:solidFill>
                  <a:srgbClr val="00A65A"/>
                </a:solidFill>
                <a:latin typeface="Arial" panose="020B0604020202020204"/>
                <a:ea typeface="Arial" panose="020B0604020202020204"/>
                <a:cs typeface="Arial" panose="020B0604020202020204"/>
              </a:defRPr>
            </a:pPr>
            <a:r>
              <a:rPr sz="2400" b="1">
                <a:solidFill>
                  <a:srgbClr val="00A65A"/>
                </a:solidFill>
                <a:latin typeface="Arial" panose="020B0604020202020204"/>
                <a:ea typeface="Arial" panose="020B0604020202020204"/>
                <a:cs typeface="Arial" panose="020B0604020202020204"/>
              </a:rPr>
              <a:t>12.9.10 Đối chiếu sáu câu hỏi BTH 12.1</a:t>
            </a:r>
            <a:endParaRPr sz="2400" b="1">
              <a:solidFill>
                <a:srgbClr val="00A65A"/>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762000" y="2000250"/>
            <a:ext cx="10668000" cy="3571875"/>
          </a:xfrm>
          <a:prstGeom prst="rect">
            <a:avLst/>
          </a:prstGeom>
          <a:noFill/>
          <a:ln w="0">
            <a:noFill/>
          </a:ln>
        </p:spPr>
        <p:txBody>
          <a:bodyPr>
            <a:noAutofit/>
          </a:bodyPr>
          <a:lstStyle/>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1. Luồng: ESP32 client, Mosquitto broker, HA subscriber.</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2. TCP/IP: đọc MAC, IP, cổng và Seq/Ack cùng một gói.</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3. Loại gói: CONNECT, CONNACK, PUBLISH và hai Ping.</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4. PUBLISH: topic, QoS 0, JSON gồm temp và hum.</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5. Keep Alive 15 s, khoảng Ping quan sát xấp xỉ 15,15 s.</a:t>
            </a:r>
            <a:endParaRPr sz="2250" b="0">
              <a:solidFill>
                <a:srgbClr val="002060"/>
              </a:solidFill>
              <a:latin typeface="Arial" panose="020B0604020202020204"/>
              <a:ea typeface="Arial" panose="020B0604020202020204"/>
              <a:cs typeface="Arial" panose="020B0604020202020204"/>
            </a:endParaRPr>
          </a:p>
          <a:p>
            <a:pPr>
              <a:buNone/>
              <a:defRPr sz="2250" b="0">
                <a:solidFill>
                  <a:srgbClr val="002060"/>
                </a:solidFill>
                <a:latin typeface="Arial" panose="020B0604020202020204"/>
                <a:ea typeface="Arial" panose="020B0604020202020204"/>
                <a:cs typeface="Arial" panose="020B0604020202020204"/>
              </a:defRPr>
            </a:pPr>
            <a:r>
              <a:rPr sz="2250" b="0">
                <a:solidFill>
                  <a:srgbClr val="002060"/>
                </a:solidFill>
                <a:latin typeface="Arial" panose="020B0604020202020204"/>
                <a:ea typeface="Arial" panose="020B0604020202020204"/>
                <a:cs typeface="Arial" panose="020B0604020202020204"/>
              </a:rPr>
              <a:t>6. Bản rõ: đọc được tài khoản và payload, cần TLS.</a:t>
            </a:r>
            <a:endParaRPr sz="2250" b="0">
              <a:solidFill>
                <a:srgbClr val="002060"/>
              </a:solidFill>
              <a:latin typeface="Arial" panose="020B0604020202020204"/>
              <a:ea typeface="Arial" panose="020B0604020202020204"/>
              <a:cs typeface="Arial" panose="020B0604020202020204"/>
            </a:endParaRPr>
          </a:p>
        </p:txBody>
      </p:sp>
      <p:sp>
        <p:nvSpPr>
          <p:cNvPr id="247" name="Hình chữ nhật 246"/>
          <p:cNvSpPr>
            <a:spLocks noGrp="1"/>
          </p:cNvSpPr>
          <p:nvPr/>
        </p:nvSpPr>
        <p:spPr>
          <a:xfrm>
            <a:off x="762000" y="5619750"/>
            <a:ext cx="10668000" cy="571500"/>
          </a:xfrm>
          <a:prstGeom prst="rect">
            <a:avLst/>
          </a:prstGeom>
          <a:noFill/>
          <a:ln w="0">
            <a:noFill/>
          </a:ln>
        </p:spPr>
        <p:txBody>
          <a:bodyPr>
            <a:noAutofit/>
          </a:bodyPr>
          <a:lstStyle/>
          <a:p>
            <a:pPr>
              <a:buNone/>
              <a:defRPr sz="2250" b="1">
                <a:solidFill>
                  <a:srgbClr val="00A65A"/>
                </a:solidFill>
                <a:latin typeface="Arial" panose="020B0604020202020204"/>
                <a:ea typeface="Arial" panose="020B0604020202020204"/>
                <a:cs typeface="Arial" panose="020B0604020202020204"/>
              </a:defRPr>
            </a:pPr>
            <a:r>
              <a:rPr sz="2250" b="1">
                <a:solidFill>
                  <a:srgbClr val="00A65A"/>
                </a:solidFill>
                <a:latin typeface="Arial" panose="020B0604020202020204"/>
                <a:ea typeface="Arial" panose="020B0604020202020204"/>
                <a:cs typeface="Arial" panose="020B0604020202020204"/>
              </a:rPr>
              <a:t>Mỗi số liệu phải gắn với số frame và đúng phiên TCP.</a:t>
            </a:r>
            <a:endParaRPr sz="2250" b="1">
              <a:solidFill>
                <a:srgbClr val="00A65A"/>
              </a:solidFill>
              <a:latin typeface="Arial" panose="020B0604020202020204"/>
              <a:ea typeface="Arial" panose="020B0604020202020204"/>
              <a:cs typeface="Arial" panose="020B06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8D334276-4C85-190E-BA41-5CA1CBB04E4E}"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Nhớ nhanh đường đi của một bản tin</a:t>
            </a:r>
            <a:endParaRPr sz="2400" b="1">
              <a:solidFill>
                <a:srgbClr val="00A95C"/>
              </a:solidFill>
              <a:latin typeface="Arial" panose="020B0604020202020204"/>
              <a:ea typeface="Arial" panose="020B0604020202020204"/>
              <a:cs typeface="Arial" panose="020B0604020202020204"/>
            </a:endParaRPr>
          </a:p>
        </p:txBody>
      </p:sp>
      <p:graphicFrame>
        <p:nvGraphicFramePr>
          <p:cNvPr id="248" name="Bảng 247"/>
          <p:cNvGraphicFramePr/>
          <p:nvPr/>
        </p:nvGraphicFramePr>
        <p:xfrm>
          <a:off x="619125" y="1762125"/>
          <a:ext cx="10668000" cy="4191000"/>
        </p:xfrm>
        <a:graphic>
          <a:graphicData uri="http://schemas.openxmlformats.org/drawingml/2006/table">
            <a:tbl>
              <a:tblPr/>
              <a:tblGrid>
                <a:gridCol w="5334000"/>
                <a:gridCol w="5334000"/>
              </a:tblGrid>
              <a:tr h="698500">
                <a:tc>
                  <a:txBody>
                    <a:bodyPr/>
                    <a:lstStyle/>
                    <a:p>
                      <a:r>
                        <a:rPr sz="2025" b="1">
                          <a:solidFill>
                            <a:srgbClr val="FFFFFF"/>
                          </a:solidFill>
                          <a:latin typeface="Arial" panose="020B0604020202020204"/>
                          <a:ea typeface="Arial" panose="020B0604020202020204"/>
                          <a:cs typeface="Arial" panose="020B0604020202020204"/>
                        </a:rPr>
                        <a:t>Khái niệm</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c>
                  <a:txBody>
                    <a:bodyPr/>
                    <a:lstStyle/>
                    <a:p>
                      <a:r>
                        <a:rPr sz="2025" b="1">
                          <a:solidFill>
                            <a:srgbClr val="FFFFFF"/>
                          </a:solidFill>
                          <a:latin typeface="Arial" panose="020B0604020202020204"/>
                          <a:ea typeface="Arial" panose="020B0604020202020204"/>
                          <a:cs typeface="Arial" panose="020B0604020202020204"/>
                        </a:rPr>
                        <a:t>Nhớ nhanh</a:t>
                      </a:r>
                      <a:endParaRPr sz="2025" b="1">
                        <a:solidFill>
                          <a:srgbClr val="FFFFFF"/>
                        </a:solidFill>
                        <a:latin typeface="Arial" panose="020B0604020202020204"/>
                        <a:ea typeface="Arial" panose="020B0604020202020204"/>
                        <a:cs typeface="Arial" panose="020B0604020202020204"/>
                      </a:endParaRPr>
                    </a:p>
                  </a:txBody>
                  <a:tcPr>
                    <a:solidFill>
                      <a:srgbClr val="00A95C"/>
                    </a:solidFill>
                  </a:tcPr>
                </a:tc>
              </a:tr>
              <a:tr h="698500">
                <a:tc>
                  <a:txBody>
                    <a:bodyPr/>
                    <a:lstStyle/>
                    <a:p>
                      <a:r>
                        <a:rPr sz="2025" b="0">
                          <a:solidFill>
                            <a:srgbClr val="002060"/>
                          </a:solidFill>
                          <a:latin typeface="Arial" panose="020B0604020202020204"/>
                          <a:ea typeface="Arial" panose="020B0604020202020204"/>
                          <a:cs typeface="Arial" panose="020B0604020202020204"/>
                        </a:rPr>
                        <a:t>Publisher</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ESP32 tạo và gửi JSON</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r h="698500">
                <a:tc>
                  <a:txBody>
                    <a:bodyPr/>
                    <a:lstStyle/>
                    <a:p>
                      <a:r>
                        <a:rPr sz="2025" b="0">
                          <a:solidFill>
                            <a:srgbClr val="002060"/>
                          </a:solidFill>
                          <a:latin typeface="Arial" panose="020B0604020202020204"/>
                          <a:ea typeface="Arial" panose="020B0604020202020204"/>
                          <a:cs typeface="Arial" panose="020B0604020202020204"/>
                        </a:rPr>
                        <a:t>Broker</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Mosquitto phân phối theo topic</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r>
              <a:tr h="698500">
                <a:tc>
                  <a:txBody>
                    <a:bodyPr/>
                    <a:lstStyle/>
                    <a:p>
                      <a:r>
                        <a:rPr sz="2025" b="0">
                          <a:solidFill>
                            <a:srgbClr val="002060"/>
                          </a:solidFill>
                          <a:latin typeface="Arial" panose="020B0604020202020204"/>
                          <a:ea typeface="Arial" panose="020B0604020202020204"/>
                          <a:cs typeface="Arial" panose="020B0604020202020204"/>
                        </a:rPr>
                        <a:t>Subscriber</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Home Assistant đăng ký để nhận</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r h="698500">
                <a:tc>
                  <a:txBody>
                    <a:bodyPr/>
                    <a:lstStyle/>
                    <a:p>
                      <a:r>
                        <a:rPr sz="2025" b="0">
                          <a:solidFill>
                            <a:srgbClr val="002060"/>
                          </a:solidFill>
                          <a:latin typeface="Arial" panose="020B0604020202020204"/>
                          <a:ea typeface="Arial" panose="020B0604020202020204"/>
                          <a:cs typeface="Arial" panose="020B0604020202020204"/>
                        </a:rPr>
                        <a:t>QoS</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c>
                  <a:txBody>
                    <a:bodyPr/>
                    <a:lstStyle/>
                    <a:p>
                      <a:r>
                        <a:rPr sz="2025" b="0">
                          <a:solidFill>
                            <a:srgbClr val="002060"/>
                          </a:solidFill>
                          <a:latin typeface="Arial" panose="020B0604020202020204"/>
                          <a:ea typeface="Arial" panose="020B0604020202020204"/>
                          <a:cs typeface="Arial" panose="020B0604020202020204"/>
                        </a:rPr>
                        <a:t>Mức bảo đảm giao bản tin trên mỗi chặng</a:t>
                      </a:r>
                      <a:endParaRPr sz="2025" b="0">
                        <a:solidFill>
                          <a:srgbClr val="002060"/>
                        </a:solidFill>
                        <a:latin typeface="Arial" panose="020B0604020202020204"/>
                        <a:ea typeface="Arial" panose="020B0604020202020204"/>
                        <a:cs typeface="Arial" panose="020B0604020202020204"/>
                      </a:endParaRPr>
                    </a:p>
                  </a:txBody>
                  <a:tcPr>
                    <a:solidFill>
                      <a:srgbClr val="EFF8F3"/>
                    </a:solidFill>
                  </a:tcPr>
                </a:tc>
              </a:tr>
              <a:tr h="698500">
                <a:tc>
                  <a:txBody>
                    <a:bodyPr/>
                    <a:lstStyle/>
                    <a:p>
                      <a:r>
                        <a:rPr sz="2025" b="0">
                          <a:solidFill>
                            <a:srgbClr val="002060"/>
                          </a:solidFill>
                          <a:latin typeface="Arial" panose="020B0604020202020204"/>
                          <a:ea typeface="Arial" panose="020B0604020202020204"/>
                          <a:cs typeface="Arial" panose="020B0604020202020204"/>
                        </a:rPr>
                        <a:t>Ping</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c>
                  <a:txBody>
                    <a:bodyPr/>
                    <a:lstStyle/>
                    <a:p>
                      <a:r>
                        <a:rPr sz="2025" b="0">
                          <a:solidFill>
                            <a:srgbClr val="002060"/>
                          </a:solidFill>
                          <a:latin typeface="Arial" panose="020B0604020202020204"/>
                          <a:ea typeface="Arial" panose="020B0604020202020204"/>
                          <a:cs typeface="Arial" panose="020B0604020202020204"/>
                        </a:rPr>
                        <a:t>Kiểm tra kết nối đang hoạt động</a:t>
                      </a:r>
                      <a:endParaRPr sz="2025" b="0">
                        <a:solidFill>
                          <a:srgbClr val="002060"/>
                        </a:solidFill>
                        <a:latin typeface="Arial" panose="020B0604020202020204"/>
                        <a:ea typeface="Arial" panose="020B0604020202020204"/>
                        <a:cs typeface="Arial" panose="020B0604020202020204"/>
                      </a:endParaRPr>
                    </a:p>
                  </a:txBody>
                  <a:tcPr>
                    <a:solidFill>
                      <a:srgbClr val="FFFFFF"/>
                    </a:solidFill>
                  </a:tcPr>
                </a:tc>
              </a:tr>
            </a:tbl>
          </a:graphicData>
        </a:graphic>
      </p:graphicFrame>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Ôn tập Bài 12</a:t>
            </a:r>
            <a:endParaRPr sz="3200" b="1">
              <a:solidFill>
                <a:srgbClr val="FFFFFF"/>
              </a:solidFill>
              <a:latin typeface="Arial" panose="020B0604020202020204"/>
              <a:ea typeface="Arial" panose="020B0604020202020204"/>
              <a:cs typeface="Arial" panose="020B060402020202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Google Shape;240;p4"/>
          <p:cNvSpPr>
            <a:spLocks noGrp="1"/>
          </p:cNvSpPr>
          <p:nvPr>
            <p:ph type="sldNum" idx="12"/>
          </p:nvPr>
        </p:nvSpPr>
        <p:spPr>
          <a:xfrm>
            <a:off x="9338569" y="6414022"/>
            <a:ext cx="2743200" cy="365125"/>
          </a:xfrm>
          <a:prstGeom prst="rect">
            <a:avLst/>
          </a:prstGeom>
          <a:noFill/>
          <a:ln>
            <a:noFill/>
          </a:ln>
        </p:spPr>
        <p:txBody>
          <a:bodyPr spcFirstLastPara="1" wrap="square" lIns="91425" tIns="45700" rIns="91425" bIns="45700" anchor="ctr">
            <a:noAutofit/>
          </a:bodyPr>
          <a:lstStyle/>
          <a:p>
            <a:pPr marL="0" marR="0" lvl="0" indent="0" algn="r">
              <a:spcBef>
                <a:spcPts val="0"/>
              </a:spcBef>
              <a:spcAft>
                <a:spcPts val="0"/>
              </a:spcAft>
              <a:buClr>
                <a:schemeClr val="dk1"/>
              </a:buClr>
              <a:buSzPts val="1400"/>
              <a:buFont typeface="Verdana" panose="020B0604030504040204"/>
              <a:buNone/>
            </a:pPr>
            <a:fld id="{855A7F00-3259-A23D-D734-A322A9F9DD63}" type="slidenum">
              <a:rPr sz="1400" b="0" i="0" u="none" strike="noStrike" cap="none">
                <a:solidFill>
                  <a:schemeClr val="dk1"/>
                </a:solidFill>
                <a:latin typeface="Verdana" panose="020B0604030504040204"/>
                <a:ea typeface="Verdana" panose="020B0604030504040204"/>
                <a:cs typeface="Verdana" panose="020B0604030504040204"/>
              </a:rPr>
            </a:fld>
            <a:endParaRPr sz="1400" b="0" i="0" u="none" strike="noStrike" cap="none">
              <a:solidFill>
                <a:schemeClr val="dk1"/>
              </a:solidFill>
              <a:latin typeface="Verdana" panose="020B0604030504040204"/>
              <a:ea typeface="Verdana" panose="020B0604030504040204"/>
              <a:cs typeface="Verdana" panose="020B0604030504040204"/>
            </a:endParaRPr>
          </a:p>
        </p:txBody>
      </p:sp>
      <p:sp>
        <p:nvSpPr>
          <p:cNvPr id="242" name="Hình chữ nhật 241"/>
          <p:cNvSpPr>
            <a:spLocks noGrp="1"/>
          </p:cNvSpPr>
          <p:nvPr/>
        </p:nvSpPr>
        <p:spPr>
          <a:xfrm>
            <a:off x="619125" y="990600"/>
            <a:ext cx="10668000" cy="590550"/>
          </a:xfrm>
          <a:prstGeom prst="rect">
            <a:avLst/>
          </a:prstGeom>
          <a:noFill/>
          <a:ln w="0">
            <a:noFill/>
          </a:ln>
        </p:spPr>
        <p:txBody>
          <a:bodyPr>
            <a:noAutofit/>
          </a:bodyPr>
          <a:lstStyle/>
          <a:p>
            <a:pPr>
              <a:buNone/>
              <a:defRPr sz="2400" b="1">
                <a:solidFill>
                  <a:srgbClr val="00A95C"/>
                </a:solidFill>
                <a:latin typeface="Arial" panose="020B0604020202020204"/>
                <a:ea typeface="Arial" panose="020B0604020202020204"/>
                <a:cs typeface="Arial" panose="020B0604020202020204"/>
              </a:defRPr>
            </a:pPr>
            <a:r>
              <a:rPr sz="2400" b="1">
                <a:solidFill>
                  <a:srgbClr val="00A95C"/>
                </a:solidFill>
                <a:latin typeface="Arial" panose="020B0604020202020204"/>
                <a:ea typeface="Arial" panose="020B0604020202020204"/>
                <a:cs typeface="Arial" panose="020B0604020202020204"/>
              </a:rPr>
              <a:t>Tài liệu để tự học và kiểm tra</a:t>
            </a:r>
            <a:endParaRPr sz="2400" b="1">
              <a:solidFill>
                <a:srgbClr val="00A95C"/>
              </a:solidFill>
              <a:latin typeface="Arial" panose="020B0604020202020204"/>
              <a:ea typeface="Arial" panose="020B0604020202020204"/>
              <a:cs typeface="Arial" panose="020B0604020202020204"/>
            </a:endParaRPr>
          </a:p>
        </p:txBody>
      </p:sp>
      <p:sp>
        <p:nvSpPr>
          <p:cNvPr id="244" name="Hình chữ nhật 243"/>
          <p:cNvSpPr>
            <a:spLocks noGrp="1"/>
          </p:cNvSpPr>
          <p:nvPr/>
        </p:nvSpPr>
        <p:spPr>
          <a:xfrm>
            <a:off x="597122" y="153924"/>
            <a:ext cx="9918478"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r>
              <a:rPr sz="3200" b="1">
                <a:solidFill>
                  <a:srgbClr val="FFFFFF"/>
                </a:solidFill>
                <a:latin typeface="Arial" panose="020B0604020202020204"/>
                <a:ea typeface="Arial" panose="020B0604020202020204"/>
                <a:cs typeface="Arial" panose="020B0604020202020204"/>
              </a:rPr>
              <a:t>Tài liệu tham khảo</a:t>
            </a:r>
            <a:endParaRPr sz="3200" b="1">
              <a:solidFill>
                <a:srgbClr val="FFFFFF"/>
              </a:solidFill>
              <a:latin typeface="Arial" panose="020B0604020202020204"/>
              <a:ea typeface="Arial" panose="020B0604020202020204"/>
              <a:cs typeface="Arial" panose="020B0604020202020204"/>
            </a:endParaRPr>
          </a:p>
        </p:txBody>
      </p:sp>
      <p:sp>
        <p:nvSpPr>
          <p:cNvPr id="245" name="Hình chữ nhật 244"/>
          <p:cNvSpPr>
            <a:spLocks noGrp="1"/>
          </p:cNvSpPr>
          <p:nvPr/>
        </p:nvSpPr>
        <p:spPr>
          <a:xfrm>
            <a:off x="714375" y="1762125"/>
            <a:ext cx="10668000" cy="2143125"/>
          </a:xfrm>
          <a:prstGeom prst="rect">
            <a:avLst/>
          </a:prstGeom>
          <a:noFill/>
          <a:ln w="0">
            <a:noFill/>
          </a:ln>
        </p:spPr>
        <p:txBody>
          <a:bodyPr>
            <a:noAutofit/>
          </a:bodyPr>
          <a:lstStyle/>
          <a:p>
            <a:pPr>
              <a:buNone/>
              <a:defRPr sz="1950">
                <a:solidFill>
                  <a:srgbClr val="002060"/>
                </a:solidFill>
                <a:latin typeface="Arial" panose="020B0604020202020204"/>
                <a:ea typeface="Arial" panose="020B0604020202020204"/>
                <a:cs typeface="Arial" panose="020B0604020202020204"/>
              </a:defRPr>
            </a:pPr>
            <a:r>
              <a:rPr sz="1950">
                <a:solidFill>
                  <a:srgbClr val="002060"/>
                </a:solidFill>
                <a:latin typeface="Arial" panose="020B0604020202020204"/>
                <a:ea typeface="Arial" panose="020B0604020202020204"/>
                <a:cs typeface="Arial" panose="020B0604020202020204"/>
              </a:rPr>
              <a:t>Đặc tả MQTT 3.1.1 và quy tắc QoS</a:t>
            </a:r>
            <a:endParaRPr sz="1950">
              <a:solidFill>
                <a:srgbClr val="002060"/>
              </a:solidFill>
              <a:latin typeface="Arial" panose="020B0604020202020204"/>
              <a:ea typeface="Arial" panose="020B0604020202020204"/>
              <a:cs typeface="Arial" panose="020B0604020202020204"/>
            </a:endParaRPr>
          </a:p>
          <a:p>
            <a:pPr>
              <a:buNone/>
              <a:defRPr sz="1950">
                <a:solidFill>
                  <a:srgbClr val="002060"/>
                </a:solidFill>
                <a:latin typeface="Arial" panose="020B0604020202020204"/>
                <a:ea typeface="Arial" panose="020B0604020202020204"/>
                <a:cs typeface="Arial" panose="020B0604020202020204"/>
              </a:defRPr>
            </a:pPr>
            <a:r>
              <a:rPr sz="1950">
                <a:solidFill>
                  <a:srgbClr val="002060"/>
                </a:solidFill>
                <a:latin typeface="Arial" panose="020B0604020202020204"/>
                <a:ea typeface="Arial" panose="020B0604020202020204"/>
                <a:cs typeface="Arial" panose="020B0604020202020204"/>
              </a:rPr>
              <a:t>docs.oasis-open.org/mqtt/mqtt/v3.1.1/os/mqtt-v3.1.1-os.html</a:t>
            </a:r>
            <a:endParaRPr sz="1950">
              <a:solidFill>
                <a:srgbClr val="002060"/>
              </a:solidFill>
              <a:latin typeface="Arial" panose="020B0604020202020204"/>
              <a:ea typeface="Arial" panose="020B0604020202020204"/>
              <a:cs typeface="Arial" panose="020B0604020202020204"/>
            </a:endParaRPr>
          </a:p>
          <a:p>
            <a:endParaRPr sz="1950">
              <a:solidFill>
                <a:srgbClr val="002060"/>
              </a:solidFill>
              <a:latin typeface="Arial" panose="020B0604020202020204"/>
              <a:ea typeface="Arial" panose="020B0604020202020204"/>
              <a:cs typeface="Arial" panose="020B0604020202020204"/>
            </a:endParaRPr>
          </a:p>
          <a:p>
            <a:pPr>
              <a:buNone/>
              <a:defRPr sz="1950">
                <a:solidFill>
                  <a:srgbClr val="002060"/>
                </a:solidFill>
                <a:latin typeface="Arial" panose="020B0604020202020204"/>
                <a:ea typeface="Arial" panose="020B0604020202020204"/>
                <a:cs typeface="Arial" panose="020B0604020202020204"/>
              </a:defRPr>
            </a:pPr>
            <a:r>
              <a:rPr sz="1950">
                <a:solidFill>
                  <a:srgbClr val="002060"/>
                </a:solidFill>
                <a:latin typeface="Arial" panose="020B0604020202020204"/>
                <a:ea typeface="Arial" panose="020B0604020202020204"/>
                <a:cs typeface="Arial" panose="020B0604020202020204"/>
              </a:rPr>
              <a:t>Lịch sử MQTT và ảnh hai người đồng sáng tạo</a:t>
            </a:r>
            <a:endParaRPr sz="1950">
              <a:solidFill>
                <a:srgbClr val="002060"/>
              </a:solidFill>
              <a:latin typeface="Arial" panose="020B0604020202020204"/>
              <a:ea typeface="Arial" panose="020B0604020202020204"/>
              <a:cs typeface="Arial" panose="020B0604020202020204"/>
            </a:endParaRPr>
          </a:p>
          <a:p>
            <a:pPr>
              <a:buNone/>
              <a:defRPr sz="1950">
                <a:solidFill>
                  <a:srgbClr val="002060"/>
                </a:solidFill>
                <a:latin typeface="Arial" panose="020B0604020202020204"/>
                <a:ea typeface="Arial" panose="020B0604020202020204"/>
                <a:cs typeface="Arial" panose="020B0604020202020204"/>
              </a:defRPr>
            </a:pPr>
            <a:r>
              <a:rPr sz="1950">
                <a:solidFill>
                  <a:srgbClr val="002060"/>
                </a:solidFill>
                <a:latin typeface="Arial" panose="020B0604020202020204"/>
                <a:ea typeface="Arial" panose="020B0604020202020204"/>
                <a:cs typeface="Arial" panose="020B0604020202020204"/>
              </a:rPr>
              <a:t>mqtt.org/faq/  •  inductiveautomation.com/resources/podcast</a:t>
            </a:r>
            <a:endParaRPr sz="1950">
              <a:solidFill>
                <a:srgbClr val="002060"/>
              </a:solidFill>
              <a:latin typeface="Arial" panose="020B0604020202020204"/>
              <a:ea typeface="Arial" panose="020B0604020202020204"/>
              <a:cs typeface="Arial" panose="020B0604020202020204"/>
            </a:endParaRPr>
          </a:p>
        </p:txBody>
      </p:sp>
      <p:sp>
        <p:nvSpPr>
          <p:cNvPr id="246" name="Hình chữ nhật 245"/>
          <p:cNvSpPr>
            <a:spLocks noGrp="1"/>
          </p:cNvSpPr>
          <p:nvPr/>
        </p:nvSpPr>
        <p:spPr>
          <a:xfrm>
            <a:off x="714375" y="4048125"/>
            <a:ext cx="10668000" cy="1714500"/>
          </a:xfrm>
          <a:prstGeom prst="rect">
            <a:avLst/>
          </a:prstGeom>
          <a:noFill/>
          <a:ln w="0">
            <a:noFill/>
          </a:ln>
        </p:spPr>
        <p:txBody>
          <a:bodyPr>
            <a:noAutofit/>
          </a:bodyPr>
          <a:lstStyle/>
          <a:p>
            <a:pPr>
              <a:buNone/>
              <a:defRPr sz="1950">
                <a:solidFill>
                  <a:srgbClr val="002060"/>
                </a:solidFill>
                <a:latin typeface="Arial" panose="020B0604020202020204"/>
                <a:ea typeface="Arial" panose="020B0604020202020204"/>
                <a:cs typeface="Arial" panose="020B0604020202020204"/>
              </a:defRPr>
            </a:pPr>
            <a:r>
              <a:rPr sz="1950">
                <a:solidFill>
                  <a:srgbClr val="002060"/>
                </a:solidFill>
                <a:latin typeface="Arial" panose="020B0604020202020204"/>
                <a:ea typeface="Arial" panose="020B0604020202020204"/>
                <a:cs typeface="Arial" panose="020B0604020202020204"/>
              </a:rPr>
              <a:t>Mosquitto: mosquitto.org/documentation/</a:t>
            </a:r>
            <a:endParaRPr sz="1950">
              <a:solidFill>
                <a:srgbClr val="002060"/>
              </a:solidFill>
              <a:latin typeface="Arial" panose="020B0604020202020204"/>
              <a:ea typeface="Arial" panose="020B0604020202020204"/>
              <a:cs typeface="Arial" panose="020B0604020202020204"/>
            </a:endParaRPr>
          </a:p>
          <a:p>
            <a:pPr>
              <a:buNone/>
              <a:defRPr sz="1950">
                <a:solidFill>
                  <a:srgbClr val="002060"/>
                </a:solidFill>
                <a:latin typeface="Arial" panose="020B0604020202020204"/>
                <a:ea typeface="Arial" panose="020B0604020202020204"/>
                <a:cs typeface="Arial" panose="020B0604020202020204"/>
              </a:defRPr>
            </a:pPr>
            <a:r>
              <a:rPr sz="1950">
                <a:solidFill>
                  <a:srgbClr val="002060"/>
                </a:solidFill>
                <a:latin typeface="Arial" panose="020B0604020202020204"/>
                <a:ea typeface="Arial" panose="020B0604020202020204"/>
                <a:cs typeface="Arial" panose="020B0604020202020204"/>
              </a:rPr>
              <a:t>Home Assistant: home-assistant.io/integrations/sensor.mqtt/</a:t>
            </a:r>
            <a:endParaRPr sz="1950">
              <a:solidFill>
                <a:srgbClr val="002060"/>
              </a:solidFill>
              <a:latin typeface="Arial" panose="020B0604020202020204"/>
              <a:ea typeface="Arial" panose="020B0604020202020204"/>
              <a:cs typeface="Arial" panose="020B0604020202020204"/>
            </a:endParaRPr>
          </a:p>
          <a:p>
            <a:pPr>
              <a:buNone/>
              <a:defRPr sz="1950">
                <a:solidFill>
                  <a:srgbClr val="002060"/>
                </a:solidFill>
                <a:latin typeface="Arial" panose="020B0604020202020204"/>
                <a:ea typeface="Arial" panose="020B0604020202020204"/>
                <a:cs typeface="Arial" panose="020B0604020202020204"/>
              </a:defRPr>
            </a:pPr>
            <a:r>
              <a:rPr sz="1950">
                <a:solidFill>
                  <a:srgbClr val="002060"/>
                </a:solidFill>
                <a:latin typeface="Arial" panose="020B0604020202020204"/>
                <a:ea typeface="Arial" panose="020B0604020202020204"/>
                <a:cs typeface="Arial" panose="020B0604020202020204"/>
              </a:rPr>
              <a:t>Wireshark: wireshark.org/docs/dfref/m/mqtt.html</a:t>
            </a:r>
            <a:endParaRPr sz="1950">
              <a:solidFill>
                <a:srgbClr val="002060"/>
              </a:solidFill>
              <a:latin typeface="Arial" panose="020B0604020202020204"/>
              <a:ea typeface="Arial" panose="020B0604020202020204"/>
              <a:cs typeface="Arial" panose="020B0604020202020204"/>
            </a:endParaRPr>
          </a:p>
          <a:p>
            <a:pPr>
              <a:buNone/>
              <a:defRPr sz="1950">
                <a:solidFill>
                  <a:srgbClr val="002060"/>
                </a:solidFill>
                <a:latin typeface="Arial" panose="020B0604020202020204"/>
                <a:ea typeface="Arial" panose="020B0604020202020204"/>
                <a:cs typeface="Arial" panose="020B0604020202020204"/>
              </a:defRPr>
            </a:pPr>
            <a:r>
              <a:rPr sz="1950">
                <a:solidFill>
                  <a:srgbClr val="002060"/>
                </a:solidFill>
                <a:latin typeface="Arial" panose="020B0604020202020204"/>
                <a:ea typeface="Arial" panose="020B0604020202020204"/>
                <a:cs typeface="Arial" panose="020B0604020202020204"/>
              </a:rPr>
              <a:t>JSON: rfc-editor.org/rfc/rfc8259</a:t>
            </a:r>
            <a:endParaRPr sz="1950">
              <a:solidFill>
                <a:srgbClr val="002060"/>
              </a:solidFill>
              <a:latin typeface="Arial" panose="020B0604020202020204"/>
              <a:ea typeface="Arial" panose="020B0604020202020204"/>
              <a:cs typeface="Arial" panose="020B060402020202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nh chữ nhật 1"/>
          <p:cNvSpPr>
            <a:spLocks noGrp="1"/>
          </p:cNvSpPr>
          <p:nvPr/>
        </p:nvSpPr>
        <p:spPr>
          <a:xfrm>
            <a:off x="666750" y="152400"/>
            <a:ext cx="8953500" cy="609600"/>
          </a:xfrm>
          <a:prstGeom prst="rect">
            <a:avLst/>
          </a:prstGeom>
          <a:noFill/>
          <a:ln w="0">
            <a:noFill/>
          </a:ln>
        </p:spPr>
        <p:txBody>
          <a:bodyPr>
            <a:noAutofit/>
          </a:bodyPr>
          <a:lstStyle/>
          <a:p>
            <a:pPr>
              <a:buNone/>
              <a:defRPr sz="3200" b="1">
                <a:solidFill>
                  <a:srgbClr val="FFFFFF"/>
                </a:solidFill>
                <a:latin typeface="Arial" panose="020B0604020202020204"/>
                <a:ea typeface="Arial" panose="020B0604020202020204"/>
                <a:cs typeface="Arial" panose="020B0604020202020204"/>
              </a:defRPr>
            </a:p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11141</Words>
  <Application>WPS Presentation</Application>
  <PresentationFormat>Màn hình rộng</PresentationFormat>
  <Paragraphs>792</Paragraphs>
  <Slides>37</Slides>
  <Notes>38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37</vt:i4>
      </vt:variant>
    </vt:vector>
  </HeadingPairs>
  <TitlesOfParts>
    <vt:vector size="47" baseType="lpstr">
      <vt:lpstr>Arial</vt:lpstr>
      <vt:lpstr>SimSun</vt:lpstr>
      <vt:lpstr>Wingdings</vt:lpstr>
      <vt:lpstr>Arial</vt:lpstr>
      <vt:lpstr>Times New Roman</vt:lpstr>
      <vt:lpstr>Calibri</vt:lpstr>
      <vt:lpstr>Verdana</vt:lpstr>
      <vt:lpstr>Microsoft YaHei</vt:lpstr>
      <vt:lpstr>Arial Unicode MS</vt:lpstr>
      <vt:lpstr>Office Theme</vt:lpstr>
      <vt:lpstr>ỨNG DỤNG MQTT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Minh Tuấn</cp:lastModifiedBy>
  <cp:revision>2</cp:revision>
  <dcterms:created xsi:type="dcterms:W3CDTF">2026-10-07T18:01:00Z</dcterms:created>
  <dcterms:modified xsi:type="dcterms:W3CDTF">2026-10-08T07:42:29Z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A77D448FBB904A35ACEC3C58AB99544B_12</vt:lpwstr>
  </property>
</Properties>
</file>